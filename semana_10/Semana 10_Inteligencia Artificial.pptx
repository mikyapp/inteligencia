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4" r:id="rId3"/>
    <p:sldId id="275" r:id="rId4"/>
    <p:sldId id="276" r:id="rId5"/>
    <p:sldId id="277" r:id="rId6"/>
    <p:sldId id="278" r:id="rId7"/>
    <p:sldId id="279" r:id="rId8"/>
    <p:sldId id="280" r:id="rId9"/>
    <p:sldId id="281" r:id="rId10"/>
    <p:sldId id="282" r:id="rId11"/>
    <p:sldId id="283" r:id="rId12"/>
    <p:sldId id="284" r:id="rId13"/>
    <p:sldId id="285" r:id="rId14"/>
    <p:sldId id="286" r:id="rId15"/>
    <p:sldId id="287" r:id="rId16"/>
    <p:sldId id="288" r:id="rId17"/>
    <p:sldId id="289" r:id="rId18"/>
    <p:sldId id="290" r:id="rId19"/>
    <p:sldId id="291" r:id="rId20"/>
    <p:sldId id="292" r:id="rId21"/>
    <p:sldId id="293" r:id="rId22"/>
    <p:sldId id="294" r:id="rId23"/>
    <p:sldId id="295" r:id="rId24"/>
    <p:sldId id="258" r:id="rId25"/>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2C5"/>
    <a:srgbClr val="004774"/>
    <a:srgbClr val="0680C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048" autoAdjust="0"/>
    <p:restoredTop sz="95033" autoAdjust="0"/>
  </p:normalViewPr>
  <p:slideViewPr>
    <p:cSldViewPr snapToGrid="0">
      <p:cViewPr varScale="1">
        <p:scale>
          <a:sx n="75" d="100"/>
          <a:sy n="75" d="100"/>
        </p:scale>
        <p:origin x="576"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7B1BA3-CD85-C602-5811-C976B3BEFCE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PE"/>
          </a:p>
        </p:txBody>
      </p:sp>
      <p:sp>
        <p:nvSpPr>
          <p:cNvPr id="3" name="Subtítulo 2">
            <a:extLst>
              <a:ext uri="{FF2B5EF4-FFF2-40B4-BE49-F238E27FC236}">
                <a16:creationId xmlns:a16="http://schemas.microsoft.com/office/drawing/2014/main" id="{397E8305-2B4A-B4B2-86F4-B2F7FD0D615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PE"/>
          </a:p>
        </p:txBody>
      </p:sp>
      <p:sp>
        <p:nvSpPr>
          <p:cNvPr id="4" name="Marcador de fecha 3">
            <a:extLst>
              <a:ext uri="{FF2B5EF4-FFF2-40B4-BE49-F238E27FC236}">
                <a16:creationId xmlns:a16="http://schemas.microsoft.com/office/drawing/2014/main" id="{1AE48B8E-AE04-FDB8-2C77-473ECF0F3238}"/>
              </a:ext>
            </a:extLst>
          </p:cNvPr>
          <p:cNvSpPr>
            <a:spLocks noGrp="1"/>
          </p:cNvSpPr>
          <p:nvPr>
            <p:ph type="dt" sz="half" idx="10"/>
          </p:nvPr>
        </p:nvSpPr>
        <p:spPr/>
        <p:txBody>
          <a:bodyPr/>
          <a:lstStyle/>
          <a:p>
            <a:fld id="{6209461D-A67A-4686-80D4-2D0D328371F0}" type="datetimeFigureOut">
              <a:rPr lang="es-PE" smtClean="0"/>
              <a:t>17/10/2025</a:t>
            </a:fld>
            <a:endParaRPr lang="es-PE"/>
          </a:p>
        </p:txBody>
      </p:sp>
      <p:sp>
        <p:nvSpPr>
          <p:cNvPr id="5" name="Marcador de pie de página 4">
            <a:extLst>
              <a:ext uri="{FF2B5EF4-FFF2-40B4-BE49-F238E27FC236}">
                <a16:creationId xmlns:a16="http://schemas.microsoft.com/office/drawing/2014/main" id="{55768632-E449-9D6C-4C70-79FA8CBF0C24}"/>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C75CC66E-941C-1197-2CFE-8FCBB84D848C}"/>
              </a:ext>
            </a:extLst>
          </p:cNvPr>
          <p:cNvSpPr>
            <a:spLocks noGrp="1"/>
          </p:cNvSpPr>
          <p:nvPr>
            <p:ph type="sldNum" sz="quarter" idx="12"/>
          </p:nvPr>
        </p:nvSpPr>
        <p:spPr/>
        <p:txBody>
          <a:bodyPr/>
          <a:lstStyle/>
          <a:p>
            <a:fld id="{DA2E7C02-8D67-46A3-A615-2420C0D66041}" type="slidenum">
              <a:rPr lang="es-PE" smtClean="0"/>
              <a:t>‹Nº›</a:t>
            </a:fld>
            <a:endParaRPr lang="es-PE"/>
          </a:p>
        </p:txBody>
      </p:sp>
    </p:spTree>
    <p:extLst>
      <p:ext uri="{BB962C8B-B14F-4D97-AF65-F5344CB8AC3E}">
        <p14:creationId xmlns:p14="http://schemas.microsoft.com/office/powerpoint/2010/main" val="34857032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A712BC-4E1B-DB65-84F1-3F1CA49180DA}"/>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3D13760E-B5C0-6783-9918-9CF17D7DB01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6A542BEF-6CA9-32F2-03B6-84858EB47915}"/>
              </a:ext>
            </a:extLst>
          </p:cNvPr>
          <p:cNvSpPr>
            <a:spLocks noGrp="1"/>
          </p:cNvSpPr>
          <p:nvPr>
            <p:ph type="dt" sz="half" idx="10"/>
          </p:nvPr>
        </p:nvSpPr>
        <p:spPr/>
        <p:txBody>
          <a:bodyPr/>
          <a:lstStyle/>
          <a:p>
            <a:fld id="{6209461D-A67A-4686-80D4-2D0D328371F0}" type="datetimeFigureOut">
              <a:rPr lang="es-PE" smtClean="0"/>
              <a:t>17/10/2025</a:t>
            </a:fld>
            <a:endParaRPr lang="es-PE"/>
          </a:p>
        </p:txBody>
      </p:sp>
      <p:sp>
        <p:nvSpPr>
          <p:cNvPr id="5" name="Marcador de pie de página 4">
            <a:extLst>
              <a:ext uri="{FF2B5EF4-FFF2-40B4-BE49-F238E27FC236}">
                <a16:creationId xmlns:a16="http://schemas.microsoft.com/office/drawing/2014/main" id="{8271C1B8-0BEF-4ABC-D919-23182A932552}"/>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4E1A49A1-3188-2FC9-A8F4-03CF3ED46DF6}"/>
              </a:ext>
            </a:extLst>
          </p:cNvPr>
          <p:cNvSpPr>
            <a:spLocks noGrp="1"/>
          </p:cNvSpPr>
          <p:nvPr>
            <p:ph type="sldNum" sz="quarter" idx="12"/>
          </p:nvPr>
        </p:nvSpPr>
        <p:spPr/>
        <p:txBody>
          <a:bodyPr/>
          <a:lstStyle/>
          <a:p>
            <a:fld id="{DA2E7C02-8D67-46A3-A615-2420C0D66041}" type="slidenum">
              <a:rPr lang="es-PE" smtClean="0"/>
              <a:t>‹Nº›</a:t>
            </a:fld>
            <a:endParaRPr lang="es-PE"/>
          </a:p>
        </p:txBody>
      </p:sp>
    </p:spTree>
    <p:extLst>
      <p:ext uri="{BB962C8B-B14F-4D97-AF65-F5344CB8AC3E}">
        <p14:creationId xmlns:p14="http://schemas.microsoft.com/office/powerpoint/2010/main" val="3725887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886070-B1C3-3705-40AF-2A50E8B91BA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5E498F2B-C14B-0480-C3AE-0C4E16DD8F9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8C5A4F60-30D0-1665-504E-FB6EA8E708F7}"/>
              </a:ext>
            </a:extLst>
          </p:cNvPr>
          <p:cNvSpPr>
            <a:spLocks noGrp="1"/>
          </p:cNvSpPr>
          <p:nvPr>
            <p:ph type="dt" sz="half" idx="10"/>
          </p:nvPr>
        </p:nvSpPr>
        <p:spPr/>
        <p:txBody>
          <a:bodyPr/>
          <a:lstStyle/>
          <a:p>
            <a:fld id="{6209461D-A67A-4686-80D4-2D0D328371F0}" type="datetimeFigureOut">
              <a:rPr lang="es-PE" smtClean="0"/>
              <a:t>17/10/2025</a:t>
            </a:fld>
            <a:endParaRPr lang="es-PE"/>
          </a:p>
        </p:txBody>
      </p:sp>
      <p:sp>
        <p:nvSpPr>
          <p:cNvPr id="5" name="Marcador de pie de página 4">
            <a:extLst>
              <a:ext uri="{FF2B5EF4-FFF2-40B4-BE49-F238E27FC236}">
                <a16:creationId xmlns:a16="http://schemas.microsoft.com/office/drawing/2014/main" id="{54A1DFB7-8CD2-EAA0-977F-E609713DC250}"/>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ADD733BB-8455-53E4-B4AE-EBADD46FE5A4}"/>
              </a:ext>
            </a:extLst>
          </p:cNvPr>
          <p:cNvSpPr>
            <a:spLocks noGrp="1"/>
          </p:cNvSpPr>
          <p:nvPr>
            <p:ph type="sldNum" sz="quarter" idx="12"/>
          </p:nvPr>
        </p:nvSpPr>
        <p:spPr/>
        <p:txBody>
          <a:bodyPr/>
          <a:lstStyle/>
          <a:p>
            <a:fld id="{DA2E7C02-8D67-46A3-A615-2420C0D66041}" type="slidenum">
              <a:rPr lang="es-PE" smtClean="0"/>
              <a:t>‹Nº›</a:t>
            </a:fld>
            <a:endParaRPr lang="es-PE"/>
          </a:p>
        </p:txBody>
      </p:sp>
    </p:spTree>
    <p:extLst>
      <p:ext uri="{BB962C8B-B14F-4D97-AF65-F5344CB8AC3E}">
        <p14:creationId xmlns:p14="http://schemas.microsoft.com/office/powerpoint/2010/main" val="387441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5EAA83-5115-7945-1F30-92DDF5387693}"/>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E19D5DE9-102E-AC46-FB04-39294B04A3F3}"/>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a:extLst>
              <a:ext uri="{FF2B5EF4-FFF2-40B4-BE49-F238E27FC236}">
                <a16:creationId xmlns:a16="http://schemas.microsoft.com/office/drawing/2014/main" id="{C8F5E287-76E7-93FF-2750-3502011A61D0}"/>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a:extLst>
              <a:ext uri="{FF2B5EF4-FFF2-40B4-BE49-F238E27FC236}">
                <a16:creationId xmlns:a16="http://schemas.microsoft.com/office/drawing/2014/main" id="{242E2857-8D62-4C6A-8BA0-CF3F44758C43}"/>
              </a:ext>
            </a:extLst>
          </p:cNvPr>
          <p:cNvSpPr>
            <a:spLocks noGrp="1"/>
          </p:cNvSpPr>
          <p:nvPr>
            <p:ph type="dt" sz="half" idx="10"/>
          </p:nvPr>
        </p:nvSpPr>
        <p:spPr/>
        <p:txBody>
          <a:bodyPr/>
          <a:lstStyle/>
          <a:p>
            <a:fld id="{6209461D-A67A-4686-80D4-2D0D328371F0}" type="datetimeFigureOut">
              <a:rPr lang="es-PE" smtClean="0"/>
              <a:t>17/10/2025</a:t>
            </a:fld>
            <a:endParaRPr lang="es-PE"/>
          </a:p>
        </p:txBody>
      </p:sp>
      <p:sp>
        <p:nvSpPr>
          <p:cNvPr id="6" name="Marcador de pie de página 5">
            <a:extLst>
              <a:ext uri="{FF2B5EF4-FFF2-40B4-BE49-F238E27FC236}">
                <a16:creationId xmlns:a16="http://schemas.microsoft.com/office/drawing/2014/main" id="{42099B49-8D12-D52E-C297-65646FEE1C2D}"/>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59561EAA-7677-351F-5090-8431F42C71B5}"/>
              </a:ext>
            </a:extLst>
          </p:cNvPr>
          <p:cNvSpPr>
            <a:spLocks noGrp="1"/>
          </p:cNvSpPr>
          <p:nvPr>
            <p:ph type="sldNum" sz="quarter" idx="12"/>
          </p:nvPr>
        </p:nvSpPr>
        <p:spPr/>
        <p:txBody>
          <a:bodyPr/>
          <a:lstStyle/>
          <a:p>
            <a:fld id="{DA2E7C02-8D67-46A3-A615-2420C0D66041}" type="slidenum">
              <a:rPr lang="es-PE" smtClean="0"/>
              <a:t>‹Nº›</a:t>
            </a:fld>
            <a:endParaRPr lang="es-PE"/>
          </a:p>
        </p:txBody>
      </p:sp>
    </p:spTree>
    <p:extLst>
      <p:ext uri="{BB962C8B-B14F-4D97-AF65-F5344CB8AC3E}">
        <p14:creationId xmlns:p14="http://schemas.microsoft.com/office/powerpoint/2010/main" val="31908145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B82A8E-A4DD-DF62-B454-B1F3332100D3}"/>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199B1E0E-D3DC-C284-8315-2C69EF5140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C9033F44-05A4-EDEE-4EC5-7F54A74FEAB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a:extLst>
              <a:ext uri="{FF2B5EF4-FFF2-40B4-BE49-F238E27FC236}">
                <a16:creationId xmlns:a16="http://schemas.microsoft.com/office/drawing/2014/main" id="{08EE78B8-D89A-A4B7-11BB-019D87676E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B0B51708-7ADF-66CF-D880-1935E1CD8A2B}"/>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a:extLst>
              <a:ext uri="{FF2B5EF4-FFF2-40B4-BE49-F238E27FC236}">
                <a16:creationId xmlns:a16="http://schemas.microsoft.com/office/drawing/2014/main" id="{72B2B085-2246-DA3B-2183-465E45CCFF43}"/>
              </a:ext>
            </a:extLst>
          </p:cNvPr>
          <p:cNvSpPr>
            <a:spLocks noGrp="1"/>
          </p:cNvSpPr>
          <p:nvPr>
            <p:ph type="dt" sz="half" idx="10"/>
          </p:nvPr>
        </p:nvSpPr>
        <p:spPr/>
        <p:txBody>
          <a:bodyPr/>
          <a:lstStyle/>
          <a:p>
            <a:fld id="{6209461D-A67A-4686-80D4-2D0D328371F0}" type="datetimeFigureOut">
              <a:rPr lang="es-PE" smtClean="0"/>
              <a:t>17/10/2025</a:t>
            </a:fld>
            <a:endParaRPr lang="es-PE"/>
          </a:p>
        </p:txBody>
      </p:sp>
      <p:sp>
        <p:nvSpPr>
          <p:cNvPr id="8" name="Marcador de pie de página 7">
            <a:extLst>
              <a:ext uri="{FF2B5EF4-FFF2-40B4-BE49-F238E27FC236}">
                <a16:creationId xmlns:a16="http://schemas.microsoft.com/office/drawing/2014/main" id="{EAF5A543-BB02-298E-F4B6-0467703B6B39}"/>
              </a:ext>
            </a:extLst>
          </p:cNvPr>
          <p:cNvSpPr>
            <a:spLocks noGrp="1"/>
          </p:cNvSpPr>
          <p:nvPr>
            <p:ph type="ftr" sz="quarter" idx="11"/>
          </p:nvPr>
        </p:nvSpPr>
        <p:spPr/>
        <p:txBody>
          <a:bodyPr/>
          <a:lstStyle/>
          <a:p>
            <a:endParaRPr lang="es-PE"/>
          </a:p>
        </p:txBody>
      </p:sp>
      <p:sp>
        <p:nvSpPr>
          <p:cNvPr id="9" name="Marcador de número de diapositiva 8">
            <a:extLst>
              <a:ext uri="{FF2B5EF4-FFF2-40B4-BE49-F238E27FC236}">
                <a16:creationId xmlns:a16="http://schemas.microsoft.com/office/drawing/2014/main" id="{55C65F4F-A7CA-F0DA-5B61-494797268D2A}"/>
              </a:ext>
            </a:extLst>
          </p:cNvPr>
          <p:cNvSpPr>
            <a:spLocks noGrp="1"/>
          </p:cNvSpPr>
          <p:nvPr>
            <p:ph type="sldNum" sz="quarter" idx="12"/>
          </p:nvPr>
        </p:nvSpPr>
        <p:spPr/>
        <p:txBody>
          <a:bodyPr/>
          <a:lstStyle/>
          <a:p>
            <a:fld id="{DA2E7C02-8D67-46A3-A615-2420C0D66041}" type="slidenum">
              <a:rPr lang="es-PE" smtClean="0"/>
              <a:t>‹Nº›</a:t>
            </a:fld>
            <a:endParaRPr lang="es-PE"/>
          </a:p>
        </p:txBody>
      </p:sp>
    </p:spTree>
    <p:extLst>
      <p:ext uri="{BB962C8B-B14F-4D97-AF65-F5344CB8AC3E}">
        <p14:creationId xmlns:p14="http://schemas.microsoft.com/office/powerpoint/2010/main" val="29955369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E8F346-1FDE-839E-C995-FB930187F423}"/>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fecha 2">
            <a:extLst>
              <a:ext uri="{FF2B5EF4-FFF2-40B4-BE49-F238E27FC236}">
                <a16:creationId xmlns:a16="http://schemas.microsoft.com/office/drawing/2014/main" id="{04805191-4C9B-E283-603B-253C264E47A8}"/>
              </a:ext>
            </a:extLst>
          </p:cNvPr>
          <p:cNvSpPr>
            <a:spLocks noGrp="1"/>
          </p:cNvSpPr>
          <p:nvPr>
            <p:ph type="dt" sz="half" idx="10"/>
          </p:nvPr>
        </p:nvSpPr>
        <p:spPr/>
        <p:txBody>
          <a:bodyPr/>
          <a:lstStyle/>
          <a:p>
            <a:fld id="{6209461D-A67A-4686-80D4-2D0D328371F0}" type="datetimeFigureOut">
              <a:rPr lang="es-PE" smtClean="0"/>
              <a:t>17/10/2025</a:t>
            </a:fld>
            <a:endParaRPr lang="es-PE"/>
          </a:p>
        </p:txBody>
      </p:sp>
      <p:sp>
        <p:nvSpPr>
          <p:cNvPr id="4" name="Marcador de pie de página 3">
            <a:extLst>
              <a:ext uri="{FF2B5EF4-FFF2-40B4-BE49-F238E27FC236}">
                <a16:creationId xmlns:a16="http://schemas.microsoft.com/office/drawing/2014/main" id="{4719F6A8-9F1F-8B0E-38D0-C7F87BCAEB64}"/>
              </a:ext>
            </a:extLst>
          </p:cNvPr>
          <p:cNvSpPr>
            <a:spLocks noGrp="1"/>
          </p:cNvSpPr>
          <p:nvPr>
            <p:ph type="ftr" sz="quarter" idx="11"/>
          </p:nvPr>
        </p:nvSpPr>
        <p:spPr/>
        <p:txBody>
          <a:bodyPr/>
          <a:lstStyle/>
          <a:p>
            <a:endParaRPr lang="es-PE"/>
          </a:p>
        </p:txBody>
      </p:sp>
      <p:sp>
        <p:nvSpPr>
          <p:cNvPr id="5" name="Marcador de número de diapositiva 4">
            <a:extLst>
              <a:ext uri="{FF2B5EF4-FFF2-40B4-BE49-F238E27FC236}">
                <a16:creationId xmlns:a16="http://schemas.microsoft.com/office/drawing/2014/main" id="{A20BD974-32C3-4316-CB13-081E74AC2725}"/>
              </a:ext>
            </a:extLst>
          </p:cNvPr>
          <p:cNvSpPr>
            <a:spLocks noGrp="1"/>
          </p:cNvSpPr>
          <p:nvPr>
            <p:ph type="sldNum" sz="quarter" idx="12"/>
          </p:nvPr>
        </p:nvSpPr>
        <p:spPr/>
        <p:txBody>
          <a:bodyPr/>
          <a:lstStyle/>
          <a:p>
            <a:fld id="{DA2E7C02-8D67-46A3-A615-2420C0D66041}" type="slidenum">
              <a:rPr lang="es-PE" smtClean="0"/>
              <a:t>‹Nº›</a:t>
            </a:fld>
            <a:endParaRPr lang="es-PE"/>
          </a:p>
        </p:txBody>
      </p:sp>
    </p:spTree>
    <p:extLst>
      <p:ext uri="{BB962C8B-B14F-4D97-AF65-F5344CB8AC3E}">
        <p14:creationId xmlns:p14="http://schemas.microsoft.com/office/powerpoint/2010/main" val="4683547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BE731BE2-4614-9B43-A4FE-1F2BEEF83F53}"/>
              </a:ext>
            </a:extLst>
          </p:cNvPr>
          <p:cNvSpPr>
            <a:spLocks noGrp="1"/>
          </p:cNvSpPr>
          <p:nvPr>
            <p:ph type="dt" sz="half" idx="10"/>
          </p:nvPr>
        </p:nvSpPr>
        <p:spPr/>
        <p:txBody>
          <a:bodyPr/>
          <a:lstStyle/>
          <a:p>
            <a:fld id="{6209461D-A67A-4686-80D4-2D0D328371F0}" type="datetimeFigureOut">
              <a:rPr lang="es-PE" smtClean="0"/>
              <a:t>17/10/2025</a:t>
            </a:fld>
            <a:endParaRPr lang="es-PE"/>
          </a:p>
        </p:txBody>
      </p:sp>
      <p:sp>
        <p:nvSpPr>
          <p:cNvPr id="3" name="Marcador de pie de página 2">
            <a:extLst>
              <a:ext uri="{FF2B5EF4-FFF2-40B4-BE49-F238E27FC236}">
                <a16:creationId xmlns:a16="http://schemas.microsoft.com/office/drawing/2014/main" id="{1A5B48FD-9ADB-B0C3-BD72-F9892F75E2E5}"/>
              </a:ext>
            </a:extLst>
          </p:cNvPr>
          <p:cNvSpPr>
            <a:spLocks noGrp="1"/>
          </p:cNvSpPr>
          <p:nvPr>
            <p:ph type="ftr" sz="quarter" idx="11"/>
          </p:nvPr>
        </p:nvSpPr>
        <p:spPr/>
        <p:txBody>
          <a:bodyPr/>
          <a:lstStyle/>
          <a:p>
            <a:endParaRPr lang="es-PE"/>
          </a:p>
        </p:txBody>
      </p:sp>
      <p:sp>
        <p:nvSpPr>
          <p:cNvPr id="4" name="Marcador de número de diapositiva 3">
            <a:extLst>
              <a:ext uri="{FF2B5EF4-FFF2-40B4-BE49-F238E27FC236}">
                <a16:creationId xmlns:a16="http://schemas.microsoft.com/office/drawing/2014/main" id="{C8ECFF6A-F150-70DD-420F-AAA9AF3B2836}"/>
              </a:ext>
            </a:extLst>
          </p:cNvPr>
          <p:cNvSpPr>
            <a:spLocks noGrp="1"/>
          </p:cNvSpPr>
          <p:nvPr>
            <p:ph type="sldNum" sz="quarter" idx="12"/>
          </p:nvPr>
        </p:nvSpPr>
        <p:spPr/>
        <p:txBody>
          <a:bodyPr/>
          <a:lstStyle/>
          <a:p>
            <a:fld id="{DA2E7C02-8D67-46A3-A615-2420C0D66041}" type="slidenum">
              <a:rPr lang="es-PE" smtClean="0"/>
              <a:t>‹Nº›</a:t>
            </a:fld>
            <a:endParaRPr lang="es-PE"/>
          </a:p>
        </p:txBody>
      </p:sp>
    </p:spTree>
    <p:extLst>
      <p:ext uri="{BB962C8B-B14F-4D97-AF65-F5344CB8AC3E}">
        <p14:creationId xmlns:p14="http://schemas.microsoft.com/office/powerpoint/2010/main" val="15919422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CC5459-7FB5-879C-2FEB-4E92838F712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F3AFE395-6F31-D91E-F5F6-BCFCBA53ED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a:extLst>
              <a:ext uri="{FF2B5EF4-FFF2-40B4-BE49-F238E27FC236}">
                <a16:creationId xmlns:a16="http://schemas.microsoft.com/office/drawing/2014/main" id="{A697E5FB-55C6-28AE-7987-A3BC7CE975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72D507B-47C8-7F5E-4707-C4F60A834596}"/>
              </a:ext>
            </a:extLst>
          </p:cNvPr>
          <p:cNvSpPr>
            <a:spLocks noGrp="1"/>
          </p:cNvSpPr>
          <p:nvPr>
            <p:ph type="dt" sz="half" idx="10"/>
          </p:nvPr>
        </p:nvSpPr>
        <p:spPr/>
        <p:txBody>
          <a:bodyPr/>
          <a:lstStyle/>
          <a:p>
            <a:fld id="{6209461D-A67A-4686-80D4-2D0D328371F0}" type="datetimeFigureOut">
              <a:rPr lang="es-PE" smtClean="0"/>
              <a:t>17/10/2025</a:t>
            </a:fld>
            <a:endParaRPr lang="es-PE"/>
          </a:p>
        </p:txBody>
      </p:sp>
      <p:sp>
        <p:nvSpPr>
          <p:cNvPr id="6" name="Marcador de pie de página 5">
            <a:extLst>
              <a:ext uri="{FF2B5EF4-FFF2-40B4-BE49-F238E27FC236}">
                <a16:creationId xmlns:a16="http://schemas.microsoft.com/office/drawing/2014/main" id="{995F8DE1-A7CD-2ADB-4D83-EBBCEC9FD33D}"/>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7D2EE05B-8067-DEB5-361F-233626B7F1BB}"/>
              </a:ext>
            </a:extLst>
          </p:cNvPr>
          <p:cNvSpPr>
            <a:spLocks noGrp="1"/>
          </p:cNvSpPr>
          <p:nvPr>
            <p:ph type="sldNum" sz="quarter" idx="12"/>
          </p:nvPr>
        </p:nvSpPr>
        <p:spPr/>
        <p:txBody>
          <a:bodyPr/>
          <a:lstStyle/>
          <a:p>
            <a:fld id="{DA2E7C02-8D67-46A3-A615-2420C0D66041}" type="slidenum">
              <a:rPr lang="es-PE" smtClean="0"/>
              <a:t>‹Nº›</a:t>
            </a:fld>
            <a:endParaRPr lang="es-PE"/>
          </a:p>
        </p:txBody>
      </p:sp>
    </p:spTree>
    <p:extLst>
      <p:ext uri="{BB962C8B-B14F-4D97-AF65-F5344CB8AC3E}">
        <p14:creationId xmlns:p14="http://schemas.microsoft.com/office/powerpoint/2010/main" val="1606075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FF06F3-FE1E-5E9C-4924-80B3F58E68D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posición de imagen 2">
            <a:extLst>
              <a:ext uri="{FF2B5EF4-FFF2-40B4-BE49-F238E27FC236}">
                <a16:creationId xmlns:a16="http://schemas.microsoft.com/office/drawing/2014/main" id="{ABBADCD7-EECE-AFCA-E7E8-049192FB21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a:extLst>
              <a:ext uri="{FF2B5EF4-FFF2-40B4-BE49-F238E27FC236}">
                <a16:creationId xmlns:a16="http://schemas.microsoft.com/office/drawing/2014/main" id="{A571CD8E-5484-FD42-C8C6-B3A22B0BF8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FB2448C-B054-2753-A9C2-927795BDA824}"/>
              </a:ext>
            </a:extLst>
          </p:cNvPr>
          <p:cNvSpPr>
            <a:spLocks noGrp="1"/>
          </p:cNvSpPr>
          <p:nvPr>
            <p:ph type="dt" sz="half" idx="10"/>
          </p:nvPr>
        </p:nvSpPr>
        <p:spPr/>
        <p:txBody>
          <a:bodyPr/>
          <a:lstStyle/>
          <a:p>
            <a:fld id="{6209461D-A67A-4686-80D4-2D0D328371F0}" type="datetimeFigureOut">
              <a:rPr lang="es-PE" smtClean="0"/>
              <a:t>17/10/2025</a:t>
            </a:fld>
            <a:endParaRPr lang="es-PE"/>
          </a:p>
        </p:txBody>
      </p:sp>
      <p:sp>
        <p:nvSpPr>
          <p:cNvPr id="6" name="Marcador de pie de página 5">
            <a:extLst>
              <a:ext uri="{FF2B5EF4-FFF2-40B4-BE49-F238E27FC236}">
                <a16:creationId xmlns:a16="http://schemas.microsoft.com/office/drawing/2014/main" id="{81EFD349-6833-B875-9F11-C77DF23507E1}"/>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0CECD156-92DD-29A2-A71D-958F1865D5FE}"/>
              </a:ext>
            </a:extLst>
          </p:cNvPr>
          <p:cNvSpPr>
            <a:spLocks noGrp="1"/>
          </p:cNvSpPr>
          <p:nvPr>
            <p:ph type="sldNum" sz="quarter" idx="12"/>
          </p:nvPr>
        </p:nvSpPr>
        <p:spPr/>
        <p:txBody>
          <a:bodyPr/>
          <a:lstStyle/>
          <a:p>
            <a:fld id="{DA2E7C02-8D67-46A3-A615-2420C0D66041}" type="slidenum">
              <a:rPr lang="es-PE" smtClean="0"/>
              <a:t>‹Nº›</a:t>
            </a:fld>
            <a:endParaRPr lang="es-PE"/>
          </a:p>
        </p:txBody>
      </p:sp>
    </p:spTree>
    <p:extLst>
      <p:ext uri="{BB962C8B-B14F-4D97-AF65-F5344CB8AC3E}">
        <p14:creationId xmlns:p14="http://schemas.microsoft.com/office/powerpoint/2010/main" val="33161130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7D2878-0B8A-8748-B16F-A768D907EDC2}"/>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D4F56010-7CA5-E42E-BDDB-6A40036294E1}"/>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D56AFF98-3712-E10A-F4EE-05BF994ADE0E}"/>
              </a:ext>
            </a:extLst>
          </p:cNvPr>
          <p:cNvSpPr>
            <a:spLocks noGrp="1"/>
          </p:cNvSpPr>
          <p:nvPr>
            <p:ph type="dt" sz="half" idx="10"/>
          </p:nvPr>
        </p:nvSpPr>
        <p:spPr/>
        <p:txBody>
          <a:bodyPr/>
          <a:lstStyle/>
          <a:p>
            <a:fld id="{6209461D-A67A-4686-80D4-2D0D328371F0}" type="datetimeFigureOut">
              <a:rPr lang="es-PE" smtClean="0"/>
              <a:t>17/10/2025</a:t>
            </a:fld>
            <a:endParaRPr lang="es-PE"/>
          </a:p>
        </p:txBody>
      </p:sp>
      <p:sp>
        <p:nvSpPr>
          <p:cNvPr id="5" name="Marcador de pie de página 4">
            <a:extLst>
              <a:ext uri="{FF2B5EF4-FFF2-40B4-BE49-F238E27FC236}">
                <a16:creationId xmlns:a16="http://schemas.microsoft.com/office/drawing/2014/main" id="{6EF157AB-C1A2-A028-0D72-9C354DD3A0FA}"/>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43AD23C2-E2CA-6479-54B8-17DC7D098A74}"/>
              </a:ext>
            </a:extLst>
          </p:cNvPr>
          <p:cNvSpPr>
            <a:spLocks noGrp="1"/>
          </p:cNvSpPr>
          <p:nvPr>
            <p:ph type="sldNum" sz="quarter" idx="12"/>
          </p:nvPr>
        </p:nvSpPr>
        <p:spPr/>
        <p:txBody>
          <a:bodyPr/>
          <a:lstStyle/>
          <a:p>
            <a:fld id="{DA2E7C02-8D67-46A3-A615-2420C0D66041}" type="slidenum">
              <a:rPr lang="es-PE" smtClean="0"/>
              <a:t>‹Nº›</a:t>
            </a:fld>
            <a:endParaRPr lang="es-PE"/>
          </a:p>
        </p:txBody>
      </p:sp>
    </p:spTree>
    <p:extLst>
      <p:ext uri="{BB962C8B-B14F-4D97-AF65-F5344CB8AC3E}">
        <p14:creationId xmlns:p14="http://schemas.microsoft.com/office/powerpoint/2010/main" val="30321103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210E389-3C68-17EA-AFCA-D4721369A79C}"/>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F22A9995-E221-8982-AA38-AED1A775412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1B21D78D-9CCA-14AA-0EE3-756A9114857B}"/>
              </a:ext>
            </a:extLst>
          </p:cNvPr>
          <p:cNvSpPr>
            <a:spLocks noGrp="1"/>
          </p:cNvSpPr>
          <p:nvPr>
            <p:ph type="dt" sz="half" idx="10"/>
          </p:nvPr>
        </p:nvSpPr>
        <p:spPr/>
        <p:txBody>
          <a:bodyPr/>
          <a:lstStyle/>
          <a:p>
            <a:fld id="{6209461D-A67A-4686-80D4-2D0D328371F0}" type="datetimeFigureOut">
              <a:rPr lang="es-PE" smtClean="0"/>
              <a:t>17/10/2025</a:t>
            </a:fld>
            <a:endParaRPr lang="es-PE"/>
          </a:p>
        </p:txBody>
      </p:sp>
      <p:sp>
        <p:nvSpPr>
          <p:cNvPr id="5" name="Marcador de pie de página 4">
            <a:extLst>
              <a:ext uri="{FF2B5EF4-FFF2-40B4-BE49-F238E27FC236}">
                <a16:creationId xmlns:a16="http://schemas.microsoft.com/office/drawing/2014/main" id="{22940F45-B223-2DC0-984B-68D9DF4872B4}"/>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42AD4BDA-B60D-1A4F-E658-E0E76B845CC4}"/>
              </a:ext>
            </a:extLst>
          </p:cNvPr>
          <p:cNvSpPr>
            <a:spLocks noGrp="1"/>
          </p:cNvSpPr>
          <p:nvPr>
            <p:ph type="sldNum" sz="quarter" idx="12"/>
          </p:nvPr>
        </p:nvSpPr>
        <p:spPr/>
        <p:txBody>
          <a:bodyPr/>
          <a:lstStyle/>
          <a:p>
            <a:fld id="{DA2E7C02-8D67-46A3-A615-2420C0D66041}" type="slidenum">
              <a:rPr lang="es-PE" smtClean="0"/>
              <a:t>‹Nº›</a:t>
            </a:fld>
            <a:endParaRPr lang="es-PE"/>
          </a:p>
        </p:txBody>
      </p:sp>
    </p:spTree>
    <p:extLst>
      <p:ext uri="{BB962C8B-B14F-4D97-AF65-F5344CB8AC3E}">
        <p14:creationId xmlns:p14="http://schemas.microsoft.com/office/powerpoint/2010/main" val="5879854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F0435E5-E59E-03F1-2C25-F5FFD96A8C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AC07DEAB-BE2E-803C-618A-A0CEF42D669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C5D585EE-8F36-E7DC-0A3C-5D1EA4119C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09461D-A67A-4686-80D4-2D0D328371F0}" type="datetimeFigureOut">
              <a:rPr lang="es-PE" smtClean="0"/>
              <a:t>17/10/2025</a:t>
            </a:fld>
            <a:endParaRPr lang="es-PE"/>
          </a:p>
        </p:txBody>
      </p:sp>
      <p:sp>
        <p:nvSpPr>
          <p:cNvPr id="5" name="Marcador de pie de página 4">
            <a:extLst>
              <a:ext uri="{FF2B5EF4-FFF2-40B4-BE49-F238E27FC236}">
                <a16:creationId xmlns:a16="http://schemas.microsoft.com/office/drawing/2014/main" id="{0A36D1E0-474D-104A-47A3-A21A6C2AFF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a:extLst>
              <a:ext uri="{FF2B5EF4-FFF2-40B4-BE49-F238E27FC236}">
                <a16:creationId xmlns:a16="http://schemas.microsoft.com/office/drawing/2014/main" id="{0AA08DBA-7E83-BCE4-EC19-034E750079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2E7C02-8D67-46A3-A615-2420C0D66041}" type="slidenum">
              <a:rPr lang="es-PE" smtClean="0"/>
              <a:t>‹Nº›</a:t>
            </a:fld>
            <a:endParaRPr lang="es-PE"/>
          </a:p>
        </p:txBody>
      </p:sp>
    </p:spTree>
    <p:extLst>
      <p:ext uri="{BB962C8B-B14F-4D97-AF65-F5344CB8AC3E}">
        <p14:creationId xmlns:p14="http://schemas.microsoft.com/office/powerpoint/2010/main" val="39356488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90C39C8B-D0D3-8EB3-EA3B-8240BE435F2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428"/>
            <a:ext cx="12192000" cy="6857143"/>
          </a:xfrm>
          <a:prstGeom prst="rect">
            <a:avLst/>
          </a:prstGeom>
        </p:spPr>
      </p:pic>
      <p:sp>
        <p:nvSpPr>
          <p:cNvPr id="4" name="CuadroTexto 3">
            <a:extLst>
              <a:ext uri="{FF2B5EF4-FFF2-40B4-BE49-F238E27FC236}">
                <a16:creationId xmlns:a16="http://schemas.microsoft.com/office/drawing/2014/main" id="{E28448E5-E694-A653-D885-A2320D68232F}"/>
              </a:ext>
            </a:extLst>
          </p:cNvPr>
          <p:cNvSpPr txBox="1"/>
          <p:nvPr/>
        </p:nvSpPr>
        <p:spPr>
          <a:xfrm>
            <a:off x="5751444" y="2902227"/>
            <a:ext cx="5626601" cy="1754326"/>
          </a:xfrm>
          <a:prstGeom prst="rect">
            <a:avLst/>
          </a:prstGeom>
          <a:noFill/>
        </p:spPr>
        <p:txBody>
          <a:bodyPr wrap="square" rtlCol="0">
            <a:spAutoFit/>
          </a:bodyPr>
          <a:lstStyle/>
          <a:p>
            <a:r>
              <a:rPr lang="es-ES" sz="5400" b="1" dirty="0">
                <a:solidFill>
                  <a:schemeClr val="bg1"/>
                </a:solidFill>
              </a:rPr>
              <a:t>Inteligencia Artificial</a:t>
            </a:r>
            <a:endParaRPr lang="es-PE" sz="5400" b="1" dirty="0">
              <a:solidFill>
                <a:schemeClr val="bg1"/>
              </a:solidFill>
            </a:endParaRPr>
          </a:p>
        </p:txBody>
      </p:sp>
      <p:sp>
        <p:nvSpPr>
          <p:cNvPr id="2" name="CuadroTexto 1">
            <a:extLst>
              <a:ext uri="{FF2B5EF4-FFF2-40B4-BE49-F238E27FC236}">
                <a16:creationId xmlns:a16="http://schemas.microsoft.com/office/drawing/2014/main" id="{A4540883-D68C-205C-2821-DEB9A86C42FD}"/>
              </a:ext>
            </a:extLst>
          </p:cNvPr>
          <p:cNvSpPr txBox="1"/>
          <p:nvPr/>
        </p:nvSpPr>
        <p:spPr>
          <a:xfrm>
            <a:off x="5751443" y="4656553"/>
            <a:ext cx="5626601" cy="707886"/>
          </a:xfrm>
          <a:prstGeom prst="rect">
            <a:avLst/>
          </a:prstGeom>
          <a:noFill/>
        </p:spPr>
        <p:txBody>
          <a:bodyPr wrap="square" rtlCol="0">
            <a:spAutoFit/>
          </a:bodyPr>
          <a:lstStyle/>
          <a:p>
            <a:r>
              <a:rPr lang="es-ES" sz="2000" b="1" dirty="0">
                <a:solidFill>
                  <a:schemeClr val="bg1"/>
                </a:solidFill>
              </a:rPr>
              <a:t>Ing. Juancarlos Santana Huamán</a:t>
            </a:r>
          </a:p>
          <a:p>
            <a:r>
              <a:rPr lang="es-ES" sz="2000" b="1" dirty="0">
                <a:solidFill>
                  <a:schemeClr val="bg1"/>
                </a:solidFill>
              </a:rPr>
              <a:t>jsantana@ucss.edu.pe</a:t>
            </a:r>
            <a:endParaRPr lang="es-PE" sz="2000" b="1" dirty="0">
              <a:solidFill>
                <a:schemeClr val="bg1"/>
              </a:solidFill>
            </a:endParaRPr>
          </a:p>
        </p:txBody>
      </p:sp>
    </p:spTree>
    <p:extLst>
      <p:ext uri="{BB962C8B-B14F-4D97-AF65-F5344CB8AC3E}">
        <p14:creationId xmlns:p14="http://schemas.microsoft.com/office/powerpoint/2010/main" val="15226620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CBB95-423C-6BF1-3A16-66E49C3EA9D4}"/>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E8D4B212-4F7D-59F4-B06B-4AAD5AD7D42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2" name="Marcador de contenido 1">
            <a:extLst>
              <a:ext uri="{FF2B5EF4-FFF2-40B4-BE49-F238E27FC236}">
                <a16:creationId xmlns:a16="http://schemas.microsoft.com/office/drawing/2014/main" id="{D57297A6-0593-C8D1-C02A-BDA8BCEAF19D}"/>
              </a:ext>
            </a:extLst>
          </p:cNvPr>
          <p:cNvSpPr>
            <a:spLocks noGrp="1"/>
          </p:cNvSpPr>
          <p:nvPr>
            <p:ph idx="1"/>
          </p:nvPr>
        </p:nvSpPr>
        <p:spPr/>
        <p:txBody>
          <a:bodyPr>
            <a:normAutofit/>
          </a:bodyPr>
          <a:lstStyle/>
          <a:p>
            <a:r>
              <a:rPr lang="es-ES" dirty="0"/>
              <a:t>La agrupación es una técnica de aprendizaje automático no supervisado con muchas aplicaciones en las áreas de reconocimiento de patrones, análisis de imágenes, análisis de clientes, segmentación de mercados, análisis de redes sociales, etc. Una amplia gama de industrias utiliza la agrupación, desde las aerolíneas a la sanidad y más allá. </a:t>
            </a:r>
          </a:p>
          <a:p>
            <a:r>
              <a:rPr lang="es-ES" dirty="0"/>
              <a:t>Es un tipo de aprendizaje no supervisado, lo que significa que no necesitamos datos etiquetados para los algoritmos de agrupación; ésta es una de las mayores ventajas de la agrupación frente a otros aprendizajes supervisados como la Clasificación. </a:t>
            </a:r>
            <a:endParaRPr lang="es-PE" dirty="0"/>
          </a:p>
        </p:txBody>
      </p:sp>
      <p:sp>
        <p:nvSpPr>
          <p:cNvPr id="5" name="Título 4">
            <a:extLst>
              <a:ext uri="{FF2B5EF4-FFF2-40B4-BE49-F238E27FC236}">
                <a16:creationId xmlns:a16="http://schemas.microsoft.com/office/drawing/2014/main" id="{68C700F8-0DB7-EBA3-A689-1110DB177740}"/>
              </a:ext>
            </a:extLst>
          </p:cNvPr>
          <p:cNvSpPr>
            <a:spLocks noGrp="1"/>
          </p:cNvSpPr>
          <p:nvPr>
            <p:ph type="title"/>
          </p:nvPr>
        </p:nvSpPr>
        <p:spPr/>
        <p:txBody>
          <a:bodyPr/>
          <a:lstStyle/>
          <a:p>
            <a:r>
              <a:rPr lang="es-ES" dirty="0"/>
              <a:t>Agrupación en el aprendizaje automático: 5 Algoritmos de Agrupación Esenciales</a:t>
            </a:r>
            <a:endParaRPr lang="es-PE" dirty="0"/>
          </a:p>
        </p:txBody>
      </p:sp>
    </p:spTree>
    <p:extLst>
      <p:ext uri="{BB962C8B-B14F-4D97-AF65-F5344CB8AC3E}">
        <p14:creationId xmlns:p14="http://schemas.microsoft.com/office/powerpoint/2010/main" val="39063885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73BE5-D14A-95A4-E1A2-D101317A79AE}"/>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1B1D5C5B-C433-4DCB-74CA-83FCD9110FD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2" name="Marcador de contenido 1">
            <a:extLst>
              <a:ext uri="{FF2B5EF4-FFF2-40B4-BE49-F238E27FC236}">
                <a16:creationId xmlns:a16="http://schemas.microsoft.com/office/drawing/2014/main" id="{07EAA948-6513-CBDE-EBB2-5003947C5EBC}"/>
              </a:ext>
            </a:extLst>
          </p:cNvPr>
          <p:cNvSpPr>
            <a:spLocks noGrp="1"/>
          </p:cNvSpPr>
          <p:nvPr>
            <p:ph idx="1"/>
          </p:nvPr>
        </p:nvSpPr>
        <p:spPr/>
        <p:txBody>
          <a:bodyPr>
            <a:normAutofit/>
          </a:bodyPr>
          <a:lstStyle/>
          <a:p>
            <a:r>
              <a:rPr lang="es-ES" sz="2000" dirty="0"/>
              <a:t>La agrupación es el proceso de ordenar un grupo de objetos de forma que los objetos de un mismo grupo (que se denomina clúster) sean más parecidos entre sí que a los objetos de cualquier otro grupo.  Los profesionales de los datos suelen utilizar la agrupación en la fase de Análisis Exploratorio de Datos para descubrir nueva información y patrones en los datos. Como la agrupación es aprendizaje automático no supervisado, no requiere un conjunto de datos etiquetados. </a:t>
            </a:r>
          </a:p>
          <a:p>
            <a:r>
              <a:rPr lang="es-ES" sz="2000" dirty="0"/>
              <a:t>La agrupación en sí no es un algoritmo específico, sino la tarea general que hay que resolver. Puedes lograr este objetivo utilizando varios algoritmos que difieren significativamente en su comprensión de lo que constituye un conglomerado y en cómo encontrarlos de forma eficiente. </a:t>
            </a:r>
          </a:p>
          <a:p>
            <a:r>
              <a:rPr lang="es-ES" sz="2000" dirty="0"/>
              <a:t>Más adelante en este tutorial, compararemos los resultados de diferentes algoritmos de agrupación, seguidos de una discusión detallada de 5 algoritmos de agrupación esenciales y populares que se utilizan hoy en día en la industria. Aunque los algoritmos son esencialmente matemáticos, este tutorial de agrupación pretende construir una comprensión intuitiva de los algoritmos más que una formulación matemática.</a:t>
            </a:r>
            <a:endParaRPr lang="es-PE" sz="2000" dirty="0"/>
          </a:p>
        </p:txBody>
      </p:sp>
      <p:sp>
        <p:nvSpPr>
          <p:cNvPr id="5" name="Título 4">
            <a:extLst>
              <a:ext uri="{FF2B5EF4-FFF2-40B4-BE49-F238E27FC236}">
                <a16:creationId xmlns:a16="http://schemas.microsoft.com/office/drawing/2014/main" id="{E80A9811-FF6A-0660-BB46-2FC2FC9234B1}"/>
              </a:ext>
            </a:extLst>
          </p:cNvPr>
          <p:cNvSpPr>
            <a:spLocks noGrp="1"/>
          </p:cNvSpPr>
          <p:nvPr>
            <p:ph type="title"/>
          </p:nvPr>
        </p:nvSpPr>
        <p:spPr/>
        <p:txBody>
          <a:bodyPr/>
          <a:lstStyle/>
          <a:p>
            <a:r>
              <a:rPr lang="es-PE" dirty="0"/>
              <a:t>¿Qué es la Agrupación?</a:t>
            </a:r>
          </a:p>
        </p:txBody>
      </p:sp>
    </p:spTree>
    <p:extLst>
      <p:ext uri="{BB962C8B-B14F-4D97-AF65-F5344CB8AC3E}">
        <p14:creationId xmlns:p14="http://schemas.microsoft.com/office/powerpoint/2010/main" val="16416651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3B897-26A7-27C2-6DCA-943AFE977101}"/>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DF4FD6BD-5CE6-63CA-75D3-E1A915338F7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2" name="Marcador de contenido 1">
            <a:extLst>
              <a:ext uri="{FF2B5EF4-FFF2-40B4-BE49-F238E27FC236}">
                <a16:creationId xmlns:a16="http://schemas.microsoft.com/office/drawing/2014/main" id="{182A7D76-5FA1-4D7B-8E26-4BEE157A314F}"/>
              </a:ext>
            </a:extLst>
          </p:cNvPr>
          <p:cNvSpPr>
            <a:spLocks noGrp="1"/>
          </p:cNvSpPr>
          <p:nvPr>
            <p:ph idx="1"/>
          </p:nvPr>
        </p:nvSpPr>
        <p:spPr>
          <a:xfrm>
            <a:off x="838200" y="1825624"/>
            <a:ext cx="10515600" cy="4758055"/>
          </a:xfrm>
        </p:spPr>
        <p:txBody>
          <a:bodyPr>
            <a:normAutofit/>
          </a:bodyPr>
          <a:lstStyle/>
          <a:p>
            <a:r>
              <a:rPr lang="es-ES" sz="2000" dirty="0"/>
              <a:t>La agrupación, a diferencia de los casos de uso del aprendizaje supervisado, como la clasificación o la regresión, no puede automatizarse completamente de principio a fin. Por el contrario, se trata de un proceso iterativo de descubrimiento de información que requiere experiencia en el dominio y un juicio humano utilizado con frecuencia para realizar ajustes en los datos y en los parámetros del modelo para lograr el resultado deseado. </a:t>
            </a:r>
          </a:p>
          <a:p>
            <a:r>
              <a:rPr lang="es-ES" sz="2000" dirty="0"/>
              <a:t>Y lo que es más importante, como la agrupación es un aprendizaje no supervisado y no utiliza datos etiquetados, no podemos calcular métricas de rendimiento como la precisión, el AUC (Área bajo la curva), el RMSE (Error cuadrático medio), etc., para comparar distintos algoritmos o técnicas de preprocesamiento de datos. Como resultado, esto hace que sea realmente difícil y subjetivo evaluar el rendimiento de los modelos de agrupación. </a:t>
            </a:r>
          </a:p>
          <a:p>
            <a:r>
              <a:rPr lang="es-ES" sz="2000" dirty="0"/>
              <a:t>Los criterios clave del éxito en los modelos de agrupación giran en torno a:</a:t>
            </a:r>
          </a:p>
          <a:p>
            <a:pPr lvl="1"/>
            <a:r>
              <a:rPr lang="es-ES" sz="1800" dirty="0"/>
              <a:t>¿Es interpretable?</a:t>
            </a:r>
          </a:p>
          <a:p>
            <a:pPr lvl="1"/>
            <a:r>
              <a:rPr lang="es-ES" sz="1800" dirty="0"/>
              <a:t>¿El resultado de la agrupación es útil para las empresas?</a:t>
            </a:r>
          </a:p>
          <a:p>
            <a:pPr lvl="1"/>
            <a:r>
              <a:rPr lang="es-ES" sz="1800" dirty="0"/>
              <a:t>¿Has aprendido nueva información o descubierto nuevos patrones en los datos de los que no eras consciente antes de la agrupación?</a:t>
            </a:r>
            <a:endParaRPr lang="es-PE" sz="1800" dirty="0"/>
          </a:p>
        </p:txBody>
      </p:sp>
      <p:sp>
        <p:nvSpPr>
          <p:cNvPr id="5" name="Título 4">
            <a:extLst>
              <a:ext uri="{FF2B5EF4-FFF2-40B4-BE49-F238E27FC236}">
                <a16:creationId xmlns:a16="http://schemas.microsoft.com/office/drawing/2014/main" id="{18D3404E-B9BF-A4EA-948D-937F8D220AEE}"/>
              </a:ext>
            </a:extLst>
          </p:cNvPr>
          <p:cNvSpPr>
            <a:spLocks noGrp="1"/>
          </p:cNvSpPr>
          <p:nvPr>
            <p:ph type="title"/>
          </p:nvPr>
        </p:nvSpPr>
        <p:spPr/>
        <p:txBody>
          <a:bodyPr/>
          <a:lstStyle/>
          <a:p>
            <a:r>
              <a:rPr lang="es-ES" dirty="0"/>
              <a:t>Criterios clave de éxito para el análisis de agrupaciones</a:t>
            </a:r>
            <a:endParaRPr lang="es-PE" dirty="0"/>
          </a:p>
        </p:txBody>
      </p:sp>
    </p:spTree>
    <p:extLst>
      <p:ext uri="{BB962C8B-B14F-4D97-AF65-F5344CB8AC3E}">
        <p14:creationId xmlns:p14="http://schemas.microsoft.com/office/powerpoint/2010/main" val="29647502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E0A97-6D94-C2B8-8EF4-58E8D7C54126}"/>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05833882-5442-6F38-9C97-F4620BAAFD3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2" name="Marcador de contenido 1">
            <a:extLst>
              <a:ext uri="{FF2B5EF4-FFF2-40B4-BE49-F238E27FC236}">
                <a16:creationId xmlns:a16="http://schemas.microsoft.com/office/drawing/2014/main" id="{8C79ED89-2999-0C4B-CCD5-DB12081CE78C}"/>
              </a:ext>
            </a:extLst>
          </p:cNvPr>
          <p:cNvSpPr>
            <a:spLocks noGrp="1"/>
          </p:cNvSpPr>
          <p:nvPr>
            <p:ph idx="1"/>
          </p:nvPr>
        </p:nvSpPr>
        <p:spPr>
          <a:xfrm>
            <a:off x="838200" y="1825626"/>
            <a:ext cx="5257799" cy="4368482"/>
          </a:xfrm>
        </p:spPr>
        <p:txBody>
          <a:bodyPr>
            <a:normAutofit fontScale="92500" lnSpcReduction="10000"/>
          </a:bodyPr>
          <a:lstStyle/>
          <a:p>
            <a:r>
              <a:rPr lang="es-ES" sz="2400" dirty="0"/>
              <a:t>Antes de entrar en detalles algorítmicos, vamos a construir una intuición sobre la agrupación utilizando un ejemplo de juguete de conjuntos de datos de frutas. Supongamos que tenemos una enorme colección de datos de imágenes que contienen tres frutas (i) fresas, (</a:t>
            </a:r>
            <a:r>
              <a:rPr lang="es-ES" sz="2400" dirty="0" err="1"/>
              <a:t>ii</a:t>
            </a:r>
            <a:r>
              <a:rPr lang="es-ES" sz="2400" dirty="0"/>
              <a:t>) peras y (</a:t>
            </a:r>
            <a:r>
              <a:rPr lang="es-ES" sz="2400" dirty="0" err="1"/>
              <a:t>iii</a:t>
            </a:r>
            <a:r>
              <a:rPr lang="es-ES" sz="2400" dirty="0"/>
              <a:t>) manzanas. </a:t>
            </a:r>
          </a:p>
          <a:p>
            <a:r>
              <a:rPr lang="es-ES" sz="2400" dirty="0"/>
              <a:t>En el conjunto de datos todas las imágenes están mezcladas y tu caso de uso es agrupar frutas similares, es decir, crear tres grupos en los que cada uno contenga un tipo de fruta. Esto es exactamente lo que hará un algoritmo de agrupación. </a:t>
            </a:r>
            <a:endParaRPr lang="es-PE" sz="2400" dirty="0"/>
          </a:p>
        </p:txBody>
      </p:sp>
      <p:sp>
        <p:nvSpPr>
          <p:cNvPr id="5" name="Título 4">
            <a:extLst>
              <a:ext uri="{FF2B5EF4-FFF2-40B4-BE49-F238E27FC236}">
                <a16:creationId xmlns:a16="http://schemas.microsoft.com/office/drawing/2014/main" id="{6F5F5FCA-4A94-84EA-F1DF-BAA9B99596D3}"/>
              </a:ext>
            </a:extLst>
          </p:cNvPr>
          <p:cNvSpPr>
            <a:spLocks noGrp="1"/>
          </p:cNvSpPr>
          <p:nvPr>
            <p:ph type="title"/>
          </p:nvPr>
        </p:nvSpPr>
        <p:spPr/>
        <p:txBody>
          <a:bodyPr/>
          <a:lstStyle/>
          <a:p>
            <a:r>
              <a:rPr lang="es-ES" dirty="0"/>
              <a:t>Construir la intuición tras la agrupación</a:t>
            </a:r>
            <a:endParaRPr lang="es-PE" dirty="0"/>
          </a:p>
        </p:txBody>
      </p:sp>
      <p:pic>
        <p:nvPicPr>
          <p:cNvPr id="1026" name="Picture 2" descr="algoritmo de agrupación">
            <a:extLst>
              <a:ext uri="{FF2B5EF4-FFF2-40B4-BE49-F238E27FC236}">
                <a16:creationId xmlns:a16="http://schemas.microsoft.com/office/drawing/2014/main" id="{B9EA9AB5-B325-C522-4BCD-BF515D1CAE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5999" y="2076132"/>
            <a:ext cx="6183146" cy="4117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71279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FAFA0-67FC-448C-2BD3-55E25AA93B10}"/>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D81F90BC-A055-2350-EB9F-CC968202441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2" name="Marcador de contenido 1">
            <a:extLst>
              <a:ext uri="{FF2B5EF4-FFF2-40B4-BE49-F238E27FC236}">
                <a16:creationId xmlns:a16="http://schemas.microsoft.com/office/drawing/2014/main" id="{C2A010E0-1630-D198-DB90-C592B94490C3}"/>
              </a:ext>
            </a:extLst>
          </p:cNvPr>
          <p:cNvSpPr>
            <a:spLocks noGrp="1"/>
          </p:cNvSpPr>
          <p:nvPr>
            <p:ph idx="1"/>
          </p:nvPr>
        </p:nvSpPr>
        <p:spPr>
          <a:xfrm>
            <a:off x="838200" y="1825625"/>
            <a:ext cx="10515600" cy="1943734"/>
          </a:xfrm>
        </p:spPr>
        <p:txBody>
          <a:bodyPr>
            <a:normAutofit fontScale="92500"/>
          </a:bodyPr>
          <a:lstStyle/>
          <a:p>
            <a:r>
              <a:rPr lang="es-ES" sz="1400" dirty="0"/>
              <a:t>La agrupación es una técnica muy potente y tiene amplias aplicaciones en diversos sectores, desde los medios de comunicación a la sanidad, pasando por la industria manufacturera y los servicios, y en cualquier lugar donde haya grandes cantidades de datos. Veamos algunos casos prácticos:</a:t>
            </a:r>
          </a:p>
          <a:p>
            <a:pPr marL="0" indent="0">
              <a:buNone/>
            </a:pPr>
            <a:r>
              <a:rPr lang="es-ES" sz="1400" b="1" dirty="0"/>
              <a:t>Segmentación de clientes</a:t>
            </a:r>
          </a:p>
          <a:p>
            <a:r>
              <a:rPr lang="es-ES" sz="1400" dirty="0"/>
              <a:t>Los clientes se clasifican mediante algoritmos de agrupación según su comportamiento de compra o sus intereses para desarrollar campañas de marketing específicas. </a:t>
            </a:r>
          </a:p>
          <a:p>
            <a:r>
              <a:rPr lang="es-ES" sz="1400" dirty="0"/>
              <a:t>Imagina que tienes 10M de clientes, y quieres desarrollar campañas de marketing personalizadas o enfocadas. Es poco probable que desarrolles campañas de marketing de 10M, así que ¿qué hacemos? Podríamos utilizar el </a:t>
            </a:r>
            <a:r>
              <a:rPr lang="es-ES" sz="1400" dirty="0" err="1"/>
              <a:t>clustering</a:t>
            </a:r>
            <a:r>
              <a:rPr lang="es-ES" sz="1400" dirty="0"/>
              <a:t> para agrupar 10M de clientes en 25 </a:t>
            </a:r>
            <a:r>
              <a:rPr lang="es-ES" sz="1400" dirty="0" err="1"/>
              <a:t>clusters</a:t>
            </a:r>
            <a:r>
              <a:rPr lang="es-ES" sz="1400" dirty="0"/>
              <a:t> y luego diseñar 25 campañas de marketing en lugar de 10M.</a:t>
            </a:r>
            <a:endParaRPr lang="es-PE" sz="1400" dirty="0"/>
          </a:p>
        </p:txBody>
      </p:sp>
      <p:sp>
        <p:nvSpPr>
          <p:cNvPr id="5" name="Título 4">
            <a:extLst>
              <a:ext uri="{FF2B5EF4-FFF2-40B4-BE49-F238E27FC236}">
                <a16:creationId xmlns:a16="http://schemas.microsoft.com/office/drawing/2014/main" id="{E07A01D5-CE34-C97A-E385-061A61FBCCE5}"/>
              </a:ext>
            </a:extLst>
          </p:cNvPr>
          <p:cNvSpPr>
            <a:spLocks noGrp="1"/>
          </p:cNvSpPr>
          <p:nvPr>
            <p:ph type="title"/>
          </p:nvPr>
        </p:nvSpPr>
        <p:spPr/>
        <p:txBody>
          <a:bodyPr/>
          <a:lstStyle/>
          <a:p>
            <a:r>
              <a:rPr lang="es-ES" dirty="0"/>
              <a:t>Aplicaciones empresariales de la agrupación</a:t>
            </a:r>
            <a:endParaRPr lang="es-PE" dirty="0"/>
          </a:p>
        </p:txBody>
      </p:sp>
      <p:pic>
        <p:nvPicPr>
          <p:cNvPr id="2056" name="Picture 8">
            <a:extLst>
              <a:ext uri="{FF2B5EF4-FFF2-40B4-BE49-F238E27FC236}">
                <a16:creationId xmlns:a16="http://schemas.microsoft.com/office/drawing/2014/main" id="{CC801DDE-FF01-2812-8A15-BF6661CCDB5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722" t="2854" r="3925" b="5803"/>
          <a:stretch>
            <a:fillRect/>
          </a:stretch>
        </p:blipFill>
        <p:spPr bwMode="auto">
          <a:xfrm>
            <a:off x="2580639" y="3769359"/>
            <a:ext cx="7030720" cy="30886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18141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52BC4-CE42-C4A5-EF49-12FC928BF407}"/>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29A270F2-4E22-4A14-04A8-415431C90A0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2" name="Marcador de contenido 1">
            <a:extLst>
              <a:ext uri="{FF2B5EF4-FFF2-40B4-BE49-F238E27FC236}">
                <a16:creationId xmlns:a16="http://schemas.microsoft.com/office/drawing/2014/main" id="{07AABD91-6CD2-BCAC-716E-D56C7B1784B2}"/>
              </a:ext>
            </a:extLst>
          </p:cNvPr>
          <p:cNvSpPr>
            <a:spLocks noGrp="1"/>
          </p:cNvSpPr>
          <p:nvPr>
            <p:ph idx="1"/>
          </p:nvPr>
        </p:nvSpPr>
        <p:spPr/>
        <p:txBody>
          <a:bodyPr>
            <a:normAutofit fontScale="92500"/>
          </a:bodyPr>
          <a:lstStyle/>
          <a:p>
            <a:pPr marL="0" indent="0">
              <a:buNone/>
            </a:pPr>
            <a:r>
              <a:rPr lang="es-ES" sz="2400" b="1" dirty="0"/>
              <a:t>Agrupación de Minoristas</a:t>
            </a:r>
          </a:p>
          <a:p>
            <a:r>
              <a:rPr lang="es-ES" sz="2400" dirty="0"/>
              <a:t>Hay muchas oportunidades de agrupación en los comercios minoristas. Por ejemplo, puedes recopilar datos sobre cada tienda y agruparlos a nivel de tienda para generar perspectivas que te indiquen qué ubicaciones son similares entre sí en función de atributos como el tráfico peatonal, las ventas medias de la tienda, el número de SKU, etc. </a:t>
            </a:r>
          </a:p>
          <a:p>
            <a:r>
              <a:rPr lang="es-ES" sz="2400" dirty="0"/>
              <a:t>Otro ejemplo podría ser la agrupación a nivel de categoría. En el diagrama siguiente, tenemos ocho tiendas. Los distintos colores representan agrupaciones diferentes. En este ejemplo hay cuatro grupos. </a:t>
            </a:r>
          </a:p>
          <a:p>
            <a:r>
              <a:rPr lang="es-ES" sz="2400" dirty="0"/>
              <a:t>Observa que la categoría de desodorantes de la Tienda 1 está representada por el grupo rojo, mientras que la categoría de desodorantes de la Tienda 2 está representada por el grupo azul. Esto demuestra que la Tienda 1 y la Tienda 2 tienen mercados objetivo completamente distintos para la categoría de desodorantes.</a:t>
            </a:r>
            <a:endParaRPr lang="es-PE" sz="2400" dirty="0"/>
          </a:p>
        </p:txBody>
      </p:sp>
      <p:sp>
        <p:nvSpPr>
          <p:cNvPr id="4" name="Título 4">
            <a:extLst>
              <a:ext uri="{FF2B5EF4-FFF2-40B4-BE49-F238E27FC236}">
                <a16:creationId xmlns:a16="http://schemas.microsoft.com/office/drawing/2014/main" id="{9C1FC31A-E26E-983A-BDB9-5D7597E2A980}"/>
              </a:ext>
            </a:extLst>
          </p:cNvPr>
          <p:cNvSpPr>
            <a:spLocks noGrp="1"/>
          </p:cNvSpPr>
          <p:nvPr>
            <p:ph type="title"/>
          </p:nvPr>
        </p:nvSpPr>
        <p:spPr>
          <a:xfrm>
            <a:off x="838200" y="365125"/>
            <a:ext cx="10515600" cy="1325563"/>
          </a:xfrm>
        </p:spPr>
        <p:txBody>
          <a:bodyPr/>
          <a:lstStyle/>
          <a:p>
            <a:r>
              <a:rPr lang="es-ES" dirty="0"/>
              <a:t>Aplicaciones empresariales de la agrupación</a:t>
            </a:r>
            <a:endParaRPr lang="es-PE" dirty="0"/>
          </a:p>
        </p:txBody>
      </p:sp>
    </p:spTree>
    <p:extLst>
      <p:ext uri="{BB962C8B-B14F-4D97-AF65-F5344CB8AC3E}">
        <p14:creationId xmlns:p14="http://schemas.microsoft.com/office/powerpoint/2010/main" val="22843198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BFCBF-CC10-10CC-8065-CB0F2B99E0E2}"/>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F37D99F8-2678-85FB-7951-3C7C1920A44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2" name="Marcador de contenido 1">
            <a:extLst>
              <a:ext uri="{FF2B5EF4-FFF2-40B4-BE49-F238E27FC236}">
                <a16:creationId xmlns:a16="http://schemas.microsoft.com/office/drawing/2014/main" id="{D769AD19-F9D0-9552-EF43-4E1DC984FBC1}"/>
              </a:ext>
            </a:extLst>
          </p:cNvPr>
          <p:cNvSpPr>
            <a:spLocks noGrp="1"/>
          </p:cNvSpPr>
          <p:nvPr>
            <p:ph idx="1"/>
          </p:nvPr>
        </p:nvSpPr>
        <p:spPr>
          <a:xfrm>
            <a:off x="838200" y="1825625"/>
            <a:ext cx="4796698" cy="4667250"/>
          </a:xfrm>
        </p:spPr>
        <p:txBody>
          <a:bodyPr>
            <a:normAutofit lnSpcReduction="10000"/>
          </a:bodyPr>
          <a:lstStyle/>
          <a:p>
            <a:pPr marL="0" indent="0">
              <a:buNone/>
            </a:pPr>
            <a:r>
              <a:rPr lang="es-ES" sz="1800" b="1" dirty="0"/>
              <a:t>Agrupación en Atención Clínica / Gestión de Enfermedades</a:t>
            </a:r>
          </a:p>
          <a:p>
            <a:r>
              <a:rPr lang="es-ES" sz="1800" dirty="0"/>
              <a:t>La Sanidad y las Ciencias Clínicas vuelven a ser una de esas áreas repletas de oportunidades para la agrupación que, de hecho, tienen un gran impacto en el campo. Un ejemplo de ello es la investigación publicada por </a:t>
            </a:r>
            <a:r>
              <a:rPr lang="es-ES" sz="1800" dirty="0" err="1"/>
              <a:t>Komaru</a:t>
            </a:r>
            <a:r>
              <a:rPr lang="es-ES" sz="1800" dirty="0"/>
              <a:t> &amp; Yoshida et al. 2020, donde recogieron datos demográficos y de laboratorio de 101 pacientes y luego los segmentaron en 3 grupos. </a:t>
            </a:r>
          </a:p>
          <a:p>
            <a:r>
              <a:rPr lang="es-ES" sz="1800" dirty="0"/>
              <a:t>Cada grupo estaba representado por condiciones diferentes. Por ejemplo, el grupo 1 tiene pacientes con CMB y PCR bajos. El Grupo 2 tiene pacientes con BMP y Suero elevados, y el Grupo 3 tiene pacientes con Suero bajo. Cada grupo representa una trayectoria de supervivencia diferente dada la mortalidad a 1 año tras la hemodiálisis.</a:t>
            </a:r>
            <a:endParaRPr lang="es-PE" sz="1800" dirty="0"/>
          </a:p>
        </p:txBody>
      </p:sp>
      <p:sp>
        <p:nvSpPr>
          <p:cNvPr id="4" name="Título 4">
            <a:extLst>
              <a:ext uri="{FF2B5EF4-FFF2-40B4-BE49-F238E27FC236}">
                <a16:creationId xmlns:a16="http://schemas.microsoft.com/office/drawing/2014/main" id="{D2F281E2-9A2F-0043-28AE-9C8956647101}"/>
              </a:ext>
            </a:extLst>
          </p:cNvPr>
          <p:cNvSpPr>
            <a:spLocks noGrp="1"/>
          </p:cNvSpPr>
          <p:nvPr>
            <p:ph type="title"/>
          </p:nvPr>
        </p:nvSpPr>
        <p:spPr>
          <a:xfrm>
            <a:off x="838200" y="365125"/>
            <a:ext cx="10515600" cy="1325563"/>
          </a:xfrm>
        </p:spPr>
        <p:txBody>
          <a:bodyPr/>
          <a:lstStyle/>
          <a:p>
            <a:r>
              <a:rPr lang="es-ES" dirty="0"/>
              <a:t>Aplicaciones empresariales de la agrupación</a:t>
            </a:r>
            <a:endParaRPr lang="es-PE" dirty="0"/>
          </a:p>
        </p:txBody>
      </p:sp>
      <p:pic>
        <p:nvPicPr>
          <p:cNvPr id="11" name="Imagen 10" descr="Interfaz de usuario gráfica&#10;&#10;El contenido generado por IA puede ser incorrecto.">
            <a:extLst>
              <a:ext uri="{FF2B5EF4-FFF2-40B4-BE49-F238E27FC236}">
                <a16:creationId xmlns:a16="http://schemas.microsoft.com/office/drawing/2014/main" id="{AC2EBCE7-C922-F5C6-A232-074168ECB8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34898" y="2159318"/>
            <a:ext cx="6557102" cy="3683952"/>
          </a:xfrm>
          <a:prstGeom prst="rect">
            <a:avLst/>
          </a:prstGeom>
        </p:spPr>
      </p:pic>
    </p:spTree>
    <p:extLst>
      <p:ext uri="{BB962C8B-B14F-4D97-AF65-F5344CB8AC3E}">
        <p14:creationId xmlns:p14="http://schemas.microsoft.com/office/powerpoint/2010/main" val="20754755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D8510-0CFC-FD41-EEA4-0DC81DDC9DA8}"/>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7D26160E-801E-E773-89BB-1AF2E2586C3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2" name="Marcador de contenido 1">
            <a:extLst>
              <a:ext uri="{FF2B5EF4-FFF2-40B4-BE49-F238E27FC236}">
                <a16:creationId xmlns:a16="http://schemas.microsoft.com/office/drawing/2014/main" id="{1830B4A2-F460-1CCF-A9B7-9BCD0DAE37AE}"/>
              </a:ext>
            </a:extLst>
          </p:cNvPr>
          <p:cNvSpPr>
            <a:spLocks noGrp="1"/>
          </p:cNvSpPr>
          <p:nvPr>
            <p:ph idx="1"/>
          </p:nvPr>
        </p:nvSpPr>
        <p:spPr>
          <a:xfrm>
            <a:off x="838200" y="1825625"/>
            <a:ext cx="10515600" cy="2355476"/>
          </a:xfrm>
        </p:spPr>
        <p:txBody>
          <a:bodyPr>
            <a:normAutofit/>
          </a:bodyPr>
          <a:lstStyle/>
          <a:p>
            <a:pPr marL="0" indent="0">
              <a:buNone/>
            </a:pPr>
            <a:r>
              <a:rPr lang="es-ES" sz="1800" b="1" dirty="0"/>
              <a:t>Segmentación de imágenes</a:t>
            </a:r>
          </a:p>
          <a:p>
            <a:r>
              <a:rPr lang="es-ES" sz="1800" dirty="0"/>
              <a:t>La segmentación de imágenes es la clasificación de una imagen en diferentes grupos. Se ha investigado mucho en el área de la segmentación de imágenes mediante agrupación. Este tipo de agrupación es útil si quieres aislar objetos en una imagen para analizar cada objeto individualmente y comprobar de qué se trata. </a:t>
            </a:r>
          </a:p>
          <a:p>
            <a:r>
              <a:rPr lang="es-ES" sz="1800" dirty="0"/>
              <a:t>En el ejemplo siguiente, el lado izquierdo representa la imagen original, y el lado derecho es el resultado del algoritmo de agrupación. Puedes ver claramente que hay 4 conglomerados que son 4 objetos diferentes de la imagen determinados en función de los píxeles (tigre, hierba, agua y arena).</a:t>
            </a:r>
            <a:endParaRPr lang="es-PE" sz="1800" dirty="0"/>
          </a:p>
        </p:txBody>
      </p:sp>
      <p:sp>
        <p:nvSpPr>
          <p:cNvPr id="4" name="Título 4">
            <a:extLst>
              <a:ext uri="{FF2B5EF4-FFF2-40B4-BE49-F238E27FC236}">
                <a16:creationId xmlns:a16="http://schemas.microsoft.com/office/drawing/2014/main" id="{F8E59311-4233-5837-FB23-4C6B46C4DA53}"/>
              </a:ext>
            </a:extLst>
          </p:cNvPr>
          <p:cNvSpPr>
            <a:spLocks noGrp="1"/>
          </p:cNvSpPr>
          <p:nvPr>
            <p:ph type="title"/>
          </p:nvPr>
        </p:nvSpPr>
        <p:spPr>
          <a:xfrm>
            <a:off x="838200" y="365125"/>
            <a:ext cx="10515600" cy="1325563"/>
          </a:xfrm>
        </p:spPr>
        <p:txBody>
          <a:bodyPr/>
          <a:lstStyle/>
          <a:p>
            <a:r>
              <a:rPr lang="es-ES" dirty="0"/>
              <a:t>Aplicaciones empresariales de la agrupación</a:t>
            </a:r>
            <a:endParaRPr lang="es-PE" dirty="0"/>
          </a:p>
        </p:txBody>
      </p:sp>
      <p:pic>
        <p:nvPicPr>
          <p:cNvPr id="8" name="Imagen 7">
            <a:extLst>
              <a:ext uri="{FF2B5EF4-FFF2-40B4-BE49-F238E27FC236}">
                <a16:creationId xmlns:a16="http://schemas.microsoft.com/office/drawing/2014/main" id="{6E67BAB3-9BDF-FFBC-6D8D-8821F23A5771}"/>
              </a:ext>
            </a:extLst>
          </p:cNvPr>
          <p:cNvPicPr>
            <a:picLocks noChangeAspect="1"/>
          </p:cNvPicPr>
          <p:nvPr/>
        </p:nvPicPr>
        <p:blipFill>
          <a:blip r:embed="rId3"/>
          <a:stretch>
            <a:fillRect/>
          </a:stretch>
        </p:blipFill>
        <p:spPr>
          <a:xfrm>
            <a:off x="2033019" y="4181101"/>
            <a:ext cx="8125959" cy="2676899"/>
          </a:xfrm>
          <a:prstGeom prst="rect">
            <a:avLst/>
          </a:prstGeom>
        </p:spPr>
      </p:pic>
    </p:spTree>
    <p:extLst>
      <p:ext uri="{BB962C8B-B14F-4D97-AF65-F5344CB8AC3E}">
        <p14:creationId xmlns:p14="http://schemas.microsoft.com/office/powerpoint/2010/main" val="21563239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67F95-8460-21DF-498F-8A477474F365}"/>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4133D0E8-93E5-2FF0-EA4E-6A4CE1A08C4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2" name="Marcador de contenido 1">
            <a:extLst>
              <a:ext uri="{FF2B5EF4-FFF2-40B4-BE49-F238E27FC236}">
                <a16:creationId xmlns:a16="http://schemas.microsoft.com/office/drawing/2014/main" id="{68657E16-9311-AC9B-9150-9A02616B2294}"/>
              </a:ext>
            </a:extLst>
          </p:cNvPr>
          <p:cNvSpPr>
            <a:spLocks noGrp="1"/>
          </p:cNvSpPr>
          <p:nvPr>
            <p:ph idx="1"/>
          </p:nvPr>
        </p:nvSpPr>
        <p:spPr/>
        <p:txBody>
          <a:bodyPr>
            <a:normAutofit lnSpcReduction="10000"/>
          </a:bodyPr>
          <a:lstStyle/>
          <a:p>
            <a:pPr marL="0" indent="0">
              <a:buNone/>
            </a:pPr>
            <a:r>
              <a:rPr lang="es-ES" sz="2000" b="1" dirty="0"/>
              <a:t>Comparación de distintos algoritmos de agrupación</a:t>
            </a:r>
          </a:p>
          <a:p>
            <a:r>
              <a:rPr lang="es-ES" sz="2000" dirty="0"/>
              <a:t>Hay 10 algoritmos de agrupación no supervisada implementados en </a:t>
            </a:r>
            <a:r>
              <a:rPr lang="es-ES" sz="2000" dirty="0" err="1"/>
              <a:t>scikit-learn</a:t>
            </a:r>
            <a:r>
              <a:rPr lang="es-ES" sz="2000" dirty="0"/>
              <a:t>, una popular biblioteca de aprendizaje automático en Python. Existen diferencias subyacentes fundamentales en la forma en que cada algoritmo determina y asigna los conglomerados en el conjunto de datos. </a:t>
            </a:r>
          </a:p>
          <a:p>
            <a:r>
              <a:rPr lang="es-ES" sz="2000" dirty="0"/>
              <a:t>Las diferencias subyacentes en la modalidad matemática de estos algoritmos se reducen a cuatro aspectos en los que podemos comparar y contrastar estos algoritmos:</a:t>
            </a:r>
          </a:p>
          <a:p>
            <a:pPr lvl="1"/>
            <a:r>
              <a:rPr lang="es-ES" sz="1800" dirty="0"/>
              <a:t>Parámetros necesarios para el modelo </a:t>
            </a:r>
          </a:p>
          <a:p>
            <a:pPr lvl="1"/>
            <a:r>
              <a:rPr lang="es-ES" sz="1800" dirty="0"/>
              <a:t>Escalabilidad </a:t>
            </a:r>
          </a:p>
          <a:p>
            <a:pPr lvl="1"/>
            <a:r>
              <a:rPr lang="es-ES" sz="1800" dirty="0"/>
              <a:t>Casos prácticos, </a:t>
            </a:r>
          </a:p>
          <a:p>
            <a:pPr lvl="1"/>
            <a:r>
              <a:rPr lang="es-ES" sz="1800" dirty="0"/>
              <a:t>Geometría, es decir, métrica utilizada para el cálculo de distancias. </a:t>
            </a:r>
          </a:p>
          <a:p>
            <a:r>
              <a:rPr lang="es-ES" sz="2000" dirty="0"/>
              <a:t>Centrémonos en el resultado de estos algoritmos. En el diagrama siguiente, cada columna representa una salida de un algoritmo de agrupación diferente, como </a:t>
            </a:r>
            <a:r>
              <a:rPr lang="es-ES" sz="2000" dirty="0" err="1"/>
              <a:t>KMeans</a:t>
            </a:r>
            <a:r>
              <a:rPr lang="es-ES" sz="2000" dirty="0"/>
              <a:t>, Propagación de afinidad, </a:t>
            </a:r>
            <a:r>
              <a:rPr lang="es-ES" sz="2000" dirty="0" err="1"/>
              <a:t>MeanShift</a:t>
            </a:r>
            <a:r>
              <a:rPr lang="es-ES" sz="2000" dirty="0"/>
              <a:t>, etc. Hay un total de 10 algoritmos que se entrenan con el mismo conjunto de datos.</a:t>
            </a:r>
            <a:endParaRPr lang="es-PE" sz="2000" dirty="0"/>
          </a:p>
        </p:txBody>
      </p:sp>
      <p:sp>
        <p:nvSpPr>
          <p:cNvPr id="4" name="Título 4">
            <a:extLst>
              <a:ext uri="{FF2B5EF4-FFF2-40B4-BE49-F238E27FC236}">
                <a16:creationId xmlns:a16="http://schemas.microsoft.com/office/drawing/2014/main" id="{180DD0A0-FF97-4BF3-150D-73A6087DF72A}"/>
              </a:ext>
            </a:extLst>
          </p:cNvPr>
          <p:cNvSpPr>
            <a:spLocks noGrp="1"/>
          </p:cNvSpPr>
          <p:nvPr>
            <p:ph type="title"/>
          </p:nvPr>
        </p:nvSpPr>
        <p:spPr>
          <a:xfrm>
            <a:off x="838200" y="365125"/>
            <a:ext cx="10515600" cy="1325563"/>
          </a:xfrm>
        </p:spPr>
        <p:txBody>
          <a:bodyPr/>
          <a:lstStyle/>
          <a:p>
            <a:r>
              <a:rPr lang="es-ES" dirty="0"/>
              <a:t>Aplicaciones empresariales de la agrupación</a:t>
            </a:r>
            <a:endParaRPr lang="es-PE" dirty="0"/>
          </a:p>
        </p:txBody>
      </p:sp>
    </p:spTree>
    <p:extLst>
      <p:ext uri="{BB962C8B-B14F-4D97-AF65-F5344CB8AC3E}">
        <p14:creationId xmlns:p14="http://schemas.microsoft.com/office/powerpoint/2010/main" val="31284119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1D2B6-9FEE-9481-4B56-FD30C47EAEBE}"/>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2184944E-43AC-84AC-9602-27FF247C684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2" name="Marcador de contenido 1">
            <a:extLst>
              <a:ext uri="{FF2B5EF4-FFF2-40B4-BE49-F238E27FC236}">
                <a16:creationId xmlns:a16="http://schemas.microsoft.com/office/drawing/2014/main" id="{F8AD9EA7-D0D4-3E57-EBBF-9B8939C09AB5}"/>
              </a:ext>
            </a:extLst>
          </p:cNvPr>
          <p:cNvSpPr>
            <a:spLocks noGrp="1"/>
          </p:cNvSpPr>
          <p:nvPr>
            <p:ph idx="1"/>
          </p:nvPr>
        </p:nvSpPr>
        <p:spPr>
          <a:xfrm>
            <a:off x="838200" y="1825625"/>
            <a:ext cx="4839653" cy="4667250"/>
          </a:xfrm>
        </p:spPr>
        <p:txBody>
          <a:bodyPr>
            <a:normAutofit fontScale="92500"/>
          </a:bodyPr>
          <a:lstStyle/>
          <a:p>
            <a:r>
              <a:rPr lang="es-ES" sz="2400" dirty="0"/>
              <a:t>Algunos algoritmos han dado el mismo resultado. Observa que la Agrupación </a:t>
            </a:r>
            <a:r>
              <a:rPr lang="es-ES" sz="2400" dirty="0" err="1"/>
              <a:t>Aglomerativa</a:t>
            </a:r>
            <a:r>
              <a:rPr lang="es-ES" sz="2400" dirty="0"/>
              <a:t>, DBSCAN, OPTICS y la Agrupación Espectral han dado como resultado los mismos conglomerados. </a:t>
            </a:r>
          </a:p>
          <a:p>
            <a:r>
              <a:rPr lang="es-ES" sz="2400" dirty="0"/>
              <a:t>Sin embargo, si observas y comparas el resultado del algoritmo </a:t>
            </a:r>
            <a:r>
              <a:rPr lang="es-ES" sz="2400" dirty="0" err="1"/>
              <a:t>KMeans</a:t>
            </a:r>
            <a:r>
              <a:rPr lang="es-ES" sz="2400" dirty="0"/>
              <a:t> con el del algoritmo </a:t>
            </a:r>
            <a:r>
              <a:rPr lang="es-ES" sz="2400" dirty="0" err="1"/>
              <a:t>MeanShift</a:t>
            </a:r>
            <a:r>
              <a:rPr lang="es-ES" sz="2400" dirty="0"/>
              <a:t>, te darás cuenta de que ambos algoritmos dieron resultados diferentes. En el caso de </a:t>
            </a:r>
            <a:r>
              <a:rPr lang="es-ES" sz="2400" dirty="0" err="1"/>
              <a:t>KMeans</a:t>
            </a:r>
            <a:r>
              <a:rPr lang="es-ES" sz="2400" dirty="0"/>
              <a:t>, sólo hay dos grupos (</a:t>
            </a:r>
            <a:r>
              <a:rPr lang="es-ES" sz="2400" dirty="0" err="1"/>
              <a:t>clusters</a:t>
            </a:r>
            <a:r>
              <a:rPr lang="es-ES" sz="2400" dirty="0"/>
              <a:t>: azul y naranja), mientras que, en el caso de </a:t>
            </a:r>
            <a:r>
              <a:rPr lang="es-ES" sz="2400" dirty="0" err="1"/>
              <a:t>MeanShift</a:t>
            </a:r>
            <a:r>
              <a:rPr lang="es-ES" sz="2400" dirty="0"/>
              <a:t>, hay tres, es decir, azul, verde y naranja.</a:t>
            </a:r>
            <a:endParaRPr lang="es-PE" sz="2400" dirty="0"/>
          </a:p>
        </p:txBody>
      </p:sp>
      <p:sp>
        <p:nvSpPr>
          <p:cNvPr id="4" name="Título 4">
            <a:extLst>
              <a:ext uri="{FF2B5EF4-FFF2-40B4-BE49-F238E27FC236}">
                <a16:creationId xmlns:a16="http://schemas.microsoft.com/office/drawing/2014/main" id="{0BBCFEC0-7B65-F705-DEDB-E07A2FBDFB59}"/>
              </a:ext>
            </a:extLst>
          </p:cNvPr>
          <p:cNvSpPr>
            <a:spLocks noGrp="1"/>
          </p:cNvSpPr>
          <p:nvPr>
            <p:ph type="title"/>
          </p:nvPr>
        </p:nvSpPr>
        <p:spPr>
          <a:xfrm>
            <a:off x="838200" y="365125"/>
            <a:ext cx="10515600" cy="1325563"/>
          </a:xfrm>
        </p:spPr>
        <p:txBody>
          <a:bodyPr/>
          <a:lstStyle/>
          <a:p>
            <a:r>
              <a:rPr lang="es-ES" dirty="0"/>
              <a:t>Aplicaciones empresariales de la agrupación</a:t>
            </a:r>
            <a:endParaRPr lang="es-PE" dirty="0"/>
          </a:p>
        </p:txBody>
      </p:sp>
      <p:pic>
        <p:nvPicPr>
          <p:cNvPr id="6148" name="Picture 4">
            <a:extLst>
              <a:ext uri="{FF2B5EF4-FFF2-40B4-BE49-F238E27FC236}">
                <a16:creationId xmlns:a16="http://schemas.microsoft.com/office/drawing/2014/main" id="{AD30D7F9-F24C-A35D-3B53-3AC1D3EA4E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76583" y="2055813"/>
            <a:ext cx="6514147" cy="4032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50681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406BF-1D95-82CD-B405-BE6E80D3EE3A}"/>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749AD952-D11D-749B-D745-104EE1BFEC7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2" name="Marcador de contenido 1">
            <a:extLst>
              <a:ext uri="{FF2B5EF4-FFF2-40B4-BE49-F238E27FC236}">
                <a16:creationId xmlns:a16="http://schemas.microsoft.com/office/drawing/2014/main" id="{A7897E95-EC16-D7D8-CA5D-F510E3467C2C}"/>
              </a:ext>
            </a:extLst>
          </p:cNvPr>
          <p:cNvSpPr>
            <a:spLocks noGrp="1"/>
          </p:cNvSpPr>
          <p:nvPr>
            <p:ph idx="1"/>
          </p:nvPr>
        </p:nvSpPr>
        <p:spPr/>
        <p:txBody>
          <a:bodyPr>
            <a:normAutofit/>
          </a:bodyPr>
          <a:lstStyle/>
          <a:p>
            <a:r>
              <a:rPr lang="es-ES" sz="2400" dirty="0"/>
              <a:t>Por desgracia (o por suerte), no hay una respuesta correcta o incorrecta en la Agrupación. Habría sido tan sencillo determinarlo y hacer una afirmación como "X Algoritmo funciona mejor aquí". </a:t>
            </a:r>
          </a:p>
          <a:p>
            <a:r>
              <a:rPr lang="es-ES" sz="2400" dirty="0"/>
              <a:t>Esto no es posible y por ello la agrupación es una tarea muy difícil. </a:t>
            </a:r>
          </a:p>
          <a:p>
            <a:r>
              <a:rPr lang="es-ES" sz="2400" dirty="0"/>
              <a:t>En última instancia, qué algoritmo funciona mejor no depende de ninguna métrica fácilmente medible, sino de la interpretación y de lo útil que sea el resultado para el caso de uso en cuestión.</a:t>
            </a:r>
            <a:endParaRPr lang="es-PE" sz="2400" dirty="0"/>
          </a:p>
        </p:txBody>
      </p:sp>
      <p:sp>
        <p:nvSpPr>
          <p:cNvPr id="4" name="Título 4">
            <a:extLst>
              <a:ext uri="{FF2B5EF4-FFF2-40B4-BE49-F238E27FC236}">
                <a16:creationId xmlns:a16="http://schemas.microsoft.com/office/drawing/2014/main" id="{48C87705-9DF8-ED3F-8EEA-3EB943CFD251}"/>
              </a:ext>
            </a:extLst>
          </p:cNvPr>
          <p:cNvSpPr>
            <a:spLocks noGrp="1"/>
          </p:cNvSpPr>
          <p:nvPr>
            <p:ph type="title"/>
          </p:nvPr>
        </p:nvSpPr>
        <p:spPr>
          <a:xfrm>
            <a:off x="838200" y="365125"/>
            <a:ext cx="10515600" cy="1325563"/>
          </a:xfrm>
        </p:spPr>
        <p:txBody>
          <a:bodyPr/>
          <a:lstStyle/>
          <a:p>
            <a:r>
              <a:rPr lang="es-ES" dirty="0"/>
              <a:t>Aplicaciones empresariales de la agrupación</a:t>
            </a:r>
            <a:endParaRPr lang="es-PE" dirty="0"/>
          </a:p>
        </p:txBody>
      </p:sp>
    </p:spTree>
    <p:extLst>
      <p:ext uri="{BB962C8B-B14F-4D97-AF65-F5344CB8AC3E}">
        <p14:creationId xmlns:p14="http://schemas.microsoft.com/office/powerpoint/2010/main" val="35560105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4972B-19AF-D802-73E7-F2D4DF63A228}"/>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63D9DDCD-5AF0-6BF7-B2D6-AEBAA8A648D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2" name="Marcador de contenido 1">
            <a:extLst>
              <a:ext uri="{FF2B5EF4-FFF2-40B4-BE49-F238E27FC236}">
                <a16:creationId xmlns:a16="http://schemas.microsoft.com/office/drawing/2014/main" id="{CCCE838F-5B55-4898-8A62-2B334850EA5D}"/>
              </a:ext>
            </a:extLst>
          </p:cNvPr>
          <p:cNvSpPr>
            <a:spLocks noGrp="1"/>
          </p:cNvSpPr>
          <p:nvPr>
            <p:ph idx="1"/>
          </p:nvPr>
        </p:nvSpPr>
        <p:spPr/>
        <p:txBody>
          <a:bodyPr>
            <a:normAutofit fontScale="85000" lnSpcReduction="20000"/>
          </a:bodyPr>
          <a:lstStyle/>
          <a:p>
            <a:pPr marL="0" indent="0">
              <a:buNone/>
            </a:pPr>
            <a:r>
              <a:rPr lang="es-ES" b="1" dirty="0"/>
              <a:t>K-</a:t>
            </a:r>
            <a:r>
              <a:rPr lang="es-ES" b="1" dirty="0" err="1"/>
              <a:t>Means</a:t>
            </a:r>
            <a:endParaRPr lang="es-ES" b="1" dirty="0"/>
          </a:p>
          <a:p>
            <a:r>
              <a:rPr lang="es-ES" dirty="0"/>
              <a:t>El algoritmo de agrupación K-</a:t>
            </a:r>
            <a:r>
              <a:rPr lang="es-ES" dirty="0" err="1"/>
              <a:t>Means</a:t>
            </a:r>
            <a:r>
              <a:rPr lang="es-ES" dirty="0"/>
              <a:t> es fácilmente el algoritmo más popular y utilizado para tareas de agrupación. Se debe principalmente a la intuición y a la facilidad de aplicación. Es un algoritmo basado en el centroide, en el que el usuario debe definir el número de conglomerados que desea crear. </a:t>
            </a:r>
          </a:p>
          <a:p>
            <a:r>
              <a:rPr lang="es-ES" dirty="0"/>
              <a:t>Normalmente se obtiene a partir de un caso de uso empresarial o probando distintos valores para el número de conglomerados y evaluando después el resultado. </a:t>
            </a:r>
          </a:p>
          <a:p>
            <a:r>
              <a:rPr lang="es-ES" dirty="0"/>
              <a:t>La agrupación de K-</a:t>
            </a:r>
            <a:r>
              <a:rPr lang="es-ES" dirty="0" err="1"/>
              <a:t>Means</a:t>
            </a:r>
            <a:r>
              <a:rPr lang="es-ES" dirty="0"/>
              <a:t> es un algoritmo iterativo que crea </a:t>
            </a:r>
            <a:r>
              <a:rPr lang="es-ES" dirty="0" err="1"/>
              <a:t>clusters</a:t>
            </a:r>
            <a:r>
              <a:rPr lang="es-ES" dirty="0"/>
              <a:t> no solapados, lo que significa que cada instancia de tu conjunto de datos sólo puede pertenecer a un </a:t>
            </a:r>
            <a:r>
              <a:rPr lang="es-ES" dirty="0" err="1"/>
              <a:t>cluster</a:t>
            </a:r>
            <a:r>
              <a:rPr lang="es-ES" dirty="0"/>
              <a:t> exclusivamente. La forma más fácil de intuir el algoritmo K-</a:t>
            </a:r>
            <a:r>
              <a:rPr lang="es-ES" dirty="0" err="1"/>
              <a:t>Means</a:t>
            </a:r>
            <a:r>
              <a:rPr lang="es-ES" dirty="0"/>
              <a:t> es entender los pasos junto con el diagrama de ejemplo que aparece a continuación. También puedes obtener una descripción detallada del proceso en nuestros tutoriales </a:t>
            </a:r>
            <a:r>
              <a:rPr lang="es-ES" dirty="0" err="1"/>
              <a:t>Clustering</a:t>
            </a:r>
            <a:r>
              <a:rPr lang="es-ES" dirty="0"/>
              <a:t> de K-</a:t>
            </a:r>
            <a:r>
              <a:rPr lang="es-ES" dirty="0" err="1"/>
              <a:t>Means</a:t>
            </a:r>
            <a:r>
              <a:rPr lang="es-ES" dirty="0"/>
              <a:t> en Python y </a:t>
            </a:r>
            <a:r>
              <a:rPr lang="es-ES" dirty="0" err="1"/>
              <a:t>Clustering</a:t>
            </a:r>
            <a:r>
              <a:rPr lang="es-ES" dirty="0"/>
              <a:t> de K-</a:t>
            </a:r>
            <a:r>
              <a:rPr lang="es-ES" dirty="0" err="1"/>
              <a:t>Means</a:t>
            </a:r>
            <a:r>
              <a:rPr lang="es-ES" dirty="0"/>
              <a:t> en R. </a:t>
            </a:r>
            <a:endParaRPr lang="es-PE" dirty="0"/>
          </a:p>
        </p:txBody>
      </p:sp>
      <p:sp>
        <p:nvSpPr>
          <p:cNvPr id="5" name="Título 4">
            <a:extLst>
              <a:ext uri="{FF2B5EF4-FFF2-40B4-BE49-F238E27FC236}">
                <a16:creationId xmlns:a16="http://schemas.microsoft.com/office/drawing/2014/main" id="{8281CD1D-76F7-DB64-BB8C-F1A9A4DA4A42}"/>
              </a:ext>
            </a:extLst>
          </p:cNvPr>
          <p:cNvSpPr>
            <a:spLocks noGrp="1"/>
          </p:cNvSpPr>
          <p:nvPr>
            <p:ph type="title"/>
          </p:nvPr>
        </p:nvSpPr>
        <p:spPr/>
        <p:txBody>
          <a:bodyPr/>
          <a:lstStyle/>
          <a:p>
            <a:r>
              <a:rPr lang="es-ES" dirty="0"/>
              <a:t>5 Algoritmos de Agrupación Esenciales</a:t>
            </a:r>
            <a:endParaRPr lang="es-PE" dirty="0"/>
          </a:p>
        </p:txBody>
      </p:sp>
    </p:spTree>
    <p:extLst>
      <p:ext uri="{BB962C8B-B14F-4D97-AF65-F5344CB8AC3E}">
        <p14:creationId xmlns:p14="http://schemas.microsoft.com/office/powerpoint/2010/main" val="33767517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8194F-EB6A-FF81-10D5-D812C3C7EF6B}"/>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03ECC06F-46A9-BAD9-FCA0-AF2C5A3FD11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2" name="Marcador de contenido 1">
            <a:extLst>
              <a:ext uri="{FF2B5EF4-FFF2-40B4-BE49-F238E27FC236}">
                <a16:creationId xmlns:a16="http://schemas.microsoft.com/office/drawing/2014/main" id="{1B304FC6-5625-0EB8-241A-758E210DFAE9}"/>
              </a:ext>
            </a:extLst>
          </p:cNvPr>
          <p:cNvSpPr>
            <a:spLocks noGrp="1"/>
          </p:cNvSpPr>
          <p:nvPr>
            <p:ph idx="1"/>
          </p:nvPr>
        </p:nvSpPr>
        <p:spPr/>
        <p:txBody>
          <a:bodyPr>
            <a:normAutofit fontScale="92500" lnSpcReduction="10000"/>
          </a:bodyPr>
          <a:lstStyle/>
          <a:p>
            <a:pPr marL="514350" indent="-514350">
              <a:buFont typeface="+mj-lt"/>
              <a:buAutoNum type="arabicPeriod"/>
            </a:pPr>
            <a:r>
              <a:rPr lang="es-ES" sz="2400" dirty="0"/>
              <a:t>El usuario especifica el número de grupos.</a:t>
            </a:r>
          </a:p>
          <a:p>
            <a:pPr marL="514350" indent="-514350">
              <a:buFont typeface="+mj-lt"/>
              <a:buAutoNum type="arabicPeriod"/>
            </a:pPr>
            <a:r>
              <a:rPr lang="es-ES" sz="2400" dirty="0"/>
              <a:t>Inicializa los centroides aleatoriamente en función del número de conglomerados. En el siguiente diagrama de la Iteración 1, observa que tres centroides se inicializan aleatoriamente en colores azul, rojo y verde.</a:t>
            </a:r>
          </a:p>
          <a:p>
            <a:pPr marL="514350" indent="-514350">
              <a:buFont typeface="+mj-lt"/>
              <a:buAutoNum type="arabicPeriod"/>
            </a:pPr>
            <a:r>
              <a:rPr lang="es-ES" sz="2400" dirty="0"/>
              <a:t>Calcula la distancia entre los puntos de datos y cada centroide y asigna cada punto de datos a los centroides más cercanos.</a:t>
            </a:r>
          </a:p>
          <a:p>
            <a:pPr marL="514350" indent="-514350">
              <a:buFont typeface="+mj-lt"/>
              <a:buAutoNum type="arabicPeriod"/>
            </a:pPr>
            <a:r>
              <a:rPr lang="es-ES" sz="2400" dirty="0"/>
              <a:t>Vuelve a calcular la media del centroide basándote en todos los puntos de datos asignados, y esto cambiará la posición del centroide, como puedes ver en la Iteración 2 - 9, hasta que finalmente converja.</a:t>
            </a:r>
          </a:p>
          <a:p>
            <a:pPr marL="514350" indent="-514350">
              <a:buFont typeface="+mj-lt"/>
              <a:buAutoNum type="arabicPeriod"/>
            </a:pPr>
            <a:r>
              <a:rPr lang="es-ES" sz="2400" dirty="0"/>
              <a:t>La iteración continúa hasta que no se produce ningún cambio en la media del centroide o se alcanza un parámetro </a:t>
            </a:r>
            <a:r>
              <a:rPr lang="es-ES" sz="2400" dirty="0" err="1"/>
              <a:t>max_iter</a:t>
            </a:r>
            <a:r>
              <a:rPr lang="es-ES" sz="2400" dirty="0"/>
              <a:t>, que es el número máximo de iteraciones definido por el usuario durante el entrenamiento. En </a:t>
            </a:r>
            <a:r>
              <a:rPr lang="es-ES" sz="2400" dirty="0" err="1"/>
              <a:t>scikit-learn</a:t>
            </a:r>
            <a:r>
              <a:rPr lang="es-ES" sz="2400" dirty="0"/>
              <a:t>, </a:t>
            </a:r>
            <a:r>
              <a:rPr lang="es-ES" sz="2400" dirty="0" err="1"/>
              <a:t>max_iter</a:t>
            </a:r>
            <a:r>
              <a:rPr lang="es-ES" sz="2400" dirty="0"/>
              <a:t> está fijado por defecto en 300.</a:t>
            </a:r>
          </a:p>
        </p:txBody>
      </p:sp>
      <p:sp>
        <p:nvSpPr>
          <p:cNvPr id="4" name="Título 4">
            <a:extLst>
              <a:ext uri="{FF2B5EF4-FFF2-40B4-BE49-F238E27FC236}">
                <a16:creationId xmlns:a16="http://schemas.microsoft.com/office/drawing/2014/main" id="{18C8E382-B0C3-1DC2-E7A9-97520DC82973}"/>
              </a:ext>
            </a:extLst>
          </p:cNvPr>
          <p:cNvSpPr>
            <a:spLocks noGrp="1"/>
          </p:cNvSpPr>
          <p:nvPr>
            <p:ph type="title"/>
          </p:nvPr>
        </p:nvSpPr>
        <p:spPr>
          <a:xfrm>
            <a:off x="838200" y="365125"/>
            <a:ext cx="10515600" cy="1325563"/>
          </a:xfrm>
        </p:spPr>
        <p:txBody>
          <a:bodyPr/>
          <a:lstStyle/>
          <a:p>
            <a:r>
              <a:rPr lang="es-ES" dirty="0"/>
              <a:t>5 Algoritmos de Agrupación Esenciales</a:t>
            </a:r>
            <a:endParaRPr lang="es-PE" dirty="0"/>
          </a:p>
        </p:txBody>
      </p:sp>
    </p:spTree>
    <p:extLst>
      <p:ext uri="{BB962C8B-B14F-4D97-AF65-F5344CB8AC3E}">
        <p14:creationId xmlns:p14="http://schemas.microsoft.com/office/powerpoint/2010/main" val="42882936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DB091-8081-ECD4-CC25-40025E976AFB}"/>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5618D0CB-5FD3-6E4C-4D95-52D93C4C528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4" name="Título 4">
            <a:extLst>
              <a:ext uri="{FF2B5EF4-FFF2-40B4-BE49-F238E27FC236}">
                <a16:creationId xmlns:a16="http://schemas.microsoft.com/office/drawing/2014/main" id="{840DCAC0-8B8A-C3B9-DE2B-D96AE457535A}"/>
              </a:ext>
            </a:extLst>
          </p:cNvPr>
          <p:cNvSpPr>
            <a:spLocks noGrp="1"/>
          </p:cNvSpPr>
          <p:nvPr>
            <p:ph type="title"/>
          </p:nvPr>
        </p:nvSpPr>
        <p:spPr>
          <a:xfrm>
            <a:off x="838200" y="365125"/>
            <a:ext cx="10515600" cy="1325563"/>
          </a:xfrm>
        </p:spPr>
        <p:txBody>
          <a:bodyPr/>
          <a:lstStyle/>
          <a:p>
            <a:r>
              <a:rPr lang="es-ES" dirty="0"/>
              <a:t>5 Algoritmos de Agrupación Esenciales</a:t>
            </a:r>
            <a:endParaRPr lang="es-PE" dirty="0"/>
          </a:p>
        </p:txBody>
      </p:sp>
      <p:pic>
        <p:nvPicPr>
          <p:cNvPr id="8194" name="Picture 2">
            <a:extLst>
              <a:ext uri="{FF2B5EF4-FFF2-40B4-BE49-F238E27FC236}">
                <a16:creationId xmlns:a16="http://schemas.microsoft.com/office/drawing/2014/main" id="{062020AE-D266-D1DD-229F-E9EC417DA5E2}"/>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949996" y="1690688"/>
            <a:ext cx="10292006" cy="5167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85817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A9FE6-690C-A9F4-BA40-5D5DF58DE3E7}"/>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F91A47B7-B443-7591-95AB-D05A5389BA5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2" name="Marcador de contenido 1">
            <a:extLst>
              <a:ext uri="{FF2B5EF4-FFF2-40B4-BE49-F238E27FC236}">
                <a16:creationId xmlns:a16="http://schemas.microsoft.com/office/drawing/2014/main" id="{0FD7484F-47E4-2C16-EED4-5360C4833362}"/>
              </a:ext>
            </a:extLst>
          </p:cNvPr>
          <p:cNvSpPr>
            <a:spLocks noGrp="1"/>
          </p:cNvSpPr>
          <p:nvPr>
            <p:ph idx="1"/>
          </p:nvPr>
        </p:nvSpPr>
        <p:spPr/>
        <p:txBody>
          <a:bodyPr>
            <a:normAutofit/>
          </a:bodyPr>
          <a:lstStyle/>
          <a:p>
            <a:pPr marL="0" indent="0">
              <a:buNone/>
            </a:pPr>
            <a:r>
              <a:rPr lang="es-ES" sz="2000" b="1" dirty="0" err="1"/>
              <a:t>MeanShift</a:t>
            </a:r>
            <a:endParaRPr lang="es-ES" sz="2000" b="1" dirty="0"/>
          </a:p>
          <a:p>
            <a:r>
              <a:rPr lang="es-ES" sz="2000" dirty="0"/>
              <a:t>A diferencia del algoritmo K-</a:t>
            </a:r>
            <a:r>
              <a:rPr lang="es-ES" sz="2000" dirty="0" err="1"/>
              <a:t>Means</a:t>
            </a:r>
            <a:r>
              <a:rPr lang="es-ES" sz="2000" dirty="0"/>
              <a:t>, el algoritmo </a:t>
            </a:r>
            <a:r>
              <a:rPr lang="es-ES" sz="2000" dirty="0" err="1"/>
              <a:t>MeanShift</a:t>
            </a:r>
            <a:r>
              <a:rPr lang="es-ES" sz="2000" dirty="0"/>
              <a:t> no requiere especificar el número de conglomerados. El propio algoritmo determina automáticamente el número de conglomerados, lo que supone una gran ventaja sobre K-</a:t>
            </a:r>
            <a:r>
              <a:rPr lang="es-ES" sz="2000" dirty="0" err="1"/>
              <a:t>Means</a:t>
            </a:r>
            <a:r>
              <a:rPr lang="es-ES" sz="2000" dirty="0"/>
              <a:t> si no estás seguro de los patrones de los datos. </a:t>
            </a:r>
          </a:p>
          <a:p>
            <a:r>
              <a:rPr lang="es-ES" sz="2000" dirty="0" err="1"/>
              <a:t>MeanShift</a:t>
            </a:r>
            <a:r>
              <a:rPr lang="es-ES" sz="2000" dirty="0"/>
              <a:t> también se basa en centroides y asigna iterativamente cada punto de datos a </a:t>
            </a:r>
            <a:r>
              <a:rPr lang="es-ES" sz="2000" dirty="0" err="1"/>
              <a:t>clusters</a:t>
            </a:r>
            <a:r>
              <a:rPr lang="es-ES" sz="2000" dirty="0"/>
              <a:t>. El caso de uso más habitual de la agrupación </a:t>
            </a:r>
            <a:r>
              <a:rPr lang="es-ES" sz="2000" dirty="0" err="1"/>
              <a:t>MeanShift</a:t>
            </a:r>
            <a:r>
              <a:rPr lang="es-ES" sz="2000" dirty="0"/>
              <a:t> son las tareas de segmentación de imágenes.</a:t>
            </a:r>
          </a:p>
          <a:p>
            <a:r>
              <a:rPr lang="es-ES" sz="2000" dirty="0"/>
              <a:t>El algoritmo </a:t>
            </a:r>
            <a:r>
              <a:rPr lang="es-ES" sz="2000" dirty="0" err="1"/>
              <a:t>MeanShift</a:t>
            </a:r>
            <a:r>
              <a:rPr lang="es-ES" sz="2000" dirty="0"/>
              <a:t> se basa en la estimación de la densidad del núcleo. De forma similar al algoritmo K-</a:t>
            </a:r>
            <a:r>
              <a:rPr lang="es-ES" sz="2000" dirty="0" err="1"/>
              <a:t>Means</a:t>
            </a:r>
            <a:r>
              <a:rPr lang="es-ES" sz="2000" dirty="0"/>
              <a:t>, los algoritmos </a:t>
            </a:r>
            <a:r>
              <a:rPr lang="es-ES" sz="2000" dirty="0" err="1"/>
              <a:t>MeanShift</a:t>
            </a:r>
            <a:r>
              <a:rPr lang="es-ES" sz="2000" dirty="0"/>
              <a:t> asignan iterativamente cada punto de datos hacia el centroide del clúster más cercano, que se inicializan aleatoriamente, y cada punto se desplaza iterativamente en el espacio en función de dónde se encuentre la mayor cantidad de puntos, es decir, el Modo (el modo es la mayor densidad de puntos de datos en la región, en el contexto del </a:t>
            </a:r>
            <a:r>
              <a:rPr lang="es-ES" sz="2000" dirty="0" err="1"/>
              <a:t>MeanShift</a:t>
            </a:r>
            <a:r>
              <a:rPr lang="es-ES" sz="2000" dirty="0"/>
              <a:t>). </a:t>
            </a:r>
            <a:endParaRPr lang="es-PE" sz="2000" dirty="0"/>
          </a:p>
        </p:txBody>
      </p:sp>
      <p:sp>
        <p:nvSpPr>
          <p:cNvPr id="4" name="Título 4">
            <a:extLst>
              <a:ext uri="{FF2B5EF4-FFF2-40B4-BE49-F238E27FC236}">
                <a16:creationId xmlns:a16="http://schemas.microsoft.com/office/drawing/2014/main" id="{93F4E194-064E-5E36-43C6-6C769777C9D4}"/>
              </a:ext>
            </a:extLst>
          </p:cNvPr>
          <p:cNvSpPr>
            <a:spLocks noGrp="1"/>
          </p:cNvSpPr>
          <p:nvPr>
            <p:ph type="title"/>
          </p:nvPr>
        </p:nvSpPr>
        <p:spPr>
          <a:xfrm>
            <a:off x="838200" y="365125"/>
            <a:ext cx="10515600" cy="1325563"/>
          </a:xfrm>
        </p:spPr>
        <p:txBody>
          <a:bodyPr/>
          <a:lstStyle/>
          <a:p>
            <a:r>
              <a:rPr lang="es-ES" dirty="0"/>
              <a:t>5 Algoritmos de Agrupación Esenciales</a:t>
            </a:r>
            <a:endParaRPr lang="es-PE" dirty="0"/>
          </a:p>
        </p:txBody>
      </p:sp>
    </p:spTree>
    <p:extLst>
      <p:ext uri="{BB962C8B-B14F-4D97-AF65-F5344CB8AC3E}">
        <p14:creationId xmlns:p14="http://schemas.microsoft.com/office/powerpoint/2010/main" val="27107199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9363D-38D3-6A7F-F7E4-408443D4304E}"/>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DA839447-283D-F9FA-DB24-D07C8F4482B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2" name="Marcador de contenido 1">
            <a:extLst>
              <a:ext uri="{FF2B5EF4-FFF2-40B4-BE49-F238E27FC236}">
                <a16:creationId xmlns:a16="http://schemas.microsoft.com/office/drawing/2014/main" id="{7C6552F4-C6AF-F632-5D80-FA49ED92995D}"/>
              </a:ext>
            </a:extLst>
          </p:cNvPr>
          <p:cNvSpPr>
            <a:spLocks noGrp="1"/>
          </p:cNvSpPr>
          <p:nvPr>
            <p:ph idx="1"/>
          </p:nvPr>
        </p:nvSpPr>
        <p:spPr>
          <a:xfrm>
            <a:off x="838200" y="1825624"/>
            <a:ext cx="5750674" cy="4560569"/>
          </a:xfrm>
        </p:spPr>
        <p:txBody>
          <a:bodyPr>
            <a:normAutofit lnSpcReduction="10000"/>
          </a:bodyPr>
          <a:lstStyle/>
          <a:p>
            <a:r>
              <a:rPr lang="es-ES" dirty="0"/>
              <a:t>Por eso el algoritmo </a:t>
            </a:r>
            <a:r>
              <a:rPr lang="es-ES" dirty="0" err="1"/>
              <a:t>MeanShift</a:t>
            </a:r>
            <a:r>
              <a:rPr lang="es-ES" dirty="0"/>
              <a:t> también se conoce como algoritmo de búsqueda de modo. Los pasos del algoritmo </a:t>
            </a:r>
            <a:r>
              <a:rPr lang="es-ES" dirty="0" err="1"/>
              <a:t>MeanShift</a:t>
            </a:r>
            <a:r>
              <a:rPr lang="es-ES" dirty="0"/>
              <a:t> son los siguientes:</a:t>
            </a:r>
          </a:p>
          <a:p>
            <a:pPr lvl="1"/>
            <a:r>
              <a:rPr lang="es-ES" dirty="0"/>
              <a:t>Elige cualquier punto aleatorio y crea una ventana alrededor de ese punto aleatorio.</a:t>
            </a:r>
          </a:p>
          <a:p>
            <a:pPr lvl="1"/>
            <a:r>
              <a:rPr lang="es-ES" dirty="0"/>
              <a:t>Calcula la media de todos los puntos dentro de esta ventana.</a:t>
            </a:r>
          </a:p>
          <a:p>
            <a:pPr lvl="1"/>
            <a:r>
              <a:rPr lang="es-ES" dirty="0"/>
              <a:t>Desplaza la ventana siguiendo la dirección del modo. </a:t>
            </a:r>
          </a:p>
          <a:p>
            <a:pPr lvl="1"/>
            <a:r>
              <a:rPr lang="es-ES" dirty="0"/>
              <a:t>Repite los pasos hasta la convergencia.</a:t>
            </a:r>
          </a:p>
          <a:p>
            <a:endParaRPr lang="es-PE" dirty="0"/>
          </a:p>
        </p:txBody>
      </p:sp>
      <p:sp>
        <p:nvSpPr>
          <p:cNvPr id="4" name="Título 4">
            <a:extLst>
              <a:ext uri="{FF2B5EF4-FFF2-40B4-BE49-F238E27FC236}">
                <a16:creationId xmlns:a16="http://schemas.microsoft.com/office/drawing/2014/main" id="{AA5B3001-8EAB-ACAF-8F56-C9A1BBC94794}"/>
              </a:ext>
            </a:extLst>
          </p:cNvPr>
          <p:cNvSpPr>
            <a:spLocks noGrp="1"/>
          </p:cNvSpPr>
          <p:nvPr>
            <p:ph type="title"/>
          </p:nvPr>
        </p:nvSpPr>
        <p:spPr>
          <a:xfrm>
            <a:off x="838200" y="365125"/>
            <a:ext cx="10515600" cy="1325563"/>
          </a:xfrm>
        </p:spPr>
        <p:txBody>
          <a:bodyPr/>
          <a:lstStyle/>
          <a:p>
            <a:r>
              <a:rPr lang="es-ES" dirty="0"/>
              <a:t>5 Algoritmos de Agrupación Esenciales</a:t>
            </a:r>
            <a:endParaRPr lang="es-PE" dirty="0"/>
          </a:p>
        </p:txBody>
      </p:sp>
      <p:pic>
        <p:nvPicPr>
          <p:cNvPr id="10244" name="Picture 4">
            <a:extLst>
              <a:ext uri="{FF2B5EF4-FFF2-40B4-BE49-F238E27FC236}">
                <a16:creationId xmlns:a16="http://schemas.microsoft.com/office/drawing/2014/main" id="{0614812E-6F8A-5BCC-60CA-26A37FD067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8874" y="1825625"/>
            <a:ext cx="5601856" cy="45605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53536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925DC-A26F-816C-7876-ADB968E2A4B7}"/>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E60473FB-C94D-B353-8D26-A368C5E8092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2" name="Marcador de contenido 1">
            <a:extLst>
              <a:ext uri="{FF2B5EF4-FFF2-40B4-BE49-F238E27FC236}">
                <a16:creationId xmlns:a16="http://schemas.microsoft.com/office/drawing/2014/main" id="{381344A4-78A6-CBED-D294-BA9EA0ECAE07}"/>
              </a:ext>
            </a:extLst>
          </p:cNvPr>
          <p:cNvSpPr>
            <a:spLocks noGrp="1"/>
          </p:cNvSpPr>
          <p:nvPr>
            <p:ph idx="1"/>
          </p:nvPr>
        </p:nvSpPr>
        <p:spPr/>
        <p:txBody>
          <a:bodyPr>
            <a:normAutofit fontScale="92500" lnSpcReduction="10000"/>
          </a:bodyPr>
          <a:lstStyle/>
          <a:p>
            <a:pPr marL="0" indent="0">
              <a:buNone/>
            </a:pPr>
            <a:r>
              <a:rPr lang="es-ES" sz="1800" b="1" dirty="0"/>
              <a:t>DBSCAN</a:t>
            </a:r>
          </a:p>
          <a:p>
            <a:r>
              <a:rPr lang="es-ES" sz="1800" dirty="0"/>
              <a:t>DBSCAN o Agrupación </a:t>
            </a:r>
            <a:r>
              <a:rPr lang="es-ES" sz="1800" dirty="0" err="1"/>
              <a:t>Espacialde</a:t>
            </a:r>
            <a:r>
              <a:rPr lang="es-ES" sz="1800" dirty="0"/>
              <a:t> </a:t>
            </a:r>
            <a:r>
              <a:rPr lang="es-ES" sz="1800" dirty="0" err="1"/>
              <a:t>Aplicacionescon</a:t>
            </a:r>
            <a:r>
              <a:rPr lang="es-ES" sz="1800" dirty="0"/>
              <a:t> </a:t>
            </a:r>
            <a:r>
              <a:rPr lang="es-ES" sz="1800" dirty="0" err="1"/>
              <a:t>RuidoBasada</a:t>
            </a:r>
            <a:r>
              <a:rPr lang="es-ES" sz="1800" dirty="0"/>
              <a:t> en la Densidades un algoritmo de agrupación no supervisado que funciona sobre la premisa de que los </a:t>
            </a:r>
            <a:r>
              <a:rPr lang="es-ES" sz="1800" dirty="0" err="1"/>
              <a:t>clusters</a:t>
            </a:r>
            <a:r>
              <a:rPr lang="es-ES" sz="1800" dirty="0"/>
              <a:t> son espacios densos en la región separados por regiones de menor densidad. </a:t>
            </a:r>
          </a:p>
          <a:p>
            <a:r>
              <a:rPr lang="es-ES" sz="1800" dirty="0"/>
              <a:t>La mayor ventaja de este algoritmo sobre K-</a:t>
            </a:r>
            <a:r>
              <a:rPr lang="es-ES" sz="1800" dirty="0" err="1"/>
              <a:t>Means</a:t>
            </a:r>
            <a:r>
              <a:rPr lang="es-ES" sz="1800" dirty="0"/>
              <a:t> y </a:t>
            </a:r>
            <a:r>
              <a:rPr lang="es-ES" sz="1800" dirty="0" err="1"/>
              <a:t>MeanShift</a:t>
            </a:r>
            <a:r>
              <a:rPr lang="es-ES" sz="1800" dirty="0"/>
              <a:t> es que es robusto frente a los valores atípicos, lo que significa que no incluirá puntos de datos atípicos en ningún conglomerado. </a:t>
            </a:r>
          </a:p>
          <a:p>
            <a:r>
              <a:rPr lang="es-ES" sz="1800" dirty="0"/>
              <a:t>Los algoritmos DBSCAN sólo requieren dos parámetros del usuario: </a:t>
            </a:r>
          </a:p>
          <a:p>
            <a:r>
              <a:rPr lang="es-ES" sz="1800" dirty="0"/>
              <a:t>El radio del círculo que debe crearse alrededor de cada punto de datos, también conocido como `</a:t>
            </a:r>
            <a:r>
              <a:rPr lang="es-ES" sz="1800" dirty="0" err="1"/>
              <a:t>epsilon</a:t>
            </a:r>
            <a:r>
              <a:rPr lang="es-ES" sz="1800" dirty="0"/>
              <a:t>`.</a:t>
            </a:r>
          </a:p>
          <a:p>
            <a:r>
              <a:rPr lang="es-ES" sz="1800" dirty="0" err="1"/>
              <a:t>minPuntos</a:t>
            </a:r>
            <a:r>
              <a:rPr lang="es-ES" sz="1800" dirty="0"/>
              <a:t> que define el número mínimo de puntos de datos necesarios dentro de ese círculo para que ese punto de datos se clasifique como punto Central.</a:t>
            </a:r>
          </a:p>
          <a:p>
            <a:r>
              <a:rPr lang="es-ES" sz="1800" dirty="0"/>
              <a:t>Cada punto de datos está rodeado por un círculo de radio épsilon, y DBSCAN los identifica como punto Núcleo, punto Frontera o punto Ruido. Se considera que un punto de datos es un punto Central si el círculo que lo rodea tiene un número mínimo de puntos especificado por el parámetro </a:t>
            </a:r>
            <a:r>
              <a:rPr lang="es-ES" sz="1800" dirty="0" err="1"/>
              <a:t>minPuntos</a:t>
            </a:r>
            <a:r>
              <a:rPr lang="es-ES" sz="1800" dirty="0"/>
              <a:t>.</a:t>
            </a:r>
          </a:p>
          <a:p>
            <a:r>
              <a:rPr lang="es-ES" sz="1800" dirty="0"/>
              <a:t>Se considera Punto Límite si el número de puntos es inferior al mínimo requerido, y se considera Ruido si no hay puntos de datos adicionales situados en un radio épsilon de cualquier punto de datos. Los puntos de datos con ruido no se clasifican en ningún conglomerado (básicamente, son valores atípicos).</a:t>
            </a:r>
            <a:endParaRPr lang="es-PE" sz="1800" dirty="0"/>
          </a:p>
        </p:txBody>
      </p:sp>
      <p:sp>
        <p:nvSpPr>
          <p:cNvPr id="4" name="Título 4">
            <a:extLst>
              <a:ext uri="{FF2B5EF4-FFF2-40B4-BE49-F238E27FC236}">
                <a16:creationId xmlns:a16="http://schemas.microsoft.com/office/drawing/2014/main" id="{C0662249-6014-7E6A-18E8-FD11C20276D3}"/>
              </a:ext>
            </a:extLst>
          </p:cNvPr>
          <p:cNvSpPr>
            <a:spLocks noGrp="1"/>
          </p:cNvSpPr>
          <p:nvPr>
            <p:ph type="title"/>
          </p:nvPr>
        </p:nvSpPr>
        <p:spPr>
          <a:xfrm>
            <a:off x="838200" y="365125"/>
            <a:ext cx="10515600" cy="1325563"/>
          </a:xfrm>
        </p:spPr>
        <p:txBody>
          <a:bodyPr/>
          <a:lstStyle/>
          <a:p>
            <a:r>
              <a:rPr lang="es-ES" dirty="0"/>
              <a:t>5 Algoritmos de Agrupación Esenciales</a:t>
            </a:r>
            <a:endParaRPr lang="es-PE" dirty="0"/>
          </a:p>
        </p:txBody>
      </p:sp>
    </p:spTree>
    <p:extLst>
      <p:ext uri="{BB962C8B-B14F-4D97-AF65-F5344CB8AC3E}">
        <p14:creationId xmlns:p14="http://schemas.microsoft.com/office/powerpoint/2010/main" val="15480814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93E31-B8C2-F9E9-A5B2-201EA56C90E3}"/>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0898EA81-3E38-3DCF-2450-8E783A59964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2" name="Marcador de contenido 1">
            <a:extLst>
              <a:ext uri="{FF2B5EF4-FFF2-40B4-BE49-F238E27FC236}">
                <a16:creationId xmlns:a16="http://schemas.microsoft.com/office/drawing/2014/main" id="{73294940-E709-D721-7A2C-46AC0C242A45}"/>
              </a:ext>
            </a:extLst>
          </p:cNvPr>
          <p:cNvSpPr>
            <a:spLocks noGrp="1"/>
          </p:cNvSpPr>
          <p:nvPr>
            <p:ph idx="1"/>
          </p:nvPr>
        </p:nvSpPr>
        <p:spPr/>
        <p:txBody>
          <a:bodyPr>
            <a:normAutofit/>
          </a:bodyPr>
          <a:lstStyle/>
          <a:p>
            <a:r>
              <a:rPr lang="es-ES" sz="2400" dirty="0"/>
              <a:t>Algunos de los casos de uso habituales del algoritmo de agrupación DBSCAN son:</a:t>
            </a:r>
          </a:p>
          <a:p>
            <a:pPr lvl="1"/>
            <a:r>
              <a:rPr lang="es-ES" sz="2000" dirty="0"/>
              <a:t>Funciona muy bien separando los grupos de alta densidad de los de baja densidad;</a:t>
            </a:r>
          </a:p>
          <a:p>
            <a:pPr lvl="1"/>
            <a:r>
              <a:rPr lang="es-ES" sz="2000" dirty="0"/>
              <a:t>Funciona muy bien en conjuntos de datos no lineales; y</a:t>
            </a:r>
          </a:p>
          <a:p>
            <a:pPr lvl="1"/>
            <a:r>
              <a:rPr lang="es-ES" sz="2000" dirty="0"/>
              <a:t>Puede utilizarse para la detección de anomalías, ya que separa los puntos de ruido y no los asigna a ningún conglomerado.</a:t>
            </a:r>
          </a:p>
          <a:p>
            <a:r>
              <a:rPr lang="es-ES" sz="2400" dirty="0"/>
              <a:t>Comparando los algoritmos DBSCAN con los K-</a:t>
            </a:r>
            <a:r>
              <a:rPr lang="es-ES" sz="2400" dirty="0" err="1"/>
              <a:t>Means</a:t>
            </a:r>
            <a:r>
              <a:rPr lang="es-ES" sz="2400" dirty="0"/>
              <a:t>, las diferencias más comunes son: </a:t>
            </a:r>
          </a:p>
          <a:p>
            <a:pPr lvl="1"/>
            <a:r>
              <a:rPr lang="es-ES" sz="2000" dirty="0"/>
              <a:t>El algoritmo K-</a:t>
            </a:r>
            <a:r>
              <a:rPr lang="es-ES" sz="2000" dirty="0" err="1"/>
              <a:t>Means</a:t>
            </a:r>
            <a:r>
              <a:rPr lang="es-ES" sz="2000" dirty="0"/>
              <a:t> agrupa todas las instancias de los conjuntos de datos, mientras que DBSCAN no asigna los puntos de ruido (valores atípicos) a un clúster válido</a:t>
            </a:r>
          </a:p>
          <a:p>
            <a:pPr lvl="1"/>
            <a:r>
              <a:rPr lang="es-ES" sz="2000" dirty="0"/>
              <a:t>K-</a:t>
            </a:r>
            <a:r>
              <a:rPr lang="es-ES" sz="2000" dirty="0" err="1"/>
              <a:t>Means</a:t>
            </a:r>
            <a:r>
              <a:rPr lang="es-ES" sz="2000" dirty="0"/>
              <a:t> tiene dificultades con los conglomerados no globales, mientras que DBSCAN puede manejarlo sin problemas</a:t>
            </a:r>
          </a:p>
          <a:p>
            <a:pPr lvl="1"/>
            <a:r>
              <a:rPr lang="es-ES" sz="2000" dirty="0"/>
              <a:t>El algoritmo K-</a:t>
            </a:r>
            <a:r>
              <a:rPr lang="es-ES" sz="2000" dirty="0" err="1"/>
              <a:t>Means</a:t>
            </a:r>
            <a:r>
              <a:rPr lang="es-ES" sz="2000" dirty="0"/>
              <a:t> asume que todos los puntos de datos del conjunto de datos proceden de una distribución gaussiana, mientras que DBSCAN no asume nada sobre los datos.</a:t>
            </a:r>
            <a:endParaRPr lang="es-PE" sz="2000" dirty="0"/>
          </a:p>
        </p:txBody>
      </p:sp>
      <p:sp>
        <p:nvSpPr>
          <p:cNvPr id="4" name="Título 4">
            <a:extLst>
              <a:ext uri="{FF2B5EF4-FFF2-40B4-BE49-F238E27FC236}">
                <a16:creationId xmlns:a16="http://schemas.microsoft.com/office/drawing/2014/main" id="{35614490-AF7B-7087-B0CC-CEE014BE5B8E}"/>
              </a:ext>
            </a:extLst>
          </p:cNvPr>
          <p:cNvSpPr>
            <a:spLocks noGrp="1"/>
          </p:cNvSpPr>
          <p:nvPr>
            <p:ph type="title"/>
          </p:nvPr>
        </p:nvSpPr>
        <p:spPr>
          <a:xfrm>
            <a:off x="838200" y="365125"/>
            <a:ext cx="10515600" cy="1325563"/>
          </a:xfrm>
        </p:spPr>
        <p:txBody>
          <a:bodyPr/>
          <a:lstStyle/>
          <a:p>
            <a:r>
              <a:rPr lang="es-ES" dirty="0"/>
              <a:t>5 Algoritmos de Agrupación Esenciales</a:t>
            </a:r>
            <a:endParaRPr lang="es-PE" dirty="0"/>
          </a:p>
        </p:txBody>
      </p:sp>
    </p:spTree>
    <p:extLst>
      <p:ext uri="{BB962C8B-B14F-4D97-AF65-F5344CB8AC3E}">
        <p14:creationId xmlns:p14="http://schemas.microsoft.com/office/powerpoint/2010/main" val="13175290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F2B0B-BE58-783F-F9C3-E3C67B45CA2E}"/>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CC754DA9-D0C2-319D-66D1-19B2AE9666C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4" name="Título 4">
            <a:extLst>
              <a:ext uri="{FF2B5EF4-FFF2-40B4-BE49-F238E27FC236}">
                <a16:creationId xmlns:a16="http://schemas.microsoft.com/office/drawing/2014/main" id="{E5907D40-FA93-BAD7-D822-ADA4E749C51A}"/>
              </a:ext>
            </a:extLst>
          </p:cNvPr>
          <p:cNvSpPr>
            <a:spLocks noGrp="1"/>
          </p:cNvSpPr>
          <p:nvPr>
            <p:ph type="title"/>
          </p:nvPr>
        </p:nvSpPr>
        <p:spPr>
          <a:xfrm>
            <a:off x="838200" y="365125"/>
            <a:ext cx="10515600" cy="1325563"/>
          </a:xfrm>
        </p:spPr>
        <p:txBody>
          <a:bodyPr/>
          <a:lstStyle/>
          <a:p>
            <a:r>
              <a:rPr lang="es-ES" dirty="0"/>
              <a:t>5 Algoritmos de Agrupación Esenciales</a:t>
            </a:r>
            <a:endParaRPr lang="es-PE" dirty="0"/>
          </a:p>
        </p:txBody>
      </p:sp>
      <p:pic>
        <p:nvPicPr>
          <p:cNvPr id="11266" name="Picture 2">
            <a:extLst>
              <a:ext uri="{FF2B5EF4-FFF2-40B4-BE49-F238E27FC236}">
                <a16:creationId xmlns:a16="http://schemas.microsoft.com/office/drawing/2014/main" id="{14CC733F-A0D9-B38F-774B-387891E264AA}"/>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982868" y="1690688"/>
            <a:ext cx="8226263" cy="5167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41303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E7675-2AA5-0A5E-65F1-3C6DB088AAE6}"/>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21501C2E-43F8-3F1B-27B6-04B21F187E0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2" name="Marcador de contenido 1">
            <a:extLst>
              <a:ext uri="{FF2B5EF4-FFF2-40B4-BE49-F238E27FC236}">
                <a16:creationId xmlns:a16="http://schemas.microsoft.com/office/drawing/2014/main" id="{083CCB2F-0917-F102-27AF-6D0567650895}"/>
              </a:ext>
            </a:extLst>
          </p:cNvPr>
          <p:cNvSpPr>
            <a:spLocks noGrp="1"/>
          </p:cNvSpPr>
          <p:nvPr>
            <p:ph idx="1"/>
          </p:nvPr>
        </p:nvSpPr>
        <p:spPr/>
        <p:txBody>
          <a:bodyPr>
            <a:normAutofit/>
          </a:bodyPr>
          <a:lstStyle/>
          <a:p>
            <a:pPr marL="0" indent="0">
              <a:buNone/>
            </a:pPr>
            <a:r>
              <a:rPr lang="es-ES" sz="2000" b="1" dirty="0"/>
              <a:t>Agrupación jerárquica</a:t>
            </a:r>
          </a:p>
          <a:p>
            <a:r>
              <a:rPr lang="es-ES" sz="2000" dirty="0"/>
              <a:t>La agrupación jerárquica es un método de agrupación que construye una jerarquía de conglomerados. Hay dos tipos de este método. </a:t>
            </a:r>
          </a:p>
          <a:p>
            <a:r>
              <a:rPr lang="es-ES" sz="2000" dirty="0" err="1"/>
              <a:t>Aglomerativa</a:t>
            </a:r>
            <a:r>
              <a:rPr lang="es-ES" sz="2000" dirty="0"/>
              <a:t>: Se trata de un enfoque ascendente en el que cada observación se trata como su propio conglomerado al principio y, a medida que avanzamos de abajo a arriba, cada observación se fusiona en pares, y los pares se fusionan en conglomerados. </a:t>
            </a:r>
          </a:p>
          <a:p>
            <a:r>
              <a:rPr lang="es-ES" sz="2000" dirty="0"/>
              <a:t>Divisivo: Se trata de un enfoque "descendente": todas las observaciones comienzan en un conglomerado, y las divisiones se realizan recursivamente a medida que nos desplazamos de arriba abajo.</a:t>
            </a:r>
          </a:p>
          <a:p>
            <a:r>
              <a:rPr lang="es-ES" sz="2000" dirty="0"/>
              <a:t>Cuando se trata de analizar datos de redes sociales, la agrupación jerárquica es, con diferencia, el método de agrupación más común y popular. Los nodos (ramas) del grafo se comparan entre sí en función del grado de similitud que exista entre ellos. Uniendo grupos más pequeños de nodos relacionados entre sí, se pueden crear agrupaciones mayores.</a:t>
            </a:r>
            <a:endParaRPr lang="es-PE" sz="2000" dirty="0"/>
          </a:p>
        </p:txBody>
      </p:sp>
      <p:sp>
        <p:nvSpPr>
          <p:cNvPr id="4" name="Título 4">
            <a:extLst>
              <a:ext uri="{FF2B5EF4-FFF2-40B4-BE49-F238E27FC236}">
                <a16:creationId xmlns:a16="http://schemas.microsoft.com/office/drawing/2014/main" id="{423C7A03-B93A-5504-F5E6-E814BC4A4E8F}"/>
              </a:ext>
            </a:extLst>
          </p:cNvPr>
          <p:cNvSpPr>
            <a:spLocks noGrp="1"/>
          </p:cNvSpPr>
          <p:nvPr>
            <p:ph type="title"/>
          </p:nvPr>
        </p:nvSpPr>
        <p:spPr>
          <a:xfrm>
            <a:off x="838200" y="365125"/>
            <a:ext cx="10515600" cy="1325563"/>
          </a:xfrm>
        </p:spPr>
        <p:txBody>
          <a:bodyPr/>
          <a:lstStyle/>
          <a:p>
            <a:r>
              <a:rPr lang="es-ES" dirty="0"/>
              <a:t>5 Algoritmos de Agrupación Esenciales</a:t>
            </a:r>
            <a:endParaRPr lang="es-PE" dirty="0"/>
          </a:p>
        </p:txBody>
      </p:sp>
    </p:spTree>
    <p:extLst>
      <p:ext uri="{BB962C8B-B14F-4D97-AF65-F5344CB8AC3E}">
        <p14:creationId xmlns:p14="http://schemas.microsoft.com/office/powerpoint/2010/main" val="23316642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16C8E-0C98-348C-1098-9B8EBD8E6E34}"/>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625252F2-9988-A09E-FD36-CF4BA40B1CE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2" name="Marcador de contenido 1">
            <a:extLst>
              <a:ext uri="{FF2B5EF4-FFF2-40B4-BE49-F238E27FC236}">
                <a16:creationId xmlns:a16="http://schemas.microsoft.com/office/drawing/2014/main" id="{A0E18337-1E53-3937-FF18-935ABD6B3D77}"/>
              </a:ext>
            </a:extLst>
          </p:cNvPr>
          <p:cNvSpPr>
            <a:spLocks noGrp="1"/>
          </p:cNvSpPr>
          <p:nvPr>
            <p:ph idx="1"/>
          </p:nvPr>
        </p:nvSpPr>
        <p:spPr>
          <a:xfrm>
            <a:off x="838200" y="1825625"/>
            <a:ext cx="10515600" cy="1603375"/>
          </a:xfrm>
        </p:spPr>
        <p:txBody>
          <a:bodyPr>
            <a:normAutofit lnSpcReduction="10000"/>
          </a:bodyPr>
          <a:lstStyle/>
          <a:p>
            <a:r>
              <a:rPr lang="es-ES" dirty="0"/>
              <a:t>La mayor ventaja de la agrupación jerárquica es que es fácil de entender y aplicar. Normalmente, el resultado de este método de agrupación se analiza en una imagen como la siguiente. Se llama </a:t>
            </a:r>
            <a:r>
              <a:rPr lang="es-ES" dirty="0" err="1"/>
              <a:t>Dendrograma</a:t>
            </a:r>
            <a:r>
              <a:rPr lang="es-ES" dirty="0"/>
              <a:t>.</a:t>
            </a:r>
            <a:endParaRPr lang="es-PE" dirty="0"/>
          </a:p>
        </p:txBody>
      </p:sp>
      <p:sp>
        <p:nvSpPr>
          <p:cNvPr id="4" name="Título 4">
            <a:extLst>
              <a:ext uri="{FF2B5EF4-FFF2-40B4-BE49-F238E27FC236}">
                <a16:creationId xmlns:a16="http://schemas.microsoft.com/office/drawing/2014/main" id="{90700ADB-59C1-7CCD-A2EF-E254DB19B0B0}"/>
              </a:ext>
            </a:extLst>
          </p:cNvPr>
          <p:cNvSpPr>
            <a:spLocks noGrp="1"/>
          </p:cNvSpPr>
          <p:nvPr>
            <p:ph type="title"/>
          </p:nvPr>
        </p:nvSpPr>
        <p:spPr>
          <a:xfrm>
            <a:off x="838200" y="365125"/>
            <a:ext cx="10515600" cy="1325563"/>
          </a:xfrm>
        </p:spPr>
        <p:txBody>
          <a:bodyPr/>
          <a:lstStyle/>
          <a:p>
            <a:r>
              <a:rPr lang="es-ES" dirty="0"/>
              <a:t>5 Algoritmos de Agrupación Esenciales</a:t>
            </a:r>
            <a:endParaRPr lang="es-PE" dirty="0"/>
          </a:p>
        </p:txBody>
      </p:sp>
      <p:pic>
        <p:nvPicPr>
          <p:cNvPr id="12290" name="Picture 2">
            <a:extLst>
              <a:ext uri="{FF2B5EF4-FFF2-40B4-BE49-F238E27FC236}">
                <a16:creationId xmlns:a16="http://schemas.microsoft.com/office/drawing/2014/main" id="{D380CB31-0A8C-5E01-D7D3-0E45C7162A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1408" y="3429000"/>
            <a:ext cx="6609184"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78972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8B61D-3761-0B6B-CFFC-D67B7B8C40D2}"/>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991E0D9D-1F35-F920-CE8E-CD664C94208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2" name="Marcador de contenido 1">
            <a:extLst>
              <a:ext uri="{FF2B5EF4-FFF2-40B4-BE49-F238E27FC236}">
                <a16:creationId xmlns:a16="http://schemas.microsoft.com/office/drawing/2014/main" id="{5713E86E-F0DD-E628-4CBD-D7CC7419FB87}"/>
              </a:ext>
            </a:extLst>
          </p:cNvPr>
          <p:cNvSpPr>
            <a:spLocks noGrp="1"/>
          </p:cNvSpPr>
          <p:nvPr>
            <p:ph idx="1"/>
          </p:nvPr>
        </p:nvSpPr>
        <p:spPr/>
        <p:txBody>
          <a:bodyPr>
            <a:normAutofit lnSpcReduction="10000"/>
          </a:bodyPr>
          <a:lstStyle/>
          <a:p>
            <a:pPr marL="0" indent="0">
              <a:buNone/>
            </a:pPr>
            <a:r>
              <a:rPr lang="es-ES" sz="1800" b="1" dirty="0"/>
              <a:t>BIRCH</a:t>
            </a:r>
          </a:p>
          <a:p>
            <a:r>
              <a:rPr lang="es-ES" sz="1800" dirty="0"/>
              <a:t>BIRCH son las siglas en inglés de Agrupación Jerárquica Iterativa Equilibrada. Se utiliza en conjuntos de datos muy grandes en los que K-</a:t>
            </a:r>
            <a:r>
              <a:rPr lang="es-ES" sz="1800" dirty="0" err="1"/>
              <a:t>Means</a:t>
            </a:r>
            <a:r>
              <a:rPr lang="es-ES" sz="1800" dirty="0"/>
              <a:t> no puede escalar prácticamente. El algoritmo BIRCH divide los datos grandes en </a:t>
            </a:r>
            <a:r>
              <a:rPr lang="es-ES" sz="1800" dirty="0" err="1"/>
              <a:t>clusters</a:t>
            </a:r>
            <a:r>
              <a:rPr lang="es-ES" sz="1800" dirty="0"/>
              <a:t> pequeños e intenta retener la máxima cantidad de información posible. A continuación, se agrupan los grupos más pequeños para obtener un resultado final, en lugar de agrupar directamente los grandes conjuntos de datos. </a:t>
            </a:r>
          </a:p>
          <a:p>
            <a:r>
              <a:rPr lang="es-ES" sz="1800" dirty="0"/>
              <a:t>BIRCH se utiliza a menudo para complementar otros algoritmos de agrupación, generando un resumen de la información que los otros algoritmos de agrupación pueden utilizar. Los usuarios tienen que definir el número de conglomerados para entrenar el algoritmo BIRCH, de forma similar a como lo definimos en K-</a:t>
            </a:r>
            <a:r>
              <a:rPr lang="es-ES" sz="1800" dirty="0" err="1"/>
              <a:t>Means</a:t>
            </a:r>
            <a:r>
              <a:rPr lang="es-ES" sz="1800" dirty="0"/>
              <a:t>.</a:t>
            </a:r>
          </a:p>
          <a:p>
            <a:r>
              <a:rPr lang="es-ES" sz="1800" dirty="0"/>
              <a:t>Una de las ventajas de utilizar BIRCH es que puede agrupar progresiva y dinámicamente puntos de datos multidimensionales. Esto se hace para crear </a:t>
            </a:r>
            <a:r>
              <a:rPr lang="es-ES" sz="1800" dirty="0" err="1"/>
              <a:t>clusters</a:t>
            </a:r>
            <a:r>
              <a:rPr lang="es-ES" sz="1800" dirty="0"/>
              <a:t> de la máxima calidad con unas limitaciones de memoria y tiempo dadas. En la mayoría de los casos, BIRCH sólo necesita hacer una búsqueda en toda la base de datos, lo que hace que BIRCH sea escalable. </a:t>
            </a:r>
          </a:p>
          <a:p>
            <a:r>
              <a:rPr lang="es-ES" sz="1800" dirty="0"/>
              <a:t>El caso de uso más común del algoritmo de agrupación BIRCH es que se trata de una alternativa a </a:t>
            </a:r>
            <a:r>
              <a:rPr lang="es-ES" sz="1800" dirty="0" err="1"/>
              <a:t>KMeans</a:t>
            </a:r>
            <a:r>
              <a:rPr lang="es-ES" sz="1800" dirty="0"/>
              <a:t> eficiente en memoria que puede utilizarse para agrupar grandes conjuntos de datos que no pueden manejarse mediante </a:t>
            </a:r>
            <a:r>
              <a:rPr lang="es-ES" sz="1800" dirty="0" err="1"/>
              <a:t>KMeans</a:t>
            </a:r>
            <a:r>
              <a:rPr lang="es-ES" sz="1800" dirty="0"/>
              <a:t> debido a limitaciones de memoria o computación.</a:t>
            </a:r>
            <a:endParaRPr lang="es-PE" sz="1800" dirty="0"/>
          </a:p>
        </p:txBody>
      </p:sp>
      <p:sp>
        <p:nvSpPr>
          <p:cNvPr id="4" name="Título 4">
            <a:extLst>
              <a:ext uri="{FF2B5EF4-FFF2-40B4-BE49-F238E27FC236}">
                <a16:creationId xmlns:a16="http://schemas.microsoft.com/office/drawing/2014/main" id="{FA29A108-41DD-7743-9C47-F13CB06E88AB}"/>
              </a:ext>
            </a:extLst>
          </p:cNvPr>
          <p:cNvSpPr>
            <a:spLocks noGrp="1"/>
          </p:cNvSpPr>
          <p:nvPr>
            <p:ph type="title"/>
          </p:nvPr>
        </p:nvSpPr>
        <p:spPr>
          <a:xfrm>
            <a:off x="838200" y="365125"/>
            <a:ext cx="10515600" cy="1325563"/>
          </a:xfrm>
        </p:spPr>
        <p:txBody>
          <a:bodyPr/>
          <a:lstStyle/>
          <a:p>
            <a:r>
              <a:rPr lang="es-ES" dirty="0"/>
              <a:t>5 Algoritmos de Agrupación Esenciales</a:t>
            </a:r>
            <a:endParaRPr lang="es-PE" dirty="0"/>
          </a:p>
        </p:txBody>
      </p:sp>
    </p:spTree>
    <p:extLst>
      <p:ext uri="{BB962C8B-B14F-4D97-AF65-F5344CB8AC3E}">
        <p14:creationId xmlns:p14="http://schemas.microsoft.com/office/powerpoint/2010/main" val="8284000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A2C5"/>
        </a:solidFill>
        <a:effectLst/>
      </p:bgPr>
    </p:bg>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CF766B10-B78E-71CE-13E4-410FD260DCF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067535" y="2445037"/>
            <a:ext cx="4519873" cy="1544922"/>
          </a:xfrm>
          <a:prstGeom prst="rect">
            <a:avLst/>
          </a:prstGeom>
        </p:spPr>
      </p:pic>
    </p:spTree>
    <p:extLst>
      <p:ext uri="{BB962C8B-B14F-4D97-AF65-F5344CB8AC3E}">
        <p14:creationId xmlns:p14="http://schemas.microsoft.com/office/powerpoint/2010/main" val="50485181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17604</TotalTime>
  <Words>2999</Words>
  <Application>Microsoft Office PowerPoint</Application>
  <PresentationFormat>Panorámica</PresentationFormat>
  <Paragraphs>110</Paragraphs>
  <Slides>24</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24</vt:i4>
      </vt:variant>
    </vt:vector>
  </HeadingPairs>
  <TitlesOfParts>
    <vt:vector size="28" baseType="lpstr">
      <vt:lpstr>Arial</vt:lpstr>
      <vt:lpstr>Calibri</vt:lpstr>
      <vt:lpstr>Calibri Light</vt:lpstr>
      <vt:lpstr>Tema de Office</vt:lpstr>
      <vt:lpstr>Presentación de PowerPoint</vt:lpstr>
      <vt:lpstr>Agrupación en el aprendizaje automático: 5 Algoritmos de Agrupación Esenciales</vt:lpstr>
      <vt:lpstr>¿Qué es la Agrupación?</vt:lpstr>
      <vt:lpstr>Criterios clave de éxito para el análisis de agrupaciones</vt:lpstr>
      <vt:lpstr>Construir la intuición tras la agrupación</vt:lpstr>
      <vt:lpstr>Aplicaciones empresariales de la agrupación</vt:lpstr>
      <vt:lpstr>Aplicaciones empresariales de la agrupación</vt:lpstr>
      <vt:lpstr>Aplicaciones empresariales de la agrupación</vt:lpstr>
      <vt:lpstr>Aplicaciones empresariales de la agrupación</vt:lpstr>
      <vt:lpstr>Aplicaciones empresariales de la agrupación</vt:lpstr>
      <vt:lpstr>Aplicaciones empresariales de la agrupación</vt:lpstr>
      <vt:lpstr>Aplicaciones empresariales de la agrupación</vt:lpstr>
      <vt:lpstr>5 Algoritmos de Agrupación Esenciales</vt:lpstr>
      <vt:lpstr>5 Algoritmos de Agrupación Esenciales</vt:lpstr>
      <vt:lpstr>5 Algoritmos de Agrupación Esenciales</vt:lpstr>
      <vt:lpstr>5 Algoritmos de Agrupación Esenciales</vt:lpstr>
      <vt:lpstr>5 Algoritmos de Agrupación Esenciales</vt:lpstr>
      <vt:lpstr>5 Algoritmos de Agrupación Esenciales</vt:lpstr>
      <vt:lpstr>5 Algoritmos de Agrupación Esenciales</vt:lpstr>
      <vt:lpstr>5 Algoritmos de Agrupación Esenciales</vt:lpstr>
      <vt:lpstr>5 Algoritmos de Agrupación Esenciales</vt:lpstr>
      <vt:lpstr>5 Algoritmos de Agrupación Esenciales</vt:lpstr>
      <vt:lpstr>5 Algoritmos de Agrupación Esenciales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LAURA</dc:creator>
  <cp:lastModifiedBy>Juancarlos Santana Huamán</cp:lastModifiedBy>
  <cp:revision>39</cp:revision>
  <dcterms:created xsi:type="dcterms:W3CDTF">2025-01-24T21:00:07Z</dcterms:created>
  <dcterms:modified xsi:type="dcterms:W3CDTF">2025-10-18T04:49:04Z</dcterms:modified>
</cp:coreProperties>
</file>