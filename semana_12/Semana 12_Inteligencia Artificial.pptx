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285" r:id="rId4"/>
    <p:sldId id="284" r:id="rId5"/>
    <p:sldId id="286" r:id="rId6"/>
    <p:sldId id="287" r:id="rId7"/>
    <p:sldId id="288" r:id="rId8"/>
    <p:sldId id="289" r:id="rId9"/>
    <p:sldId id="290" r:id="rId10"/>
    <p:sldId id="291" r:id="rId11"/>
    <p:sldId id="292" r:id="rId12"/>
    <p:sldId id="293" r:id="rId13"/>
    <p:sldId id="294" r:id="rId14"/>
    <p:sldId id="295" r:id="rId15"/>
    <p:sldId id="258" r:id="rId16"/>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C5"/>
    <a:srgbClr val="004774"/>
    <a:srgbClr val="0680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varScale="1">
        <p:scale>
          <a:sx n="75" d="100"/>
          <a:sy n="75" d="100"/>
        </p:scale>
        <p:origin x="90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7B1BA3-CD85-C602-5811-C976B3BEFCE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397E8305-2B4A-B4B2-86F4-B2F7FD0D61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1AE48B8E-AE04-FDB8-2C77-473ECF0F3238}"/>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5" name="Marcador de pie de página 4">
            <a:extLst>
              <a:ext uri="{FF2B5EF4-FFF2-40B4-BE49-F238E27FC236}">
                <a16:creationId xmlns:a16="http://schemas.microsoft.com/office/drawing/2014/main" id="{55768632-E449-9D6C-4C70-79FA8CBF0C2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75CC66E-941C-1197-2CFE-8FCBB84D848C}"/>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485703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A712BC-4E1B-DB65-84F1-3F1CA49180DA}"/>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3D13760E-B5C0-6783-9918-9CF17D7DB01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A542BEF-6CA9-32F2-03B6-84858EB47915}"/>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5" name="Marcador de pie de página 4">
            <a:extLst>
              <a:ext uri="{FF2B5EF4-FFF2-40B4-BE49-F238E27FC236}">
                <a16:creationId xmlns:a16="http://schemas.microsoft.com/office/drawing/2014/main" id="{8271C1B8-0BEF-4ABC-D919-23182A93255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E1A49A1-3188-2FC9-A8F4-03CF3ED46DF6}"/>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725887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886070-B1C3-3705-40AF-2A50E8B91BA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5E498F2B-C14B-0480-C3AE-0C4E16DD8F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C5A4F60-30D0-1665-504E-FB6EA8E708F7}"/>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5" name="Marcador de pie de página 4">
            <a:extLst>
              <a:ext uri="{FF2B5EF4-FFF2-40B4-BE49-F238E27FC236}">
                <a16:creationId xmlns:a16="http://schemas.microsoft.com/office/drawing/2014/main" id="{54A1DFB7-8CD2-EAA0-977F-E609713DC25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ADD733BB-8455-53E4-B4AE-EBADD46FE5A4}"/>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8744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5EAA83-5115-7945-1F30-92DDF538769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19D5DE9-102E-AC46-FB04-39294B04A3F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C8F5E287-76E7-93FF-2750-3502011A61D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242E2857-8D62-4C6A-8BA0-CF3F44758C43}"/>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6" name="Marcador de pie de página 5">
            <a:extLst>
              <a:ext uri="{FF2B5EF4-FFF2-40B4-BE49-F238E27FC236}">
                <a16:creationId xmlns:a16="http://schemas.microsoft.com/office/drawing/2014/main" id="{42099B49-8D12-D52E-C297-65646FEE1C2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59561EAA-7677-351F-5090-8431F42C71B5}"/>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190814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B82A8E-A4DD-DF62-B454-B1F3332100D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199B1E0E-D3DC-C284-8315-2C69EF5140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9033F44-05A4-EDEE-4EC5-7F54A74FE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8EE78B8-D89A-A4B7-11BB-019D87676E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0B51708-7ADF-66CF-D880-1935E1CD8A2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2B2B085-2246-DA3B-2183-465E45CCFF43}"/>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8" name="Marcador de pie de página 7">
            <a:extLst>
              <a:ext uri="{FF2B5EF4-FFF2-40B4-BE49-F238E27FC236}">
                <a16:creationId xmlns:a16="http://schemas.microsoft.com/office/drawing/2014/main" id="{EAF5A543-BB02-298E-F4B6-0467703B6B39}"/>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5C65F4F-A7CA-F0DA-5B61-494797268D2A}"/>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299553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E8F346-1FDE-839E-C995-FB930187F42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04805191-4C9B-E283-603B-253C264E47A8}"/>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4" name="Marcador de pie de página 3">
            <a:extLst>
              <a:ext uri="{FF2B5EF4-FFF2-40B4-BE49-F238E27FC236}">
                <a16:creationId xmlns:a16="http://schemas.microsoft.com/office/drawing/2014/main" id="{4719F6A8-9F1F-8B0E-38D0-C7F87BCAEB64}"/>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A20BD974-32C3-4316-CB13-081E74AC2725}"/>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468354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E731BE2-4614-9B43-A4FE-1F2BEEF83F53}"/>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3" name="Marcador de pie de página 2">
            <a:extLst>
              <a:ext uri="{FF2B5EF4-FFF2-40B4-BE49-F238E27FC236}">
                <a16:creationId xmlns:a16="http://schemas.microsoft.com/office/drawing/2014/main" id="{1A5B48FD-9ADB-B0C3-BD72-F9892F75E2E5}"/>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8ECFF6A-F150-70DD-420F-AAA9AF3B2836}"/>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1591942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CC5459-7FB5-879C-2FEB-4E92838F71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F3AFE395-6F31-D91E-F5F6-BCFCBA53ED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A697E5FB-55C6-28AE-7987-A3BC7CE97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72D507B-47C8-7F5E-4707-C4F60A834596}"/>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6" name="Marcador de pie de página 5">
            <a:extLst>
              <a:ext uri="{FF2B5EF4-FFF2-40B4-BE49-F238E27FC236}">
                <a16:creationId xmlns:a16="http://schemas.microsoft.com/office/drawing/2014/main" id="{995F8DE1-A7CD-2ADB-4D83-EBBCEC9FD33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7D2EE05B-8067-DEB5-361F-233626B7F1BB}"/>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1606075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FF06F3-FE1E-5E9C-4924-80B3F58E68D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ABBADCD7-EECE-AFCA-E7E8-049192FB21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A571CD8E-5484-FD42-C8C6-B3A22B0BF8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B2448C-B054-2753-A9C2-927795BDA824}"/>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6" name="Marcador de pie de página 5">
            <a:extLst>
              <a:ext uri="{FF2B5EF4-FFF2-40B4-BE49-F238E27FC236}">
                <a16:creationId xmlns:a16="http://schemas.microsoft.com/office/drawing/2014/main" id="{81EFD349-6833-B875-9F11-C77DF23507E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0CECD156-92DD-29A2-A71D-958F1865D5FE}"/>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316113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D2878-0B8A-8748-B16F-A768D907EDC2}"/>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4F56010-7CA5-E42E-BDDB-6A40036294E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56AFF98-3712-E10A-F4EE-05BF994ADE0E}"/>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5" name="Marcador de pie de página 4">
            <a:extLst>
              <a:ext uri="{FF2B5EF4-FFF2-40B4-BE49-F238E27FC236}">
                <a16:creationId xmlns:a16="http://schemas.microsoft.com/office/drawing/2014/main" id="{6EF157AB-C1A2-A028-0D72-9C354DD3A0F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3AD23C2-E2CA-6479-54B8-17DC7D098A74}"/>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032110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210E389-3C68-17EA-AFCA-D4721369A79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F22A9995-E221-8982-AA38-AED1A775412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1B21D78D-9CCA-14AA-0EE3-756A9114857B}"/>
              </a:ext>
            </a:extLst>
          </p:cNvPr>
          <p:cNvSpPr>
            <a:spLocks noGrp="1"/>
          </p:cNvSpPr>
          <p:nvPr>
            <p:ph type="dt" sz="half" idx="10"/>
          </p:nvPr>
        </p:nvSpPr>
        <p:spPr/>
        <p:txBody>
          <a:bodyPr/>
          <a:lstStyle/>
          <a:p>
            <a:fld id="{6209461D-A67A-4686-80D4-2D0D328371F0}" type="datetimeFigureOut">
              <a:rPr lang="es-PE" smtClean="0"/>
              <a:t>2/11/2025</a:t>
            </a:fld>
            <a:endParaRPr lang="es-PE"/>
          </a:p>
        </p:txBody>
      </p:sp>
      <p:sp>
        <p:nvSpPr>
          <p:cNvPr id="5" name="Marcador de pie de página 4">
            <a:extLst>
              <a:ext uri="{FF2B5EF4-FFF2-40B4-BE49-F238E27FC236}">
                <a16:creationId xmlns:a16="http://schemas.microsoft.com/office/drawing/2014/main" id="{22940F45-B223-2DC0-984B-68D9DF4872B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AD4BDA-B60D-1A4F-E658-E0E76B845CC4}"/>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587985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F0435E5-E59E-03F1-2C25-F5FFD96A8C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C07DEAB-BE2E-803C-618A-A0CEF42D66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C5D585EE-8F36-E7DC-0A3C-5D1EA4119C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09461D-A67A-4686-80D4-2D0D328371F0}" type="datetimeFigureOut">
              <a:rPr lang="es-PE" smtClean="0"/>
              <a:t>2/11/2025</a:t>
            </a:fld>
            <a:endParaRPr lang="es-PE"/>
          </a:p>
        </p:txBody>
      </p:sp>
      <p:sp>
        <p:nvSpPr>
          <p:cNvPr id="5" name="Marcador de pie de página 4">
            <a:extLst>
              <a:ext uri="{FF2B5EF4-FFF2-40B4-BE49-F238E27FC236}">
                <a16:creationId xmlns:a16="http://schemas.microsoft.com/office/drawing/2014/main" id="{0A36D1E0-474D-104A-47A3-A21A6C2AFF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0AA08DBA-7E83-BCE4-EC19-034E750079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2E7C02-8D67-46A3-A615-2420C0D66041}" type="slidenum">
              <a:rPr lang="es-PE" smtClean="0"/>
              <a:t>‹Nº›</a:t>
            </a:fld>
            <a:endParaRPr lang="es-PE"/>
          </a:p>
        </p:txBody>
      </p:sp>
    </p:spTree>
    <p:extLst>
      <p:ext uri="{BB962C8B-B14F-4D97-AF65-F5344CB8AC3E}">
        <p14:creationId xmlns:p14="http://schemas.microsoft.com/office/powerpoint/2010/main" val="3935648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0C39C8B-D0D3-8EB3-EA3B-8240BE435F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428"/>
            <a:ext cx="12192000" cy="6857143"/>
          </a:xfrm>
          <a:prstGeom prst="rect">
            <a:avLst/>
          </a:prstGeom>
        </p:spPr>
      </p:pic>
      <p:sp>
        <p:nvSpPr>
          <p:cNvPr id="4" name="CuadroTexto 3">
            <a:extLst>
              <a:ext uri="{FF2B5EF4-FFF2-40B4-BE49-F238E27FC236}">
                <a16:creationId xmlns:a16="http://schemas.microsoft.com/office/drawing/2014/main" id="{E28448E5-E694-A653-D885-A2320D68232F}"/>
              </a:ext>
            </a:extLst>
          </p:cNvPr>
          <p:cNvSpPr txBox="1"/>
          <p:nvPr/>
        </p:nvSpPr>
        <p:spPr>
          <a:xfrm>
            <a:off x="5751444" y="2902227"/>
            <a:ext cx="5626601" cy="1754326"/>
          </a:xfrm>
          <a:prstGeom prst="rect">
            <a:avLst/>
          </a:prstGeom>
          <a:noFill/>
        </p:spPr>
        <p:txBody>
          <a:bodyPr wrap="square" rtlCol="0">
            <a:spAutoFit/>
          </a:bodyPr>
          <a:lstStyle/>
          <a:p>
            <a:r>
              <a:rPr lang="es-ES" sz="5400" b="1" dirty="0">
                <a:solidFill>
                  <a:schemeClr val="bg1"/>
                </a:solidFill>
              </a:rPr>
              <a:t>Inteligencia Artificial</a:t>
            </a:r>
            <a:endParaRPr lang="es-PE" sz="5400" b="1" dirty="0">
              <a:solidFill>
                <a:schemeClr val="bg1"/>
              </a:solidFill>
            </a:endParaRPr>
          </a:p>
        </p:txBody>
      </p:sp>
      <p:sp>
        <p:nvSpPr>
          <p:cNvPr id="2" name="CuadroTexto 1">
            <a:extLst>
              <a:ext uri="{FF2B5EF4-FFF2-40B4-BE49-F238E27FC236}">
                <a16:creationId xmlns:a16="http://schemas.microsoft.com/office/drawing/2014/main" id="{A4540883-D68C-205C-2821-DEB9A86C42FD}"/>
              </a:ext>
            </a:extLst>
          </p:cNvPr>
          <p:cNvSpPr txBox="1"/>
          <p:nvPr/>
        </p:nvSpPr>
        <p:spPr>
          <a:xfrm>
            <a:off x="5751443" y="4656553"/>
            <a:ext cx="5626601" cy="707886"/>
          </a:xfrm>
          <a:prstGeom prst="rect">
            <a:avLst/>
          </a:prstGeom>
          <a:noFill/>
        </p:spPr>
        <p:txBody>
          <a:bodyPr wrap="square" rtlCol="0">
            <a:spAutoFit/>
          </a:bodyPr>
          <a:lstStyle/>
          <a:p>
            <a:r>
              <a:rPr lang="es-ES" sz="2000" b="1" dirty="0">
                <a:solidFill>
                  <a:schemeClr val="bg1"/>
                </a:solidFill>
              </a:rPr>
              <a:t>Ing. Juancarlos Santana Huamán</a:t>
            </a:r>
          </a:p>
          <a:p>
            <a:r>
              <a:rPr lang="es-ES" sz="2000" b="1" dirty="0">
                <a:solidFill>
                  <a:schemeClr val="bg1"/>
                </a:solidFill>
              </a:rPr>
              <a:t>jsantana@ucss.edu.pe</a:t>
            </a:r>
            <a:endParaRPr lang="es-PE" sz="2000" b="1" dirty="0">
              <a:solidFill>
                <a:schemeClr val="bg1"/>
              </a:solidFill>
            </a:endParaRPr>
          </a:p>
        </p:txBody>
      </p:sp>
    </p:spTree>
    <p:extLst>
      <p:ext uri="{BB962C8B-B14F-4D97-AF65-F5344CB8AC3E}">
        <p14:creationId xmlns:p14="http://schemas.microsoft.com/office/powerpoint/2010/main" val="1522662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78F42-22E7-9356-09D8-5B065AB6B3B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4C6BFD66-F536-57AD-16DB-8CCEE01C8C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53BAB135-02DD-099B-42BB-BFA1F59972EA}"/>
              </a:ext>
            </a:extLst>
          </p:cNvPr>
          <p:cNvSpPr>
            <a:spLocks noGrp="1"/>
          </p:cNvSpPr>
          <p:nvPr>
            <p:ph idx="1"/>
          </p:nvPr>
        </p:nvSpPr>
        <p:spPr/>
        <p:txBody>
          <a:bodyPr>
            <a:normAutofit/>
          </a:bodyPr>
          <a:lstStyle/>
          <a:p>
            <a:pPr marL="0" indent="0">
              <a:buNone/>
            </a:pPr>
            <a:r>
              <a:rPr lang="es-ES" b="1" dirty="0"/>
              <a:t>REDES DE RESONANCIA ADAPTATIVA</a:t>
            </a:r>
          </a:p>
          <a:p>
            <a:r>
              <a:rPr lang="es-ES" dirty="0"/>
              <a:t>La “teoría de la resonancia adaptativa”, desarrollada por Stephen </a:t>
            </a:r>
            <a:r>
              <a:rPr lang="es-ES" dirty="0" err="1"/>
              <a:t>Grossberg</a:t>
            </a:r>
            <a:r>
              <a:rPr lang="es-ES" dirty="0"/>
              <a:t> y Gail </a:t>
            </a:r>
            <a:r>
              <a:rPr lang="es-ES" dirty="0" err="1"/>
              <a:t>Carpenter</a:t>
            </a:r>
            <a:r>
              <a:rPr lang="es-ES" dirty="0"/>
              <a:t>, es un modelo de red neuronal artificial que basa su funcionamiento en la manera en que el cerebro procesa información.</a:t>
            </a:r>
          </a:p>
          <a:p>
            <a:r>
              <a:rPr lang="es-ES" dirty="0"/>
              <a:t>Los expertos describen la teoría de la resonancia adaptativa como un esfuerzo parcial para permanecer abiertos a nuevos aprendizajes sin sacrificar el conocimiento de patrones existentes</a:t>
            </a:r>
            <a:endParaRPr lang="es-PE" dirty="0"/>
          </a:p>
        </p:txBody>
      </p:sp>
      <p:sp>
        <p:nvSpPr>
          <p:cNvPr id="7" name="Título 6">
            <a:extLst>
              <a:ext uri="{FF2B5EF4-FFF2-40B4-BE49-F238E27FC236}">
                <a16:creationId xmlns:a16="http://schemas.microsoft.com/office/drawing/2014/main" id="{BDA71ECF-470A-DE71-53D5-8C82F519F24C}"/>
              </a:ext>
            </a:extLst>
          </p:cNvPr>
          <p:cNvSpPr>
            <a:spLocks noGrp="1"/>
          </p:cNvSpPr>
          <p:nvPr>
            <p:ph type="title"/>
          </p:nvPr>
        </p:nvSpPr>
        <p:spPr/>
        <p:txBody>
          <a:bodyPr/>
          <a:lstStyle/>
          <a:p>
            <a:r>
              <a:rPr lang="es-PE" dirty="0"/>
              <a:t>Adaptive </a:t>
            </a:r>
            <a:r>
              <a:rPr lang="es-PE" dirty="0" err="1"/>
              <a:t>Resonance</a:t>
            </a:r>
            <a:r>
              <a:rPr lang="es-PE" dirty="0"/>
              <a:t> </a:t>
            </a:r>
            <a:r>
              <a:rPr lang="es-PE" dirty="0" err="1"/>
              <a:t>Theory</a:t>
            </a:r>
            <a:r>
              <a:rPr lang="es-PE" dirty="0"/>
              <a:t>(ART)</a:t>
            </a:r>
          </a:p>
        </p:txBody>
      </p:sp>
    </p:spTree>
    <p:extLst>
      <p:ext uri="{BB962C8B-B14F-4D97-AF65-F5344CB8AC3E}">
        <p14:creationId xmlns:p14="http://schemas.microsoft.com/office/powerpoint/2010/main" val="4218512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80BC5-60DC-1927-F49C-BBF42D99E4C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7A7BFF5-4DEC-1A03-2298-694C956871E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9A9FD053-7097-4BF0-0055-1E923522F669}"/>
              </a:ext>
            </a:extLst>
          </p:cNvPr>
          <p:cNvSpPr>
            <a:spLocks noGrp="1"/>
          </p:cNvSpPr>
          <p:nvPr>
            <p:ph idx="1"/>
          </p:nvPr>
        </p:nvSpPr>
        <p:spPr>
          <a:xfrm>
            <a:off x="838200" y="1825625"/>
            <a:ext cx="7747000" cy="2177415"/>
          </a:xfrm>
        </p:spPr>
        <p:txBody>
          <a:bodyPr>
            <a:normAutofit lnSpcReduction="10000"/>
          </a:bodyPr>
          <a:lstStyle/>
          <a:p>
            <a:r>
              <a:rPr lang="es-ES" dirty="0"/>
              <a:t>Profesor de sistemas cognitivos y neuronales de Wang y profesor de matemáticas, psicología e ingeniería biomédica en la Universidad de Boston. Es coeditor en jefe de la revista Neural Networks, que es la revista oficial de las tres principales sociedades de modelado neuronal del mundo.</a:t>
            </a:r>
            <a:endParaRPr lang="es-PE" dirty="0"/>
          </a:p>
        </p:txBody>
      </p:sp>
      <p:sp>
        <p:nvSpPr>
          <p:cNvPr id="7" name="Título 6">
            <a:extLst>
              <a:ext uri="{FF2B5EF4-FFF2-40B4-BE49-F238E27FC236}">
                <a16:creationId xmlns:a16="http://schemas.microsoft.com/office/drawing/2014/main" id="{840B2D61-C083-0CD5-E13C-DED5E60084AE}"/>
              </a:ext>
            </a:extLst>
          </p:cNvPr>
          <p:cNvSpPr>
            <a:spLocks noGrp="1"/>
          </p:cNvSpPr>
          <p:nvPr>
            <p:ph type="title"/>
          </p:nvPr>
        </p:nvSpPr>
        <p:spPr/>
        <p:txBody>
          <a:bodyPr/>
          <a:lstStyle/>
          <a:p>
            <a:r>
              <a:rPr lang="es-PE" dirty="0"/>
              <a:t>CREADORES</a:t>
            </a:r>
          </a:p>
        </p:txBody>
      </p:sp>
      <p:sp>
        <p:nvSpPr>
          <p:cNvPr id="2" name="Marcador de contenido 3">
            <a:extLst>
              <a:ext uri="{FF2B5EF4-FFF2-40B4-BE49-F238E27FC236}">
                <a16:creationId xmlns:a16="http://schemas.microsoft.com/office/drawing/2014/main" id="{9939B7E1-21F3-15A9-FF8B-7A35D96C2A50}"/>
              </a:ext>
            </a:extLst>
          </p:cNvPr>
          <p:cNvSpPr txBox="1">
            <a:spLocks/>
          </p:cNvSpPr>
          <p:nvPr/>
        </p:nvSpPr>
        <p:spPr>
          <a:xfrm>
            <a:off x="3606800" y="4137977"/>
            <a:ext cx="7747000" cy="21774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Científica cognitiva, neurocientífica y matemática. Es profesora de sistemas cognitivos y neuronales y profesora de matemáticas en la Universidad de Boston. Ella es la primera mujer en recibir el Premio Pioneer de IEEE Neural Networks.</a:t>
            </a:r>
          </a:p>
        </p:txBody>
      </p:sp>
      <p:pic>
        <p:nvPicPr>
          <p:cNvPr id="1026" name="Picture 2">
            <a:extLst>
              <a:ext uri="{FF2B5EF4-FFF2-40B4-BE49-F238E27FC236}">
                <a16:creationId xmlns:a16="http://schemas.microsoft.com/office/drawing/2014/main" id="{12C3B132-7B27-8308-9487-93A03BCFD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2400" y="1825625"/>
            <a:ext cx="1960880" cy="21774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055289B-226E-0A65-D597-A917E2D822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6840" y="4137977"/>
            <a:ext cx="1880870" cy="2183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1690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ECA51-ED22-D73B-A6AC-CA62B2FE771F}"/>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5236AC8D-D058-C8B1-61E4-4159627F2FF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8CCF8A7B-1843-CC4D-212E-EA346CE2CC10}"/>
              </a:ext>
            </a:extLst>
          </p:cNvPr>
          <p:cNvSpPr>
            <a:spLocks noGrp="1"/>
          </p:cNvSpPr>
          <p:nvPr>
            <p:ph idx="1"/>
          </p:nvPr>
        </p:nvSpPr>
        <p:spPr/>
        <p:txBody>
          <a:bodyPr>
            <a:normAutofit/>
          </a:bodyPr>
          <a:lstStyle/>
          <a:p>
            <a:r>
              <a:rPr lang="es-ES" sz="2400" dirty="0"/>
              <a:t>La teoría de la resonancia adaptativa fue propuesta por Grossman en un artículo en el año de 1976 sobre aprendizaje cognoscitivo de patrones, Muchos atribuyen gran parte del diseño de las redes ART a Stephen </a:t>
            </a:r>
            <a:r>
              <a:rPr lang="es-ES" sz="2400" dirty="0" err="1"/>
              <a:t>Grossberg</a:t>
            </a:r>
            <a:r>
              <a:rPr lang="es-ES" sz="2400" dirty="0"/>
              <a:t> y Gail </a:t>
            </a:r>
            <a:r>
              <a:rPr lang="es-ES" sz="2400" dirty="0" err="1"/>
              <a:t>Carpenter</a:t>
            </a:r>
            <a:r>
              <a:rPr lang="es-ES" sz="2400" dirty="0"/>
              <a:t> y su trabajo en la década de 1980.</a:t>
            </a:r>
          </a:p>
          <a:p>
            <a:r>
              <a:rPr lang="es-ES" sz="2400" dirty="0"/>
              <a:t>ART1 Desarrollada por G. </a:t>
            </a:r>
            <a:r>
              <a:rPr lang="es-ES" sz="2400" dirty="0" err="1"/>
              <a:t>Carpenter</a:t>
            </a:r>
            <a:r>
              <a:rPr lang="es-ES" sz="2400" dirty="0"/>
              <a:t> y S. </a:t>
            </a:r>
            <a:r>
              <a:rPr lang="es-ES" sz="2400" dirty="0" err="1"/>
              <a:t>Grossberg</a:t>
            </a:r>
            <a:r>
              <a:rPr lang="es-ES" sz="2400" dirty="0"/>
              <a:t> en 1986. Maneja información binaria.</a:t>
            </a:r>
          </a:p>
          <a:p>
            <a:r>
              <a:rPr lang="es-ES" sz="2400" dirty="0"/>
              <a:t>ART2 Maneja información de entrada en valores analógicos</a:t>
            </a:r>
          </a:p>
          <a:p>
            <a:r>
              <a:rPr lang="es-ES" sz="2400" dirty="0"/>
              <a:t>(escala de grises) 1987.</a:t>
            </a:r>
          </a:p>
          <a:p>
            <a:r>
              <a:rPr lang="es-ES" sz="2400" dirty="0"/>
              <a:t>ART3 maneja entradas analógicas, es más compleja, fue desarrollada en 1989, usa transmisores químicos.</a:t>
            </a:r>
            <a:endParaRPr lang="es-PE" sz="2400" dirty="0"/>
          </a:p>
        </p:txBody>
      </p:sp>
      <p:sp>
        <p:nvSpPr>
          <p:cNvPr id="7" name="Título 6">
            <a:extLst>
              <a:ext uri="{FF2B5EF4-FFF2-40B4-BE49-F238E27FC236}">
                <a16:creationId xmlns:a16="http://schemas.microsoft.com/office/drawing/2014/main" id="{217647F1-BDF9-A0B1-9495-0DD6CB4E08A9}"/>
              </a:ext>
            </a:extLst>
          </p:cNvPr>
          <p:cNvSpPr>
            <a:spLocks noGrp="1"/>
          </p:cNvSpPr>
          <p:nvPr>
            <p:ph type="title"/>
          </p:nvPr>
        </p:nvSpPr>
        <p:spPr/>
        <p:txBody>
          <a:bodyPr/>
          <a:lstStyle/>
          <a:p>
            <a:r>
              <a:rPr lang="es-PE" dirty="0"/>
              <a:t>HISTORIA</a:t>
            </a:r>
          </a:p>
        </p:txBody>
      </p:sp>
    </p:spTree>
    <p:extLst>
      <p:ext uri="{BB962C8B-B14F-4D97-AF65-F5344CB8AC3E}">
        <p14:creationId xmlns:p14="http://schemas.microsoft.com/office/powerpoint/2010/main" val="587848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4DE4B-B894-ADBF-975E-6BAA8BDF8032}"/>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A934122-5740-D74A-F013-02FAB9B244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62708DF8-6A50-B070-5FC0-30609C78EDA9}"/>
              </a:ext>
            </a:extLst>
          </p:cNvPr>
          <p:cNvSpPr>
            <a:spLocks noGrp="1"/>
          </p:cNvSpPr>
          <p:nvPr>
            <p:ph idx="1"/>
          </p:nvPr>
        </p:nvSpPr>
        <p:spPr>
          <a:xfrm>
            <a:off x="838200" y="1825625"/>
            <a:ext cx="6242667" cy="4351338"/>
          </a:xfrm>
        </p:spPr>
        <p:txBody>
          <a:bodyPr>
            <a:normAutofit/>
          </a:bodyPr>
          <a:lstStyle/>
          <a:p>
            <a:r>
              <a:rPr lang="es-ES" sz="2400" dirty="0"/>
              <a:t>Es una red multicapa.</a:t>
            </a:r>
          </a:p>
          <a:p>
            <a:r>
              <a:rPr lang="es-ES" sz="2400" dirty="0"/>
              <a:t>Permite datos de entrada y salida (e/s) binarios para ART1 y continuos para ART2.</a:t>
            </a:r>
          </a:p>
          <a:p>
            <a:r>
              <a:rPr lang="es-ES" sz="2400" dirty="0"/>
              <a:t>El aprendizaje es no supervisado y ONLINE, aunque existen algunas modalidades supervisadas.</a:t>
            </a:r>
          </a:p>
          <a:p>
            <a:r>
              <a:rPr lang="es-ES" sz="2400" dirty="0"/>
              <a:t>Aprendizaje competitivo (</a:t>
            </a:r>
            <a:r>
              <a:rPr lang="es-ES" sz="2400" dirty="0" err="1"/>
              <a:t>the</a:t>
            </a:r>
            <a:r>
              <a:rPr lang="es-ES" sz="2400" dirty="0"/>
              <a:t> </a:t>
            </a:r>
            <a:r>
              <a:rPr lang="es-ES" sz="2400" dirty="0" err="1"/>
              <a:t>winner</a:t>
            </a:r>
            <a:r>
              <a:rPr lang="es-ES" sz="2400" dirty="0"/>
              <a:t> </a:t>
            </a:r>
            <a:r>
              <a:rPr lang="es-ES" sz="2400" dirty="0" err="1"/>
              <a:t>take</a:t>
            </a:r>
            <a:r>
              <a:rPr lang="es-ES" sz="2400" dirty="0"/>
              <a:t> </a:t>
            </a:r>
            <a:r>
              <a:rPr lang="es-ES" sz="2400" dirty="0" err="1"/>
              <a:t>all</a:t>
            </a:r>
            <a:r>
              <a:rPr lang="es-ES" sz="2400" dirty="0"/>
              <a:t>).</a:t>
            </a:r>
          </a:p>
          <a:p>
            <a:r>
              <a:rPr lang="es-ES" sz="2400" dirty="0"/>
              <a:t>La red crea su propia clasificación de lo que aprende.</a:t>
            </a:r>
          </a:p>
          <a:p>
            <a:r>
              <a:rPr lang="es-ES" sz="2400" dirty="0"/>
              <a:t>Soluciona el dilema de la estabilidad y plasticidad.</a:t>
            </a:r>
            <a:endParaRPr lang="es-PE" sz="2400" dirty="0"/>
          </a:p>
        </p:txBody>
      </p:sp>
      <p:sp>
        <p:nvSpPr>
          <p:cNvPr id="7" name="Título 6">
            <a:extLst>
              <a:ext uri="{FF2B5EF4-FFF2-40B4-BE49-F238E27FC236}">
                <a16:creationId xmlns:a16="http://schemas.microsoft.com/office/drawing/2014/main" id="{5ADB5F44-2A52-1014-F6C6-CA8F99AF5E45}"/>
              </a:ext>
            </a:extLst>
          </p:cNvPr>
          <p:cNvSpPr>
            <a:spLocks noGrp="1"/>
          </p:cNvSpPr>
          <p:nvPr>
            <p:ph type="title"/>
          </p:nvPr>
        </p:nvSpPr>
        <p:spPr/>
        <p:txBody>
          <a:bodyPr/>
          <a:lstStyle/>
          <a:p>
            <a:r>
              <a:rPr lang="es-PE" dirty="0"/>
              <a:t>CARACTERISTICAS</a:t>
            </a:r>
          </a:p>
        </p:txBody>
      </p:sp>
      <p:pic>
        <p:nvPicPr>
          <p:cNvPr id="2050" name="Picture 2">
            <a:extLst>
              <a:ext uri="{FF2B5EF4-FFF2-40B4-BE49-F238E27FC236}">
                <a16:creationId xmlns:a16="http://schemas.microsoft.com/office/drawing/2014/main" id="{0C7F2603-025E-D839-A999-80461E5286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773" t="17818" r="26637" b="21636"/>
          <a:stretch>
            <a:fillRect/>
          </a:stretch>
        </p:blipFill>
        <p:spPr bwMode="auto">
          <a:xfrm>
            <a:off x="7080867" y="1825626"/>
            <a:ext cx="4272933" cy="4351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996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9314E-6229-173A-9DA8-088AF66B8F7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A78A133E-A73E-3084-9C7F-D637C5CF2ED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137CDD03-86DF-EFEF-1743-2147861DC3BA}"/>
              </a:ext>
            </a:extLst>
          </p:cNvPr>
          <p:cNvSpPr>
            <a:spLocks noGrp="1"/>
          </p:cNvSpPr>
          <p:nvPr>
            <p:ph idx="1"/>
          </p:nvPr>
        </p:nvSpPr>
        <p:spPr>
          <a:xfrm>
            <a:off x="838200" y="1825624"/>
            <a:ext cx="6487160" cy="4427249"/>
          </a:xfrm>
        </p:spPr>
        <p:txBody>
          <a:bodyPr>
            <a:normAutofit lnSpcReduction="10000"/>
          </a:bodyPr>
          <a:lstStyle/>
          <a:p>
            <a:r>
              <a:rPr lang="es-ES" dirty="0"/>
              <a:t>El hecho que condujo a la concepción de las redes ART fue lo que se conoce como el dilema de la estabilidad y plasticidad del aprendizaje. Este dilema surge a partir de dos ideas:</a:t>
            </a:r>
          </a:p>
          <a:p>
            <a:pPr lvl="1"/>
            <a:r>
              <a:rPr lang="es-ES" dirty="0"/>
              <a:t>Una red neuronal debe poder aprender nuevos patrones, es decir, debe tener cierta plasticidad de aprendizaje. </a:t>
            </a:r>
          </a:p>
          <a:p>
            <a:pPr lvl="1"/>
            <a:r>
              <a:rPr lang="es-ES" dirty="0"/>
              <a:t>Una red neuronal debe poder recordar los patrones ya aprendidos, es decir, ser estable aún cuando se le introduzcan datos que no sea capaz de reconocer.</a:t>
            </a:r>
            <a:endParaRPr lang="es-PE" dirty="0"/>
          </a:p>
        </p:txBody>
      </p:sp>
      <p:sp>
        <p:nvSpPr>
          <p:cNvPr id="7" name="Título 6">
            <a:extLst>
              <a:ext uri="{FF2B5EF4-FFF2-40B4-BE49-F238E27FC236}">
                <a16:creationId xmlns:a16="http://schemas.microsoft.com/office/drawing/2014/main" id="{9B9C5452-E492-C808-C621-A2B7A6D567E1}"/>
              </a:ext>
            </a:extLst>
          </p:cNvPr>
          <p:cNvSpPr>
            <a:spLocks noGrp="1"/>
          </p:cNvSpPr>
          <p:nvPr>
            <p:ph type="title"/>
          </p:nvPr>
        </p:nvSpPr>
        <p:spPr/>
        <p:txBody>
          <a:bodyPr/>
          <a:lstStyle/>
          <a:p>
            <a:r>
              <a:rPr lang="es-ES" dirty="0"/>
              <a:t>Dilema de la estabilidad y la plasticidad</a:t>
            </a:r>
            <a:endParaRPr lang="es-PE" dirty="0"/>
          </a:p>
        </p:txBody>
      </p:sp>
      <p:pic>
        <p:nvPicPr>
          <p:cNvPr id="3074" name="Picture 2">
            <a:extLst>
              <a:ext uri="{FF2B5EF4-FFF2-40B4-BE49-F238E27FC236}">
                <a16:creationId xmlns:a16="http://schemas.microsoft.com/office/drawing/2014/main" id="{E2943698-AEF3-6CBC-B40F-FF57876EC0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5360" y="1749714"/>
            <a:ext cx="4503160" cy="4503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911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4F2F8-F8E1-F1B1-E48D-C6DB0CEC089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4DC20659-C3D4-9F33-C6EF-43F14EB0A02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7" name="Título 6">
            <a:extLst>
              <a:ext uri="{FF2B5EF4-FFF2-40B4-BE49-F238E27FC236}">
                <a16:creationId xmlns:a16="http://schemas.microsoft.com/office/drawing/2014/main" id="{79AA4F98-09F8-6CB4-9B27-9D8DBD964163}"/>
              </a:ext>
            </a:extLst>
          </p:cNvPr>
          <p:cNvSpPr>
            <a:spLocks noGrp="1"/>
          </p:cNvSpPr>
          <p:nvPr>
            <p:ph type="title"/>
          </p:nvPr>
        </p:nvSpPr>
        <p:spPr/>
        <p:txBody>
          <a:bodyPr/>
          <a:lstStyle/>
          <a:p>
            <a:r>
              <a:rPr lang="es-ES" dirty="0"/>
              <a:t>ARQUITECTURA DE LA RED ART 1</a:t>
            </a:r>
            <a:endParaRPr lang="es-PE" dirty="0"/>
          </a:p>
        </p:txBody>
      </p:sp>
      <p:pic>
        <p:nvPicPr>
          <p:cNvPr id="4098" name="Picture 2">
            <a:extLst>
              <a:ext uri="{FF2B5EF4-FFF2-40B4-BE49-F238E27FC236}">
                <a16:creationId xmlns:a16="http://schemas.microsoft.com/office/drawing/2014/main" id="{FF8081E8-16E4-380F-F5F9-C45A73C75B5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690688"/>
            <a:ext cx="6181724" cy="455771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E0C6C47-43F5-2DA5-B51D-CD0728E11C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9924" y="1690687"/>
            <a:ext cx="4603116" cy="4583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455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00240-1E8B-DFFA-277A-710F5B8005B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B785E82-5626-06FA-88F6-4A1736726A9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EC57B8D2-F63B-9684-5FBA-AD75D07E9A1D}"/>
              </a:ext>
            </a:extLst>
          </p:cNvPr>
          <p:cNvSpPr>
            <a:spLocks noGrp="1"/>
          </p:cNvSpPr>
          <p:nvPr>
            <p:ph idx="1"/>
          </p:nvPr>
        </p:nvSpPr>
        <p:spPr>
          <a:xfrm>
            <a:off x="838200" y="1825625"/>
            <a:ext cx="6253480" cy="4351338"/>
          </a:xfrm>
        </p:spPr>
        <p:txBody>
          <a:bodyPr>
            <a:normAutofit/>
          </a:bodyPr>
          <a:lstStyle/>
          <a:p>
            <a:r>
              <a:rPr lang="es-ES" sz="2000" dirty="0"/>
              <a:t>El subsistema de atención consiste básicamente en la red, su función es el reconocimiento y clasificación de las informaciones aprendidas. En este subsistema se localiza la "memoria a largo plazo de la red (LTM)" (Long </a:t>
            </a:r>
            <a:r>
              <a:rPr lang="es-ES" sz="2000" dirty="0" err="1"/>
              <a:t>Term</a:t>
            </a:r>
            <a:r>
              <a:rPr lang="es-ES" sz="2000" dirty="0"/>
              <a:t> </a:t>
            </a:r>
            <a:r>
              <a:rPr lang="es-ES" sz="2000" dirty="0" err="1"/>
              <a:t>Memory</a:t>
            </a:r>
            <a:r>
              <a:rPr lang="es-ES" sz="2000" dirty="0"/>
              <a:t>), que confiere a la red su característica de estabilidad en el sentido de retener las informaciones aprendidas.</a:t>
            </a:r>
          </a:p>
          <a:p>
            <a:r>
              <a:rPr lang="es-ES" sz="2000" dirty="0"/>
              <a:t>Como complemento a la anterior, existe también una "memoria a corto plazo (STM)" (Short </a:t>
            </a:r>
            <a:r>
              <a:rPr lang="es-ES" sz="2000" dirty="0" err="1"/>
              <a:t>Term</a:t>
            </a:r>
            <a:r>
              <a:rPr lang="es-ES" sz="2000" dirty="0"/>
              <a:t> </a:t>
            </a:r>
            <a:r>
              <a:rPr lang="es-ES" sz="2000" dirty="0" err="1"/>
              <a:t>Memory</a:t>
            </a:r>
            <a:r>
              <a:rPr lang="es-ES" sz="2000" dirty="0"/>
              <a:t>), localizada en la entrada y en la salida de la red, que se refiere a la capacidad de "recordar" aspectos más inmediatos mediante la retención temporal de los valores de entrada en las neuronas que componen las capas de entrada y salida.</a:t>
            </a:r>
          </a:p>
          <a:p>
            <a:endParaRPr lang="es-ES" sz="2000" dirty="0"/>
          </a:p>
          <a:p>
            <a:endParaRPr lang="es-ES" sz="2000" dirty="0"/>
          </a:p>
          <a:p>
            <a:endParaRPr lang="es-PE" sz="2000" dirty="0"/>
          </a:p>
        </p:txBody>
      </p:sp>
      <p:sp>
        <p:nvSpPr>
          <p:cNvPr id="7" name="Título 6">
            <a:extLst>
              <a:ext uri="{FF2B5EF4-FFF2-40B4-BE49-F238E27FC236}">
                <a16:creationId xmlns:a16="http://schemas.microsoft.com/office/drawing/2014/main" id="{15BC0B86-6F06-D437-3998-DDC9967C05B0}"/>
              </a:ext>
            </a:extLst>
          </p:cNvPr>
          <p:cNvSpPr>
            <a:spLocks noGrp="1"/>
          </p:cNvSpPr>
          <p:nvPr>
            <p:ph type="title"/>
          </p:nvPr>
        </p:nvSpPr>
        <p:spPr/>
        <p:txBody>
          <a:bodyPr/>
          <a:lstStyle/>
          <a:p>
            <a:r>
              <a:rPr lang="es-PE" dirty="0"/>
              <a:t>ARQUITECTURA</a:t>
            </a:r>
          </a:p>
        </p:txBody>
      </p:sp>
      <p:pic>
        <p:nvPicPr>
          <p:cNvPr id="5122" name="Picture 2">
            <a:extLst>
              <a:ext uri="{FF2B5EF4-FFF2-40B4-BE49-F238E27FC236}">
                <a16:creationId xmlns:a16="http://schemas.microsoft.com/office/drawing/2014/main" id="{A5766A37-1FFB-6B71-A369-47628F2EFF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0068" y="2208621"/>
            <a:ext cx="5022273" cy="3585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893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DF4D8-CBBD-53F5-2568-3346E0C73C5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4C86FC95-4A3B-FC16-9BA7-0B7675BEF5E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7A8FC2DE-85DE-75F7-4424-2B483AD6C836}"/>
              </a:ext>
            </a:extLst>
          </p:cNvPr>
          <p:cNvSpPr>
            <a:spLocks noGrp="1"/>
          </p:cNvSpPr>
          <p:nvPr>
            <p:ph idx="1"/>
          </p:nvPr>
        </p:nvSpPr>
        <p:spPr>
          <a:xfrm>
            <a:off x="838200" y="1825625"/>
            <a:ext cx="6490200" cy="4351338"/>
          </a:xfrm>
        </p:spPr>
        <p:txBody>
          <a:bodyPr>
            <a:normAutofit/>
          </a:bodyPr>
          <a:lstStyle/>
          <a:p>
            <a:r>
              <a:rPr lang="es-ES" sz="2400" dirty="0"/>
              <a:t>Capa de Entrada (F1): Evita el Dilema de Saturación realizando un pre procesamiento de los datos(</a:t>
            </a:r>
            <a:r>
              <a:rPr lang="es-ES" sz="2400" dirty="0" err="1"/>
              <a:t>Nomalización</a:t>
            </a:r>
            <a:r>
              <a:rPr lang="es-ES" sz="2400" dirty="0"/>
              <a:t>)</a:t>
            </a:r>
          </a:p>
          <a:p>
            <a:r>
              <a:rPr lang="es-ES" sz="2400" dirty="0"/>
              <a:t>Capa Competitiva(F2): clasifica cualquier vector de entrada haciendo uso del privilegio de activación.</a:t>
            </a:r>
          </a:p>
          <a:p>
            <a:r>
              <a:rPr lang="es-ES" sz="2400" dirty="0"/>
              <a:t>La información Oscila hacia adelante y hacia atrás entre las capas de entrada y competencia, dando lugar a el aprendizaje o la adaptación</a:t>
            </a:r>
            <a:endParaRPr lang="es-PE" sz="2400" dirty="0"/>
          </a:p>
        </p:txBody>
      </p:sp>
      <p:sp>
        <p:nvSpPr>
          <p:cNvPr id="7" name="Título 6">
            <a:extLst>
              <a:ext uri="{FF2B5EF4-FFF2-40B4-BE49-F238E27FC236}">
                <a16:creationId xmlns:a16="http://schemas.microsoft.com/office/drawing/2014/main" id="{D2958CB3-E896-DEF1-F09F-D6FDAC30A336}"/>
              </a:ext>
            </a:extLst>
          </p:cNvPr>
          <p:cNvSpPr>
            <a:spLocks noGrp="1"/>
          </p:cNvSpPr>
          <p:nvPr>
            <p:ph type="title"/>
          </p:nvPr>
        </p:nvSpPr>
        <p:spPr/>
        <p:txBody>
          <a:bodyPr/>
          <a:lstStyle/>
          <a:p>
            <a:r>
              <a:rPr lang="es-PE" dirty="0"/>
              <a:t>ARQUITECTURA – FUNCIONAMIENTO</a:t>
            </a:r>
          </a:p>
        </p:txBody>
      </p:sp>
      <p:pic>
        <p:nvPicPr>
          <p:cNvPr id="6146" name="Picture 2">
            <a:extLst>
              <a:ext uri="{FF2B5EF4-FFF2-40B4-BE49-F238E27FC236}">
                <a16:creationId xmlns:a16="http://schemas.microsoft.com/office/drawing/2014/main" id="{A2818541-8953-3880-B821-DD00FB0AD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8400" y="1690688"/>
            <a:ext cx="4862330" cy="448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220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8E12D-2C08-F110-0392-E9D7F3CE3A0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21C08B4-BC13-EABC-3E1F-0611CA7E87F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29FFF574-F0B2-7EDE-F91F-E66CD5AFA9B2}"/>
              </a:ext>
            </a:extLst>
          </p:cNvPr>
          <p:cNvSpPr>
            <a:spLocks noGrp="1"/>
          </p:cNvSpPr>
          <p:nvPr>
            <p:ph idx="1"/>
          </p:nvPr>
        </p:nvSpPr>
        <p:spPr>
          <a:xfrm>
            <a:off x="7706419" y="1887971"/>
            <a:ext cx="4336071" cy="4351338"/>
          </a:xfrm>
        </p:spPr>
        <p:txBody>
          <a:bodyPr>
            <a:normAutofit/>
          </a:bodyPr>
          <a:lstStyle/>
          <a:p>
            <a:r>
              <a:rPr lang="es-ES" sz="2400" dirty="0"/>
              <a:t>F1,F2 capas (subsistema de atención)</a:t>
            </a:r>
          </a:p>
          <a:p>
            <a:r>
              <a:rPr lang="es-ES" sz="2400" dirty="0"/>
              <a:t>A sistema de orientación (</a:t>
            </a:r>
            <a:r>
              <a:rPr lang="es-ES" sz="2400" dirty="0" err="1"/>
              <a:t>Reset</a:t>
            </a:r>
            <a:r>
              <a:rPr lang="es-ES" sz="2400" dirty="0"/>
              <a:t>)</a:t>
            </a:r>
          </a:p>
          <a:p>
            <a:r>
              <a:rPr lang="es-ES" sz="2400" dirty="0"/>
              <a:t>G control de ganancia</a:t>
            </a:r>
          </a:p>
          <a:p>
            <a:r>
              <a:rPr lang="es-ES" sz="2400" dirty="0"/>
              <a:t>X,Y trama activación</a:t>
            </a:r>
          </a:p>
          <a:p>
            <a:r>
              <a:rPr lang="es-ES" sz="2400" dirty="0"/>
              <a:t>S,U salida de la capa/red</a:t>
            </a:r>
            <a:endParaRPr lang="es-PE" sz="2400" dirty="0"/>
          </a:p>
        </p:txBody>
      </p:sp>
      <p:sp>
        <p:nvSpPr>
          <p:cNvPr id="7" name="Título 6">
            <a:extLst>
              <a:ext uri="{FF2B5EF4-FFF2-40B4-BE49-F238E27FC236}">
                <a16:creationId xmlns:a16="http://schemas.microsoft.com/office/drawing/2014/main" id="{36916B6A-750A-F34A-4502-B258C8D0A366}"/>
              </a:ext>
            </a:extLst>
          </p:cNvPr>
          <p:cNvSpPr>
            <a:spLocks noGrp="1"/>
          </p:cNvSpPr>
          <p:nvPr>
            <p:ph type="title"/>
          </p:nvPr>
        </p:nvSpPr>
        <p:spPr/>
        <p:txBody>
          <a:bodyPr/>
          <a:lstStyle/>
          <a:p>
            <a:r>
              <a:rPr lang="es-PE" dirty="0"/>
              <a:t>FUNCIONAMIENTO</a:t>
            </a:r>
          </a:p>
        </p:txBody>
      </p:sp>
      <p:pic>
        <p:nvPicPr>
          <p:cNvPr id="7170" name="Picture 2">
            <a:extLst>
              <a:ext uri="{FF2B5EF4-FFF2-40B4-BE49-F238E27FC236}">
                <a16:creationId xmlns:a16="http://schemas.microsoft.com/office/drawing/2014/main" id="{DF301571-EA26-0907-DBAE-5EB757700D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79984"/>
            <a:ext cx="6868219"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5113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77CCF-D6DC-8ED3-F652-F09DECF3C28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E9C470B-BD0A-8C15-50B5-8D6BB62A69B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619BB700-932C-AFCA-851A-D20780C31949}"/>
              </a:ext>
            </a:extLst>
          </p:cNvPr>
          <p:cNvSpPr>
            <a:spLocks noGrp="1"/>
          </p:cNvSpPr>
          <p:nvPr>
            <p:ph idx="1"/>
          </p:nvPr>
        </p:nvSpPr>
        <p:spPr>
          <a:xfrm>
            <a:off x="838200" y="1825625"/>
            <a:ext cx="6020961" cy="4351338"/>
          </a:xfrm>
        </p:spPr>
        <p:txBody>
          <a:bodyPr>
            <a:normAutofit/>
          </a:bodyPr>
          <a:lstStyle/>
          <a:p>
            <a:r>
              <a:rPr lang="es-ES" sz="2000" dirty="0"/>
              <a:t>La red ART utiliza un aprendizaje no supervisado de tipo competitivo. Las neuronas de la capa de salida compiten por activarse y solo una de ellas permanece activa ante una determinada entrada a la red.</a:t>
            </a:r>
          </a:p>
          <a:p>
            <a:r>
              <a:rPr lang="es-ES" sz="2000" dirty="0"/>
              <a:t>En este tipo de redes se pueden dar dos tipos de aprendizaje (Lento y Rápido).</a:t>
            </a:r>
          </a:p>
          <a:p>
            <a:r>
              <a:rPr lang="es-ES" sz="2000" dirty="0"/>
              <a:t>El aprendizaje lento ocurre cuando una información de entrada es asociada a una de las categorías existentes.</a:t>
            </a:r>
          </a:p>
          <a:p>
            <a:r>
              <a:rPr lang="es-ES" sz="2000" dirty="0"/>
              <a:t>El aprendizaje rápido se da cuando se establece una nueva categoría.</a:t>
            </a:r>
          </a:p>
          <a:p>
            <a:endParaRPr lang="es-PE" sz="2000" dirty="0"/>
          </a:p>
        </p:txBody>
      </p:sp>
      <p:sp>
        <p:nvSpPr>
          <p:cNvPr id="7" name="Título 6">
            <a:extLst>
              <a:ext uri="{FF2B5EF4-FFF2-40B4-BE49-F238E27FC236}">
                <a16:creationId xmlns:a16="http://schemas.microsoft.com/office/drawing/2014/main" id="{3DB2D202-6B64-6DC1-439D-C6F7F64F6265}"/>
              </a:ext>
            </a:extLst>
          </p:cNvPr>
          <p:cNvSpPr>
            <a:spLocks noGrp="1"/>
          </p:cNvSpPr>
          <p:nvPr>
            <p:ph type="title"/>
          </p:nvPr>
        </p:nvSpPr>
        <p:spPr/>
        <p:txBody>
          <a:bodyPr/>
          <a:lstStyle/>
          <a:p>
            <a:r>
              <a:rPr lang="es-PE" dirty="0"/>
              <a:t>APRENDIZAJE</a:t>
            </a:r>
          </a:p>
        </p:txBody>
      </p:sp>
      <p:pic>
        <p:nvPicPr>
          <p:cNvPr id="8194" name="Picture 2">
            <a:extLst>
              <a:ext uri="{FF2B5EF4-FFF2-40B4-BE49-F238E27FC236}">
                <a16:creationId xmlns:a16="http://schemas.microsoft.com/office/drawing/2014/main" id="{99A157B7-6918-C777-B802-D7E41E4F25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134" t="19583" r="25067" b="21111"/>
          <a:stretch>
            <a:fillRect/>
          </a:stretch>
        </p:blipFill>
        <p:spPr bwMode="auto">
          <a:xfrm>
            <a:off x="6859161" y="1825624"/>
            <a:ext cx="4774039" cy="4351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966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418DC-DA42-6FBB-8EF2-D2DC8F67944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6C1E43B8-53E7-5729-C9D5-782E7EC9821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D456E2FE-BD78-4666-36F5-2F4260DE40EA}"/>
              </a:ext>
            </a:extLst>
          </p:cNvPr>
          <p:cNvSpPr>
            <a:spLocks noGrp="1"/>
          </p:cNvSpPr>
          <p:nvPr>
            <p:ph idx="1"/>
          </p:nvPr>
        </p:nvSpPr>
        <p:spPr/>
        <p:txBody>
          <a:bodyPr>
            <a:normAutofit lnSpcReduction="10000"/>
          </a:bodyPr>
          <a:lstStyle/>
          <a:p>
            <a:r>
              <a:rPr lang="es-ES" sz="2400" dirty="0"/>
              <a:t>Estas limitaciones se refieren, sobre todo, a su dependencia del respecto del tipo y orden de las informaciones aprendidas.</a:t>
            </a:r>
          </a:p>
          <a:p>
            <a:r>
              <a:rPr lang="es-ES" sz="2400" dirty="0"/>
              <a:t>Se trata de una red con gran sensibilidad ante el ruido o distorsión, también ante el desplazamiento de los datos de entrada.</a:t>
            </a:r>
          </a:p>
          <a:p>
            <a:r>
              <a:rPr lang="es-ES" sz="2400" dirty="0"/>
              <a:t>También este modelo presenta el problema de la ineficiencia en cuanto a las necesidades requeridas para el almacenamiento de los pesos de las conexiones entre neuronas.</a:t>
            </a:r>
          </a:p>
          <a:p>
            <a:r>
              <a:rPr lang="es-ES" sz="2400" dirty="0"/>
              <a:t>Además, otra evidente limitación del modelo original es su carácter discreto, obligando a trabajar con informaciones binarias. </a:t>
            </a:r>
          </a:p>
          <a:p>
            <a:r>
              <a:rPr lang="es-ES" sz="2400" dirty="0"/>
              <a:t>Este problema fue rápidamente solventado por sus creadores a través de una extensión continua del modelo, al que denominaron ART2 para diferenciarlo del original, que suele ser conocido como ART1.</a:t>
            </a:r>
          </a:p>
          <a:p>
            <a:endParaRPr lang="es-PE" sz="2400" dirty="0"/>
          </a:p>
        </p:txBody>
      </p:sp>
      <p:sp>
        <p:nvSpPr>
          <p:cNvPr id="7" name="Título 6">
            <a:extLst>
              <a:ext uri="{FF2B5EF4-FFF2-40B4-BE49-F238E27FC236}">
                <a16:creationId xmlns:a16="http://schemas.microsoft.com/office/drawing/2014/main" id="{B8F58C2D-6FF8-D9D9-9939-FA17428F3CAC}"/>
              </a:ext>
            </a:extLst>
          </p:cNvPr>
          <p:cNvSpPr>
            <a:spLocks noGrp="1"/>
          </p:cNvSpPr>
          <p:nvPr>
            <p:ph type="title"/>
          </p:nvPr>
        </p:nvSpPr>
        <p:spPr/>
        <p:txBody>
          <a:bodyPr/>
          <a:lstStyle/>
          <a:p>
            <a:r>
              <a:rPr lang="es-ES" dirty="0"/>
              <a:t>LIMITACIONES DE LA RED ART</a:t>
            </a:r>
            <a:endParaRPr lang="es-PE" dirty="0"/>
          </a:p>
        </p:txBody>
      </p:sp>
    </p:spTree>
    <p:extLst>
      <p:ext uri="{BB962C8B-B14F-4D97-AF65-F5344CB8AC3E}">
        <p14:creationId xmlns:p14="http://schemas.microsoft.com/office/powerpoint/2010/main" val="587411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79C31-0C3B-02DA-F318-AD9144D7B450}"/>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51694D7-CB4B-BA3F-E571-C840D4DD4D8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7" name="Título 6">
            <a:extLst>
              <a:ext uri="{FF2B5EF4-FFF2-40B4-BE49-F238E27FC236}">
                <a16:creationId xmlns:a16="http://schemas.microsoft.com/office/drawing/2014/main" id="{724D292C-519F-014B-DDD0-77E547B52A12}"/>
              </a:ext>
            </a:extLst>
          </p:cNvPr>
          <p:cNvSpPr>
            <a:spLocks noGrp="1"/>
          </p:cNvSpPr>
          <p:nvPr>
            <p:ph type="title"/>
          </p:nvPr>
        </p:nvSpPr>
        <p:spPr/>
        <p:txBody>
          <a:bodyPr/>
          <a:lstStyle/>
          <a:p>
            <a:r>
              <a:rPr lang="es-PE" dirty="0"/>
              <a:t>TIPOS DE ART</a:t>
            </a:r>
          </a:p>
        </p:txBody>
      </p:sp>
      <p:pic>
        <p:nvPicPr>
          <p:cNvPr id="9218" name="Picture 2">
            <a:extLst>
              <a:ext uri="{FF2B5EF4-FFF2-40B4-BE49-F238E27FC236}">
                <a16:creationId xmlns:a16="http://schemas.microsoft.com/office/drawing/2014/main" id="{06055D5B-A1B9-08C3-998D-02D6E0D2ED1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73440" y="1690688"/>
            <a:ext cx="7845120" cy="5021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185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8265C-2BF9-C664-2D0C-FEA889AECA95}"/>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C0EE8E4C-1B81-B50F-1591-072D2958130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4" name="Marcador de contenido 3">
            <a:extLst>
              <a:ext uri="{FF2B5EF4-FFF2-40B4-BE49-F238E27FC236}">
                <a16:creationId xmlns:a16="http://schemas.microsoft.com/office/drawing/2014/main" id="{F1D5ABAF-1F6B-C89B-C40F-5D4FD2080E84}"/>
              </a:ext>
            </a:extLst>
          </p:cNvPr>
          <p:cNvSpPr>
            <a:spLocks noGrp="1"/>
          </p:cNvSpPr>
          <p:nvPr>
            <p:ph idx="1"/>
          </p:nvPr>
        </p:nvSpPr>
        <p:spPr/>
        <p:txBody>
          <a:bodyPr>
            <a:normAutofit/>
          </a:bodyPr>
          <a:lstStyle/>
          <a:p>
            <a:r>
              <a:rPr lang="es-ES" dirty="0"/>
              <a:t>Reconocimiento de Imágenes</a:t>
            </a:r>
          </a:p>
          <a:p>
            <a:pPr lvl="1"/>
            <a:r>
              <a:rPr lang="es-ES" dirty="0"/>
              <a:t>Alta eficacia en reconocimiento de caracteres</a:t>
            </a:r>
          </a:p>
          <a:p>
            <a:r>
              <a:rPr lang="es-ES" dirty="0"/>
              <a:t>Reconocimiento de Señales Analógicas (ART2)</a:t>
            </a:r>
          </a:p>
          <a:p>
            <a:pPr lvl="1"/>
            <a:r>
              <a:rPr lang="es-ES" dirty="0"/>
              <a:t>Reconocimiento de Voz -Electrocardiogramas</a:t>
            </a:r>
          </a:p>
          <a:p>
            <a:r>
              <a:rPr lang="es-ES" dirty="0"/>
              <a:t>Reconocimiento de olores </a:t>
            </a:r>
          </a:p>
          <a:p>
            <a:pPr lvl="1"/>
            <a:r>
              <a:rPr lang="es-ES" dirty="0"/>
              <a:t>Campo Ambiental -&gt; detección de sustancias toxicas </a:t>
            </a:r>
          </a:p>
          <a:p>
            <a:pPr lvl="1"/>
            <a:r>
              <a:rPr lang="es-ES" dirty="0"/>
              <a:t>Campo de Medicina-&gt; detección de enfermedades mediante aire exhalado</a:t>
            </a:r>
          </a:p>
          <a:p>
            <a:r>
              <a:rPr lang="es-ES" dirty="0"/>
              <a:t>Industria Alimenticia -&gt; detección de fermentación en los alimentos y calidad de los mismo según su olor</a:t>
            </a:r>
          </a:p>
          <a:p>
            <a:endParaRPr lang="es-PE" dirty="0"/>
          </a:p>
        </p:txBody>
      </p:sp>
      <p:sp>
        <p:nvSpPr>
          <p:cNvPr id="7" name="Título 6">
            <a:extLst>
              <a:ext uri="{FF2B5EF4-FFF2-40B4-BE49-F238E27FC236}">
                <a16:creationId xmlns:a16="http://schemas.microsoft.com/office/drawing/2014/main" id="{93347A9D-E1C7-DD2F-D239-325C23B3E822}"/>
              </a:ext>
            </a:extLst>
          </p:cNvPr>
          <p:cNvSpPr>
            <a:spLocks noGrp="1"/>
          </p:cNvSpPr>
          <p:nvPr>
            <p:ph type="title"/>
          </p:nvPr>
        </p:nvSpPr>
        <p:spPr/>
        <p:txBody>
          <a:bodyPr/>
          <a:lstStyle/>
          <a:p>
            <a:r>
              <a:rPr lang="es-PE" dirty="0"/>
              <a:t>APLICACIONES</a:t>
            </a:r>
          </a:p>
        </p:txBody>
      </p:sp>
    </p:spTree>
    <p:extLst>
      <p:ext uri="{BB962C8B-B14F-4D97-AF65-F5344CB8AC3E}">
        <p14:creationId xmlns:p14="http://schemas.microsoft.com/office/powerpoint/2010/main" val="2594535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A2C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F766B10-B78E-71CE-13E4-410FD260DCF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67535" y="2445037"/>
            <a:ext cx="4519873" cy="1544922"/>
          </a:xfrm>
          <a:prstGeom prst="rect">
            <a:avLst/>
          </a:prstGeom>
        </p:spPr>
      </p:pic>
    </p:spTree>
    <p:extLst>
      <p:ext uri="{BB962C8B-B14F-4D97-AF65-F5344CB8AC3E}">
        <p14:creationId xmlns:p14="http://schemas.microsoft.com/office/powerpoint/2010/main" val="50485181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20087</TotalTime>
  <Words>949</Words>
  <Application>Microsoft Office PowerPoint</Application>
  <PresentationFormat>Panorámica</PresentationFormat>
  <Paragraphs>63</Paragraphs>
  <Slides>15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Calibri</vt:lpstr>
      <vt:lpstr>Calibri Light</vt:lpstr>
      <vt:lpstr>Tema de Office</vt:lpstr>
      <vt:lpstr>Presentación de PowerPoint</vt:lpstr>
      <vt:lpstr>Adaptive Resonance Theory(ART)</vt:lpstr>
      <vt:lpstr>CREADORES</vt:lpstr>
      <vt:lpstr>HISTORIA</vt:lpstr>
      <vt:lpstr>CARACTERISTICAS</vt:lpstr>
      <vt:lpstr>Dilema de la estabilidad y la plasticidad</vt:lpstr>
      <vt:lpstr>ARQUITECTURA DE LA RED ART 1</vt:lpstr>
      <vt:lpstr>ARQUITECTURA</vt:lpstr>
      <vt:lpstr>ARQUITECTURA – FUNCIONAMIENTO</vt:lpstr>
      <vt:lpstr>FUNCIONAMIENTO</vt:lpstr>
      <vt:lpstr>APRENDIZAJE</vt:lpstr>
      <vt:lpstr>LIMITACIONES DE LA RED ART</vt:lpstr>
      <vt:lpstr>TIPOS DE ART</vt:lpstr>
      <vt:lpstr>APLICACIONES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LAURA</dc:creator>
  <cp:lastModifiedBy>Juancarlos Santana Huamán</cp:lastModifiedBy>
  <cp:revision>42</cp:revision>
  <dcterms:created xsi:type="dcterms:W3CDTF">2025-01-24T21:00:07Z</dcterms:created>
  <dcterms:modified xsi:type="dcterms:W3CDTF">2025-11-03T02:58:42Z</dcterms:modified>
</cp:coreProperties>
</file>