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97" r:id="rId4"/>
    <p:sldId id="284" r:id="rId5"/>
    <p:sldId id="285" r:id="rId6"/>
    <p:sldId id="286" r:id="rId7"/>
    <p:sldId id="287" r:id="rId8"/>
    <p:sldId id="288" r:id="rId9"/>
    <p:sldId id="289" r:id="rId10"/>
    <p:sldId id="290" r:id="rId11"/>
    <p:sldId id="274" r:id="rId12"/>
    <p:sldId id="275" r:id="rId13"/>
    <p:sldId id="276" r:id="rId14"/>
    <p:sldId id="277" r:id="rId15"/>
    <p:sldId id="278" r:id="rId16"/>
    <p:sldId id="279" r:id="rId17"/>
    <p:sldId id="280" r:id="rId18"/>
    <p:sldId id="281" r:id="rId19"/>
    <p:sldId id="282" r:id="rId20"/>
    <p:sldId id="292" r:id="rId21"/>
    <p:sldId id="293" r:id="rId22"/>
    <p:sldId id="258" r:id="rId2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C5"/>
    <a:srgbClr val="004774"/>
    <a:srgbClr val="0680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48" autoAdjust="0"/>
    <p:restoredTop sz="95033" autoAdjust="0"/>
  </p:normalViewPr>
  <p:slideViewPr>
    <p:cSldViewPr snapToGrid="0">
      <p:cViewPr varScale="1">
        <p:scale>
          <a:sx n="75" d="100"/>
          <a:sy n="75" d="100"/>
        </p:scale>
        <p:origin x="57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B1BA3-CD85-C602-5811-C976B3BEFCE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397E8305-2B4A-B4B2-86F4-B2F7FD0D61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1AE48B8E-AE04-FDB8-2C77-473ECF0F3238}"/>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5" name="Marcador de pie de página 4">
            <a:extLst>
              <a:ext uri="{FF2B5EF4-FFF2-40B4-BE49-F238E27FC236}">
                <a16:creationId xmlns:a16="http://schemas.microsoft.com/office/drawing/2014/main" id="{55768632-E449-9D6C-4C70-79FA8CBF0C2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75CC66E-941C-1197-2CFE-8FCBB84D848C}"/>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485703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A712BC-4E1B-DB65-84F1-3F1CA49180DA}"/>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3D13760E-B5C0-6783-9918-9CF17D7DB01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A542BEF-6CA9-32F2-03B6-84858EB47915}"/>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5" name="Marcador de pie de página 4">
            <a:extLst>
              <a:ext uri="{FF2B5EF4-FFF2-40B4-BE49-F238E27FC236}">
                <a16:creationId xmlns:a16="http://schemas.microsoft.com/office/drawing/2014/main" id="{8271C1B8-0BEF-4ABC-D919-23182A93255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E1A49A1-3188-2FC9-A8F4-03CF3ED46DF6}"/>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725887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886070-B1C3-3705-40AF-2A50E8B91BA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5E498F2B-C14B-0480-C3AE-0C4E16DD8F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C5A4F60-30D0-1665-504E-FB6EA8E708F7}"/>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5" name="Marcador de pie de página 4">
            <a:extLst>
              <a:ext uri="{FF2B5EF4-FFF2-40B4-BE49-F238E27FC236}">
                <a16:creationId xmlns:a16="http://schemas.microsoft.com/office/drawing/2014/main" id="{54A1DFB7-8CD2-EAA0-977F-E609713DC25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DD733BB-8455-53E4-B4AE-EBADD46FE5A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8744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5EAA83-5115-7945-1F30-92DDF538769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19D5DE9-102E-AC46-FB04-39294B04A3F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C8F5E287-76E7-93FF-2750-3502011A61D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242E2857-8D62-4C6A-8BA0-CF3F44758C43}"/>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6" name="Marcador de pie de página 5">
            <a:extLst>
              <a:ext uri="{FF2B5EF4-FFF2-40B4-BE49-F238E27FC236}">
                <a16:creationId xmlns:a16="http://schemas.microsoft.com/office/drawing/2014/main" id="{42099B49-8D12-D52E-C297-65646FEE1C2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59561EAA-7677-351F-5090-8431F42C71B5}"/>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190814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B82A8E-A4DD-DF62-B454-B1F3332100D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199B1E0E-D3DC-C284-8315-2C69EF5140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9033F44-05A4-EDEE-4EC5-7F54A74FE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8EE78B8-D89A-A4B7-11BB-019D87676E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0B51708-7ADF-66CF-D880-1935E1CD8A2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2B2B085-2246-DA3B-2183-465E45CCFF43}"/>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8" name="Marcador de pie de página 7">
            <a:extLst>
              <a:ext uri="{FF2B5EF4-FFF2-40B4-BE49-F238E27FC236}">
                <a16:creationId xmlns:a16="http://schemas.microsoft.com/office/drawing/2014/main" id="{EAF5A543-BB02-298E-F4B6-0467703B6B39}"/>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5C65F4F-A7CA-F0DA-5B61-494797268D2A}"/>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299553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E8F346-1FDE-839E-C995-FB930187F42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04805191-4C9B-E283-603B-253C264E47A8}"/>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4" name="Marcador de pie de página 3">
            <a:extLst>
              <a:ext uri="{FF2B5EF4-FFF2-40B4-BE49-F238E27FC236}">
                <a16:creationId xmlns:a16="http://schemas.microsoft.com/office/drawing/2014/main" id="{4719F6A8-9F1F-8B0E-38D0-C7F87BCAEB64}"/>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A20BD974-32C3-4316-CB13-081E74AC2725}"/>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468354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E731BE2-4614-9B43-A4FE-1F2BEEF83F53}"/>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3" name="Marcador de pie de página 2">
            <a:extLst>
              <a:ext uri="{FF2B5EF4-FFF2-40B4-BE49-F238E27FC236}">
                <a16:creationId xmlns:a16="http://schemas.microsoft.com/office/drawing/2014/main" id="{1A5B48FD-9ADB-B0C3-BD72-F9892F75E2E5}"/>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8ECFF6A-F150-70DD-420F-AAA9AF3B2836}"/>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1591942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CC5459-7FB5-879C-2FEB-4E92838F71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F3AFE395-6F31-D91E-F5F6-BCFCBA53E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A697E5FB-55C6-28AE-7987-A3BC7CE97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2D507B-47C8-7F5E-4707-C4F60A834596}"/>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6" name="Marcador de pie de página 5">
            <a:extLst>
              <a:ext uri="{FF2B5EF4-FFF2-40B4-BE49-F238E27FC236}">
                <a16:creationId xmlns:a16="http://schemas.microsoft.com/office/drawing/2014/main" id="{995F8DE1-A7CD-2ADB-4D83-EBBCEC9FD33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7D2EE05B-8067-DEB5-361F-233626B7F1BB}"/>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1606075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F06F3-FE1E-5E9C-4924-80B3F58E68D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ABBADCD7-EECE-AFCA-E7E8-049192FB21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A571CD8E-5484-FD42-C8C6-B3A22B0BF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B2448C-B054-2753-A9C2-927795BDA824}"/>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6" name="Marcador de pie de página 5">
            <a:extLst>
              <a:ext uri="{FF2B5EF4-FFF2-40B4-BE49-F238E27FC236}">
                <a16:creationId xmlns:a16="http://schemas.microsoft.com/office/drawing/2014/main" id="{81EFD349-6833-B875-9F11-C77DF23507E1}"/>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0CECD156-92DD-29A2-A71D-958F1865D5FE}"/>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316113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D2878-0B8A-8748-B16F-A768D907EDC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4F56010-7CA5-E42E-BDDB-6A40036294E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56AFF98-3712-E10A-F4EE-05BF994ADE0E}"/>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5" name="Marcador de pie de página 4">
            <a:extLst>
              <a:ext uri="{FF2B5EF4-FFF2-40B4-BE49-F238E27FC236}">
                <a16:creationId xmlns:a16="http://schemas.microsoft.com/office/drawing/2014/main" id="{6EF157AB-C1A2-A028-0D72-9C354DD3A0F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3AD23C2-E2CA-6479-54B8-17DC7D098A7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3032110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210E389-3C68-17EA-AFCA-D4721369A79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F22A9995-E221-8982-AA38-AED1A775412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1B21D78D-9CCA-14AA-0EE3-756A9114857B}"/>
              </a:ext>
            </a:extLst>
          </p:cNvPr>
          <p:cNvSpPr>
            <a:spLocks noGrp="1"/>
          </p:cNvSpPr>
          <p:nvPr>
            <p:ph type="dt" sz="half" idx="10"/>
          </p:nvPr>
        </p:nvSpPr>
        <p:spPr/>
        <p:txBody>
          <a:bodyPr/>
          <a:lstStyle/>
          <a:p>
            <a:fld id="{6209461D-A67A-4686-80D4-2D0D328371F0}" type="datetimeFigureOut">
              <a:rPr lang="es-PE" smtClean="0"/>
              <a:t>27/10/2025</a:t>
            </a:fld>
            <a:endParaRPr lang="es-PE"/>
          </a:p>
        </p:txBody>
      </p:sp>
      <p:sp>
        <p:nvSpPr>
          <p:cNvPr id="5" name="Marcador de pie de página 4">
            <a:extLst>
              <a:ext uri="{FF2B5EF4-FFF2-40B4-BE49-F238E27FC236}">
                <a16:creationId xmlns:a16="http://schemas.microsoft.com/office/drawing/2014/main" id="{22940F45-B223-2DC0-984B-68D9DF4872B4}"/>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AD4BDA-B60D-1A4F-E658-E0E76B845CC4}"/>
              </a:ext>
            </a:extLst>
          </p:cNvPr>
          <p:cNvSpPr>
            <a:spLocks noGrp="1"/>
          </p:cNvSpPr>
          <p:nvPr>
            <p:ph type="sldNum" sz="quarter" idx="12"/>
          </p:nvPr>
        </p:nvSpPr>
        <p:spPr/>
        <p:txBody>
          <a:bodyPr/>
          <a:lstStyle/>
          <a:p>
            <a:fld id="{DA2E7C02-8D67-46A3-A615-2420C0D66041}" type="slidenum">
              <a:rPr lang="es-PE" smtClean="0"/>
              <a:t>‹Nº›</a:t>
            </a:fld>
            <a:endParaRPr lang="es-PE"/>
          </a:p>
        </p:txBody>
      </p:sp>
    </p:spTree>
    <p:extLst>
      <p:ext uri="{BB962C8B-B14F-4D97-AF65-F5344CB8AC3E}">
        <p14:creationId xmlns:p14="http://schemas.microsoft.com/office/powerpoint/2010/main" val="587985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F0435E5-E59E-03F1-2C25-F5FFD96A8C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C07DEAB-BE2E-803C-618A-A0CEF42D6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5D585EE-8F36-E7DC-0A3C-5D1EA4119C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09461D-A67A-4686-80D4-2D0D328371F0}" type="datetimeFigureOut">
              <a:rPr lang="es-PE" smtClean="0"/>
              <a:t>27/10/2025</a:t>
            </a:fld>
            <a:endParaRPr lang="es-PE"/>
          </a:p>
        </p:txBody>
      </p:sp>
      <p:sp>
        <p:nvSpPr>
          <p:cNvPr id="5" name="Marcador de pie de página 4">
            <a:extLst>
              <a:ext uri="{FF2B5EF4-FFF2-40B4-BE49-F238E27FC236}">
                <a16:creationId xmlns:a16="http://schemas.microsoft.com/office/drawing/2014/main" id="{0A36D1E0-474D-104A-47A3-A21A6C2AFF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0AA08DBA-7E83-BCE4-EC19-034E750079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2E7C02-8D67-46A3-A615-2420C0D66041}" type="slidenum">
              <a:rPr lang="es-PE" smtClean="0"/>
              <a:t>‹Nº›</a:t>
            </a:fld>
            <a:endParaRPr lang="es-PE"/>
          </a:p>
        </p:txBody>
      </p:sp>
    </p:spTree>
    <p:extLst>
      <p:ext uri="{BB962C8B-B14F-4D97-AF65-F5344CB8AC3E}">
        <p14:creationId xmlns:p14="http://schemas.microsoft.com/office/powerpoint/2010/main" val="393564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C39C8B-D0D3-8EB3-EA3B-8240BE435F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428"/>
            <a:ext cx="12192000" cy="6857143"/>
          </a:xfrm>
          <a:prstGeom prst="rect">
            <a:avLst/>
          </a:prstGeom>
        </p:spPr>
      </p:pic>
      <p:sp>
        <p:nvSpPr>
          <p:cNvPr id="4" name="CuadroTexto 3">
            <a:extLst>
              <a:ext uri="{FF2B5EF4-FFF2-40B4-BE49-F238E27FC236}">
                <a16:creationId xmlns:a16="http://schemas.microsoft.com/office/drawing/2014/main" id="{E28448E5-E694-A653-D885-A2320D68232F}"/>
              </a:ext>
            </a:extLst>
          </p:cNvPr>
          <p:cNvSpPr txBox="1"/>
          <p:nvPr/>
        </p:nvSpPr>
        <p:spPr>
          <a:xfrm>
            <a:off x="5751444" y="2902227"/>
            <a:ext cx="5626601" cy="1754326"/>
          </a:xfrm>
          <a:prstGeom prst="rect">
            <a:avLst/>
          </a:prstGeom>
          <a:noFill/>
        </p:spPr>
        <p:txBody>
          <a:bodyPr wrap="square" rtlCol="0">
            <a:spAutoFit/>
          </a:bodyPr>
          <a:lstStyle/>
          <a:p>
            <a:r>
              <a:rPr lang="es-ES" sz="5400" b="1" dirty="0">
                <a:solidFill>
                  <a:schemeClr val="bg1"/>
                </a:solidFill>
              </a:rPr>
              <a:t>Inteligencia Artificial</a:t>
            </a:r>
            <a:endParaRPr lang="es-PE" sz="5400" b="1" dirty="0">
              <a:solidFill>
                <a:schemeClr val="bg1"/>
              </a:solidFill>
            </a:endParaRPr>
          </a:p>
        </p:txBody>
      </p:sp>
      <p:sp>
        <p:nvSpPr>
          <p:cNvPr id="2" name="CuadroTexto 1">
            <a:extLst>
              <a:ext uri="{FF2B5EF4-FFF2-40B4-BE49-F238E27FC236}">
                <a16:creationId xmlns:a16="http://schemas.microsoft.com/office/drawing/2014/main" id="{A4540883-D68C-205C-2821-DEB9A86C42FD}"/>
              </a:ext>
            </a:extLst>
          </p:cNvPr>
          <p:cNvSpPr txBox="1"/>
          <p:nvPr/>
        </p:nvSpPr>
        <p:spPr>
          <a:xfrm>
            <a:off x="5751443" y="4656553"/>
            <a:ext cx="5626601" cy="707886"/>
          </a:xfrm>
          <a:prstGeom prst="rect">
            <a:avLst/>
          </a:prstGeom>
          <a:noFill/>
        </p:spPr>
        <p:txBody>
          <a:bodyPr wrap="square" rtlCol="0">
            <a:spAutoFit/>
          </a:bodyPr>
          <a:lstStyle/>
          <a:p>
            <a:r>
              <a:rPr lang="es-ES" sz="2000" b="1" dirty="0">
                <a:solidFill>
                  <a:schemeClr val="bg1"/>
                </a:solidFill>
              </a:rPr>
              <a:t>Ing. Juancarlos Santana Huamán</a:t>
            </a:r>
          </a:p>
          <a:p>
            <a:r>
              <a:rPr lang="es-ES" sz="2000" b="1" dirty="0">
                <a:solidFill>
                  <a:schemeClr val="bg1"/>
                </a:solidFill>
              </a:rPr>
              <a:t>jsantana@ucss.edu.pe</a:t>
            </a:r>
            <a:endParaRPr lang="es-PE" sz="2000" b="1" dirty="0">
              <a:solidFill>
                <a:schemeClr val="bg1"/>
              </a:solidFill>
            </a:endParaRPr>
          </a:p>
        </p:txBody>
      </p:sp>
    </p:spTree>
    <p:extLst>
      <p:ext uri="{BB962C8B-B14F-4D97-AF65-F5344CB8AC3E}">
        <p14:creationId xmlns:p14="http://schemas.microsoft.com/office/powerpoint/2010/main" val="152266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78F42-22E7-9356-09D8-5B065AB6B3BA}"/>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C6BFD66-F536-57AD-16DB-8CCEE01C8C5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E67619D8-F866-CB67-E8DE-38A7AA46D58C}"/>
              </a:ext>
            </a:extLst>
          </p:cNvPr>
          <p:cNvSpPr>
            <a:spLocks noGrp="1"/>
          </p:cNvSpPr>
          <p:nvPr>
            <p:ph idx="1"/>
          </p:nvPr>
        </p:nvSpPr>
        <p:spPr>
          <a:xfrm>
            <a:off x="838200" y="1825625"/>
            <a:ext cx="10515600" cy="4504055"/>
          </a:xfrm>
        </p:spPr>
        <p:txBody>
          <a:bodyPr>
            <a:normAutofit/>
          </a:bodyPr>
          <a:lstStyle/>
          <a:p>
            <a:r>
              <a:rPr lang="es-ES" sz="2000" dirty="0"/>
              <a:t>Los mapas autoorganizados (SOM) fueron introducidos en la década de 1980 por el informático finlandés </a:t>
            </a:r>
            <a:r>
              <a:rPr lang="es-ES" sz="2000" dirty="0" err="1"/>
              <a:t>Teuvo</a:t>
            </a:r>
            <a:r>
              <a:rPr lang="es-ES" sz="2000" dirty="0"/>
              <a:t> </a:t>
            </a:r>
            <a:r>
              <a:rPr lang="es-ES" sz="2000" dirty="0" err="1"/>
              <a:t>Kalevi</a:t>
            </a:r>
            <a:r>
              <a:rPr lang="es-ES" sz="2000" dirty="0"/>
              <a:t> </a:t>
            </a:r>
            <a:r>
              <a:rPr lang="es-ES" sz="2000" dirty="0" err="1"/>
              <a:t>Kohonen</a:t>
            </a:r>
            <a:r>
              <a:rPr lang="es-ES" sz="2000" dirty="0"/>
              <a:t>, también conocido como el Mapa de </a:t>
            </a:r>
            <a:r>
              <a:rPr lang="es-ES" sz="2000" dirty="0" err="1"/>
              <a:t>Kohonen</a:t>
            </a:r>
            <a:r>
              <a:rPr lang="es-ES" sz="2000" dirty="0"/>
              <a:t> en su honor. Los mapas autoorganizados son un ejemplo de redes neuronales artificiales que reducen la dimensionalidad de los datos mediante redes neuronales autoorganizadas que facilitan el procesamiento basado en el conocimiento. Inspirándose en la estructura y el funcionamiento del sistema neuronal humano, las redes neuronales procesan y desarrollan algoritmos para desentrañar patrones, correlaciones y problemas complejos.</a:t>
            </a:r>
          </a:p>
          <a:p>
            <a:r>
              <a:rPr lang="es-ES" sz="2000" dirty="0"/>
              <a:t>Los mapas autoorganizados son redes neuronales no supervisadas entrenadas mediante algoritmos de aprendizaje competitivo no supervisado. Las redes desarrollan sus clasificaciones sin ninguna salida externa o específica. Por lo tanto, son autoorganizadas.</a:t>
            </a:r>
          </a:p>
          <a:p>
            <a:r>
              <a:rPr lang="es-ES" sz="2000" dirty="0"/>
              <a:t>Los mapas constan de dos capas: la de entrada y la de salida. Mediante la agrupación y el mapeo, toman conjuntos de datos de mayor dimensión y los reducen a una representación discretizada de menor dimensión, generalmente bidimensional, denominada mapa. Esto ayuda a simplificar datos complejos multidimensionales, a la vez que conserva las propiedades topológicas de la capa de entrada. </a:t>
            </a:r>
            <a:endParaRPr lang="es-PE" sz="2000" dirty="0"/>
          </a:p>
        </p:txBody>
      </p:sp>
      <p:sp>
        <p:nvSpPr>
          <p:cNvPr id="8" name="Título 7">
            <a:extLst>
              <a:ext uri="{FF2B5EF4-FFF2-40B4-BE49-F238E27FC236}">
                <a16:creationId xmlns:a16="http://schemas.microsoft.com/office/drawing/2014/main" id="{0A99E3C8-2386-697E-3856-4206C7AAD4D0}"/>
              </a:ext>
            </a:extLst>
          </p:cNvPr>
          <p:cNvSpPr>
            <a:spLocks noGrp="1"/>
          </p:cNvSpPr>
          <p:nvPr>
            <p:ph type="title"/>
          </p:nvPr>
        </p:nvSpPr>
        <p:spPr/>
        <p:txBody>
          <a:bodyPr/>
          <a:lstStyle/>
          <a:p>
            <a:r>
              <a:rPr lang="es-ES" b="1" dirty="0"/>
              <a:t>¿Qué es un mapa autoorganizado?</a:t>
            </a:r>
            <a:endParaRPr lang="es-PE" dirty="0"/>
          </a:p>
        </p:txBody>
      </p:sp>
    </p:spTree>
    <p:extLst>
      <p:ext uri="{BB962C8B-B14F-4D97-AF65-F5344CB8AC3E}">
        <p14:creationId xmlns:p14="http://schemas.microsoft.com/office/powerpoint/2010/main" val="4218512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F411F-8E87-081F-D1BC-084810554996}"/>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B1A2FB5A-7CD5-5975-AB61-68F8A9E169D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pic>
        <p:nvPicPr>
          <p:cNvPr id="2050" name="Picture 2" descr="¿Qué es un mapa autoorganizado?">
            <a:extLst>
              <a:ext uri="{FF2B5EF4-FFF2-40B4-BE49-F238E27FC236}">
                <a16:creationId xmlns:a16="http://schemas.microsoft.com/office/drawing/2014/main" id="{E23C46CC-1AF4-3DD9-09CE-333BC9C447AC}"/>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5965" t="18519" r="1762" b="6063"/>
          <a:stretch>
            <a:fillRect/>
          </a:stretch>
        </p:blipFill>
        <p:spPr bwMode="auto">
          <a:xfrm>
            <a:off x="2280919" y="1690688"/>
            <a:ext cx="7630160" cy="488028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7">
            <a:extLst>
              <a:ext uri="{FF2B5EF4-FFF2-40B4-BE49-F238E27FC236}">
                <a16:creationId xmlns:a16="http://schemas.microsoft.com/office/drawing/2014/main" id="{2825E5A5-2367-2FFE-327E-D4515BD3C9EC}"/>
              </a:ext>
            </a:extLst>
          </p:cNvPr>
          <p:cNvSpPr>
            <a:spLocks noGrp="1"/>
          </p:cNvSpPr>
          <p:nvPr>
            <p:ph type="title"/>
          </p:nvPr>
        </p:nvSpPr>
        <p:spPr>
          <a:xfrm>
            <a:off x="838200" y="365125"/>
            <a:ext cx="10515600" cy="1325563"/>
          </a:xfrm>
        </p:spPr>
        <p:txBody>
          <a:bodyPr/>
          <a:lstStyle/>
          <a:p>
            <a:r>
              <a:rPr lang="es-ES" b="1" dirty="0"/>
              <a:t>¿Qué es un mapa autoorganizado?</a:t>
            </a:r>
            <a:endParaRPr lang="es-PE" dirty="0"/>
          </a:p>
        </p:txBody>
      </p:sp>
    </p:spTree>
    <p:extLst>
      <p:ext uri="{BB962C8B-B14F-4D97-AF65-F5344CB8AC3E}">
        <p14:creationId xmlns:p14="http://schemas.microsoft.com/office/powerpoint/2010/main" val="3779467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EF72-3B12-F000-03DB-8B581C6F532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77795D9-23BA-C9FE-CA3E-89D25D63A0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004E4F18-8378-A393-0A2C-A3CE554978EA}"/>
              </a:ext>
            </a:extLst>
          </p:cNvPr>
          <p:cNvSpPr>
            <a:spLocks noGrp="1"/>
          </p:cNvSpPr>
          <p:nvPr>
            <p:ph idx="1"/>
          </p:nvPr>
        </p:nvSpPr>
        <p:spPr>
          <a:xfrm>
            <a:off x="838200" y="1825624"/>
            <a:ext cx="10515600" cy="4565015"/>
          </a:xfrm>
        </p:spPr>
        <p:txBody>
          <a:bodyPr>
            <a:normAutofit/>
          </a:bodyPr>
          <a:lstStyle/>
          <a:p>
            <a:r>
              <a:rPr lang="es-ES" sz="1600" dirty="0"/>
              <a:t>La representación discretizada de datos de entrenamiento multidimensionales simplifica problemas complejos. La función crucial de transformar un conjunto de datos de mayor dimensión en una representación de menor dimensión es clave para simplificar los datos de entrenamiento. Facilita </a:t>
            </a:r>
            <a:r>
              <a:rPr lang="es-ES" sz="1600" b="1" dirty="0"/>
              <a:t>la visualización de datos</a:t>
            </a:r>
            <a:r>
              <a:rPr lang="es-ES" sz="1600" dirty="0"/>
              <a:t> para el ojo humano. </a:t>
            </a:r>
          </a:p>
          <a:p>
            <a:r>
              <a:rPr lang="es-ES" sz="1600" dirty="0"/>
              <a:t>Esto se logra sin la amenaza de pérdida de datos al reducir los datos de entrenamiento a una salida de menor dimensión o </a:t>
            </a:r>
            <a:r>
              <a:rPr lang="es-ES" sz="1600" b="1" dirty="0"/>
              <a:t>la reducción de la dimensionalidad</a:t>
            </a:r>
            <a:r>
              <a:rPr lang="es-ES" sz="1600" dirty="0"/>
              <a:t> . A diferencia del Análisis de Componentes Principales (PCA), los mapas autoorganizados tienen la ventaja de conservar la información topológica o estructural de los datos de entrenamiento que se pierden en el PCA. Por lo tanto, en los casos donde todas las dimensiones son esenciales, se representan en el mapa de </a:t>
            </a:r>
            <a:r>
              <a:rPr lang="es-ES" sz="1600" dirty="0" err="1"/>
              <a:t>Kohonen</a:t>
            </a:r>
            <a:r>
              <a:rPr lang="es-ES" sz="1600" dirty="0"/>
              <a:t> a pesar de reducir los datos a un espacio exterior bidimensional. </a:t>
            </a:r>
          </a:p>
          <a:p>
            <a:r>
              <a:rPr lang="es-ES" sz="1600" dirty="0"/>
              <a:t>Además, </a:t>
            </a:r>
            <a:r>
              <a:rPr lang="es-ES" sz="1600" b="1" dirty="0"/>
              <a:t>el análisis de facies sísmicas</a:t>
            </a:r>
            <a:r>
              <a:rPr lang="es-ES" sz="1600" dirty="0"/>
              <a:t> ayuda a reconocer y desarrollar cúmulos o grupos relacionales organizados mediante la identificación de diferentes características individuales. Los mapas autoorganizados actúan como un método de calibración que relaciona estos cúmulos con la realidad física en ausencia de análogos físicos. </a:t>
            </a:r>
          </a:p>
          <a:p>
            <a:r>
              <a:rPr lang="es-ES" sz="1600" dirty="0"/>
              <a:t>Además, los mapas autoorganizados facilitan la </a:t>
            </a:r>
            <a:r>
              <a:rPr lang="es-ES" sz="1600" b="1" dirty="0"/>
              <a:t>agrupación de texto</a:t>
            </a:r>
            <a:r>
              <a:rPr lang="es-ES" sz="1600" dirty="0"/>
              <a:t> . Este paso crítico de preprocesamiento permite la verificación del texto para descifrar cómo puede convertirse en una expresión matemática mediante SOM y su posterior análisis y procesamiento. Asimismo, SOM facilita el </a:t>
            </a:r>
            <a:r>
              <a:rPr lang="es-ES" sz="1600" b="1" dirty="0"/>
              <a:t>análisis exploratorio de datos</a:t>
            </a:r>
            <a:r>
              <a:rPr lang="es-ES" sz="1600" dirty="0"/>
              <a:t> al revelar patrones, relaciones y grupos subyacentes y ocultos dentro de los datos de entrenamiento mediante la agrupación y la visualización.  </a:t>
            </a:r>
          </a:p>
          <a:p>
            <a:r>
              <a:rPr lang="es-ES" sz="1600" dirty="0"/>
              <a:t>En consecuencia, SOM en el aprendizaje automático y la inteligencia artificial tiene muchas aplicaciones en distintos campos: desde reconocimiento de patrones, aplicaciones médicas, telecomunicaciones, robótica, gestión de productos, minería y procesamiento de datos, ¡y más!</a:t>
            </a:r>
          </a:p>
        </p:txBody>
      </p:sp>
      <p:sp>
        <p:nvSpPr>
          <p:cNvPr id="8" name="Título 7">
            <a:extLst>
              <a:ext uri="{FF2B5EF4-FFF2-40B4-BE49-F238E27FC236}">
                <a16:creationId xmlns:a16="http://schemas.microsoft.com/office/drawing/2014/main" id="{2EEC2053-22C4-998B-BA57-F56E20F456F2}"/>
              </a:ext>
            </a:extLst>
          </p:cNvPr>
          <p:cNvSpPr>
            <a:spLocks noGrp="1"/>
          </p:cNvSpPr>
          <p:nvPr>
            <p:ph type="title"/>
          </p:nvPr>
        </p:nvSpPr>
        <p:spPr/>
        <p:txBody>
          <a:bodyPr/>
          <a:lstStyle/>
          <a:p>
            <a:r>
              <a:rPr lang="es-PE" b="1" dirty="0"/>
              <a:t>Usos de los mapas autoorganizados</a:t>
            </a:r>
            <a:endParaRPr lang="es-PE" dirty="0"/>
          </a:p>
        </p:txBody>
      </p:sp>
    </p:spTree>
    <p:extLst>
      <p:ext uri="{BB962C8B-B14F-4D97-AF65-F5344CB8AC3E}">
        <p14:creationId xmlns:p14="http://schemas.microsoft.com/office/powerpoint/2010/main" val="1996416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DE872-2502-C26F-D18E-7EA41271C47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ECA43E9-3C16-AB3C-695F-CBA77901C62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788031F2-82D4-FB60-B7F4-331051106470}"/>
              </a:ext>
            </a:extLst>
          </p:cNvPr>
          <p:cNvSpPr>
            <a:spLocks noGrp="1"/>
          </p:cNvSpPr>
          <p:nvPr>
            <p:ph idx="1"/>
          </p:nvPr>
        </p:nvSpPr>
        <p:spPr>
          <a:xfrm>
            <a:off x="838200" y="1825625"/>
            <a:ext cx="10515600" cy="4504055"/>
          </a:xfrm>
        </p:spPr>
        <p:txBody>
          <a:bodyPr>
            <a:normAutofit/>
          </a:bodyPr>
          <a:lstStyle/>
          <a:p>
            <a:r>
              <a:rPr lang="es-ES" sz="2000" dirty="0"/>
              <a:t>La arquitectura de los mapas autoorganizados es esencial para comprender su función y cómo lo hacen. Los mapas autoorganizados constan de dos capas de nodos: la capa de entrada y la capa de salida (o capa de </a:t>
            </a:r>
            <a:r>
              <a:rPr lang="es-ES" sz="2000" dirty="0" err="1"/>
              <a:t>Kohonen</a:t>
            </a:r>
            <a:r>
              <a:rPr lang="es-ES" sz="2000" dirty="0"/>
              <a:t> o capa SOM). Ambas capas están directamente conectadas. La capa de entrada consta de nodos fuente que expresan características, atributos o variables. Se representan como vectores de entrada m-dimensionales, x = (x₁, x₂…xₘ). La capa de salida, o capa de </a:t>
            </a:r>
            <a:r>
              <a:rPr lang="es-ES" sz="2000" dirty="0" err="1"/>
              <a:t>Kohonen</a:t>
            </a:r>
            <a:r>
              <a:rPr lang="es-ES" sz="2000" dirty="0"/>
              <a:t>, tiene nodos dispuestos según una arquitectura topológica, que suele ser bidimensional con una organización en cuadrícula de filas y columnas. </a:t>
            </a:r>
          </a:p>
          <a:p>
            <a:r>
              <a:rPr lang="es-ES" sz="2000" dirty="0"/>
              <a:t>Cada nodo tiene una ubicación específica en la cuadrícula, y cada vector de entrada tiene su vector de ponderación correspondiente, w = (w₁, w₂…wₘ). Estos nodos indican el número máximo de clústeres posibles a partir de los datos de entrada. La adyacencia de los nodos representa la similitud entre los clústeres, y la distancia entre los vecinos no es importante. Por lo tanto, el mapa adopta diferentes formas, típicamente formando cuadrículas rectangulares o hexagonales. Cada estructura topológica tiene propiedades específicas, y la hexagonal es la versión preferida.  </a:t>
            </a:r>
          </a:p>
          <a:p>
            <a:r>
              <a:rPr lang="es-ES" sz="2000" dirty="0"/>
              <a:t>Ahora que conocemos la arquitectura básica de los mapas autoorganizados, entendamos su funcionamiento. Desglosaremos la funcionalidad de los SOM en los siguientes pasos:</a:t>
            </a:r>
          </a:p>
        </p:txBody>
      </p:sp>
      <p:sp>
        <p:nvSpPr>
          <p:cNvPr id="8" name="Título 7">
            <a:extLst>
              <a:ext uri="{FF2B5EF4-FFF2-40B4-BE49-F238E27FC236}">
                <a16:creationId xmlns:a16="http://schemas.microsoft.com/office/drawing/2014/main" id="{55F1C774-0C0C-50F7-59D2-98AEF2DFA179}"/>
              </a:ext>
            </a:extLst>
          </p:cNvPr>
          <p:cNvSpPr>
            <a:spLocks noGrp="1"/>
          </p:cNvSpPr>
          <p:nvPr>
            <p:ph type="title"/>
          </p:nvPr>
        </p:nvSpPr>
        <p:spPr/>
        <p:txBody>
          <a:bodyPr>
            <a:normAutofit/>
          </a:bodyPr>
          <a:lstStyle/>
          <a:p>
            <a:r>
              <a:rPr lang="es-ES" b="1" dirty="0"/>
              <a:t>Arquitectura y funcionalidad de los mapas autoorganizados</a:t>
            </a:r>
            <a:endParaRPr lang="es-PE" dirty="0"/>
          </a:p>
        </p:txBody>
      </p:sp>
    </p:spTree>
    <p:extLst>
      <p:ext uri="{BB962C8B-B14F-4D97-AF65-F5344CB8AC3E}">
        <p14:creationId xmlns:p14="http://schemas.microsoft.com/office/powerpoint/2010/main" val="1271580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9C5D3-9710-0B31-3927-3C824E88189D}"/>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B3566373-46F0-126A-C45F-CB02F82E0CF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48B52FF8-9112-78CC-B76D-97442B545D28}"/>
              </a:ext>
            </a:extLst>
          </p:cNvPr>
          <p:cNvSpPr>
            <a:spLocks noGrp="1"/>
          </p:cNvSpPr>
          <p:nvPr>
            <p:ph idx="1"/>
          </p:nvPr>
        </p:nvSpPr>
        <p:spPr/>
        <p:txBody>
          <a:bodyPr>
            <a:normAutofit/>
          </a:bodyPr>
          <a:lstStyle/>
          <a:p>
            <a:pPr marL="0" indent="0">
              <a:buNone/>
            </a:pPr>
            <a:r>
              <a:rPr lang="es-ES" sz="2000" b="1" dirty="0"/>
              <a:t>Inicialización de pesos</a:t>
            </a:r>
          </a:p>
          <a:p>
            <a:r>
              <a:rPr lang="es-ES" sz="2000" dirty="0"/>
              <a:t>El primer paso que inicia el proceso de mapeo en mapas autoorganizados es la inicialización de pesos a vectores. Se seleccionan valores aleatorios para los vectores de pesos iniciales (wₒ).</a:t>
            </a:r>
          </a:p>
          <a:p>
            <a:pPr marL="0" indent="0">
              <a:buNone/>
            </a:pPr>
            <a:r>
              <a:rPr lang="es-ES" sz="2000" b="1" dirty="0"/>
              <a:t>Muestreo</a:t>
            </a:r>
          </a:p>
          <a:p>
            <a:r>
              <a:rPr lang="es-ES" sz="2000" dirty="0"/>
              <a:t>Se elige aleatoriamente una muestra del vector de entrenamiento de entrada (x) del espacio de entrada.</a:t>
            </a:r>
          </a:p>
          <a:p>
            <a:pPr marL="0" indent="0">
              <a:buNone/>
            </a:pPr>
            <a:r>
              <a:rPr lang="es-ES" sz="2000" b="1" dirty="0"/>
              <a:t>Coincidencia de similitud</a:t>
            </a:r>
          </a:p>
          <a:p>
            <a:r>
              <a:rPr lang="es-ES" sz="2000" dirty="0"/>
              <a:t>Los nodos compiten para ser activados y seleccionados en esta etapa de la competencia. El nodo cuyo vector de peso se acerque más al vector de entrada se activa calculando su similitud mediante métodos de medición. La ecuación más viable para medir la distancia [d₀ (t)] es la distancia euclidiana para la representación visual. El nodo ganador se denomina Unidad de Mejor Coincidencia (UMC).</a:t>
            </a:r>
          </a:p>
        </p:txBody>
      </p:sp>
      <p:sp>
        <p:nvSpPr>
          <p:cNvPr id="2" name="Título 7">
            <a:extLst>
              <a:ext uri="{FF2B5EF4-FFF2-40B4-BE49-F238E27FC236}">
                <a16:creationId xmlns:a16="http://schemas.microsoft.com/office/drawing/2014/main" id="{3E86BC1B-7249-D750-4C82-01BE98193040}"/>
              </a:ext>
            </a:extLst>
          </p:cNvPr>
          <p:cNvSpPr>
            <a:spLocks noGrp="1"/>
          </p:cNvSpPr>
          <p:nvPr>
            <p:ph type="title"/>
          </p:nvPr>
        </p:nvSpPr>
        <p:spPr>
          <a:xfrm>
            <a:off x="838200" y="365125"/>
            <a:ext cx="10515600" cy="1325563"/>
          </a:xfrm>
        </p:spPr>
        <p:txBody>
          <a:bodyPr>
            <a:normAutofit/>
          </a:bodyPr>
          <a:lstStyle/>
          <a:p>
            <a:r>
              <a:rPr lang="es-ES" b="1" dirty="0"/>
              <a:t>Arquitectura y funcionalidad de los mapas autoorganizados</a:t>
            </a:r>
            <a:endParaRPr lang="es-PE" dirty="0"/>
          </a:p>
        </p:txBody>
      </p:sp>
    </p:spTree>
    <p:extLst>
      <p:ext uri="{BB962C8B-B14F-4D97-AF65-F5344CB8AC3E}">
        <p14:creationId xmlns:p14="http://schemas.microsoft.com/office/powerpoint/2010/main" val="2494993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2927B-4339-D258-B85B-EE681A16D658}"/>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F665C1F-A0FE-DF58-3952-AA748D0BE9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pic>
        <p:nvPicPr>
          <p:cNvPr id="3074" name="Picture 2">
            <a:extLst>
              <a:ext uri="{FF2B5EF4-FFF2-40B4-BE49-F238E27FC236}">
                <a16:creationId xmlns:a16="http://schemas.microsoft.com/office/drawing/2014/main" id="{4B1880E4-B7B7-D0FF-EC8F-234F8CEF160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77923" y="1690688"/>
            <a:ext cx="6436154" cy="516731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7">
            <a:extLst>
              <a:ext uri="{FF2B5EF4-FFF2-40B4-BE49-F238E27FC236}">
                <a16:creationId xmlns:a16="http://schemas.microsoft.com/office/drawing/2014/main" id="{CB482D61-6B67-2AFC-B1CC-EF309C3850F8}"/>
              </a:ext>
            </a:extLst>
          </p:cNvPr>
          <p:cNvSpPr>
            <a:spLocks noGrp="1"/>
          </p:cNvSpPr>
          <p:nvPr>
            <p:ph type="title"/>
          </p:nvPr>
        </p:nvSpPr>
        <p:spPr>
          <a:xfrm>
            <a:off x="838200" y="365125"/>
            <a:ext cx="10515600" cy="1325563"/>
          </a:xfrm>
        </p:spPr>
        <p:txBody>
          <a:bodyPr>
            <a:normAutofit/>
          </a:bodyPr>
          <a:lstStyle/>
          <a:p>
            <a:r>
              <a:rPr lang="es-ES" b="1" dirty="0"/>
              <a:t>Arquitectura y funcionalidad de los mapas autoorganizados</a:t>
            </a:r>
            <a:endParaRPr lang="es-PE" dirty="0"/>
          </a:p>
        </p:txBody>
      </p:sp>
    </p:spTree>
    <p:extLst>
      <p:ext uri="{BB962C8B-B14F-4D97-AF65-F5344CB8AC3E}">
        <p14:creationId xmlns:p14="http://schemas.microsoft.com/office/powerpoint/2010/main" val="960552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7AA67-2B49-60F7-CC6F-0417A770E76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859CB7C4-7A63-46E8-F301-1C871EA2F3B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06E3D52A-A896-1533-C734-6BD189D32196}"/>
              </a:ext>
            </a:extLst>
          </p:cNvPr>
          <p:cNvSpPr>
            <a:spLocks noGrp="1"/>
          </p:cNvSpPr>
          <p:nvPr>
            <p:ph idx="1"/>
          </p:nvPr>
        </p:nvSpPr>
        <p:spPr>
          <a:xfrm>
            <a:off x="838200" y="1825625"/>
            <a:ext cx="10515600" cy="3184525"/>
          </a:xfrm>
        </p:spPr>
        <p:txBody>
          <a:bodyPr>
            <a:normAutofit/>
          </a:bodyPr>
          <a:lstStyle/>
          <a:p>
            <a:pPr marL="0" indent="0">
              <a:buNone/>
            </a:pPr>
            <a:r>
              <a:rPr lang="es-ES" sz="1600" b="1" dirty="0"/>
              <a:t>Identificar el barrio</a:t>
            </a:r>
          </a:p>
          <a:p>
            <a:r>
              <a:rPr lang="es-ES" sz="1600" dirty="0"/>
              <a:t>En este paso, se identifica el radio de vecindad topológica [</a:t>
            </a:r>
            <a:r>
              <a:rPr lang="es-ES" sz="1600" dirty="0" err="1"/>
              <a:t>nr</a:t>
            </a:r>
            <a:r>
              <a:rPr lang="es-ES" sz="1600" dirty="0"/>
              <a:t>(t)] de la BMU [c(t)]. En esta etapa, se lleva a cabo el proceso de cooperación. </a:t>
            </a:r>
          </a:p>
          <a:p>
            <a:pPr marL="0" indent="0">
              <a:buNone/>
            </a:pPr>
            <a:r>
              <a:rPr lang="es-ES" sz="1600" b="1" dirty="0"/>
              <a:t>Actualización de peso</a:t>
            </a:r>
          </a:p>
          <a:p>
            <a:r>
              <a:rPr lang="es-ES" sz="1600" dirty="0"/>
              <a:t>Es la etapa de adaptación en la que los vectores de peso de la BMU y los nodos que se encuentran dentro del entorno en el espacio de salida se actualizan mediante la ecuación de actualización de peso. Esto ayuda a que los nodos en el espacio de salida se asemejen y representen las características del espacio de entrada. Dos parámetros son esenciales: la tasa de aprendizaje [α(t)] y el tamaño del entorno.</a:t>
            </a:r>
          </a:p>
          <a:p>
            <a:pPr marL="0" indent="0">
              <a:buNone/>
            </a:pPr>
            <a:r>
              <a:rPr lang="es-ES" sz="1600" b="1" dirty="0"/>
              <a:t>Continuación</a:t>
            </a:r>
          </a:p>
          <a:p>
            <a:r>
              <a:rPr lang="es-ES" sz="1600" dirty="0"/>
              <a:t>El proceso desde el paso b en adelante se repite durante N iteraciones hasta que el mapa de características deja de cambiar y adquiere una forma identificable.</a:t>
            </a:r>
          </a:p>
        </p:txBody>
      </p:sp>
      <p:sp>
        <p:nvSpPr>
          <p:cNvPr id="2" name="Título 7">
            <a:extLst>
              <a:ext uri="{FF2B5EF4-FFF2-40B4-BE49-F238E27FC236}">
                <a16:creationId xmlns:a16="http://schemas.microsoft.com/office/drawing/2014/main" id="{61246DFC-59B5-A21D-2223-B93D3053C1BB}"/>
              </a:ext>
            </a:extLst>
          </p:cNvPr>
          <p:cNvSpPr>
            <a:spLocks noGrp="1"/>
          </p:cNvSpPr>
          <p:nvPr>
            <p:ph type="title"/>
          </p:nvPr>
        </p:nvSpPr>
        <p:spPr>
          <a:xfrm>
            <a:off x="838200" y="365125"/>
            <a:ext cx="10515600" cy="1325563"/>
          </a:xfrm>
        </p:spPr>
        <p:txBody>
          <a:bodyPr>
            <a:normAutofit/>
          </a:bodyPr>
          <a:lstStyle/>
          <a:p>
            <a:r>
              <a:rPr lang="es-ES" b="1" dirty="0"/>
              <a:t>Arquitectura y funcionalidad de los mapas autoorganizados</a:t>
            </a:r>
            <a:endParaRPr lang="es-PE" dirty="0"/>
          </a:p>
        </p:txBody>
      </p:sp>
      <p:pic>
        <p:nvPicPr>
          <p:cNvPr id="4098" name="Picture 2" descr="Continuación">
            <a:extLst>
              <a:ext uri="{FF2B5EF4-FFF2-40B4-BE49-F238E27FC236}">
                <a16:creationId xmlns:a16="http://schemas.microsoft.com/office/drawing/2014/main" id="{3B507E27-7111-8ADD-72A6-3C64AF5DB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399" y="5010150"/>
            <a:ext cx="7315200"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327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C22B8-55CE-238B-DB47-E3B9A91F11F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D9B3B2A-0C19-1DDA-1A65-4E082417CED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07BC35BB-A2E4-FB9B-9B93-DDB77C92D339}"/>
              </a:ext>
            </a:extLst>
          </p:cNvPr>
          <p:cNvSpPr>
            <a:spLocks noGrp="1"/>
          </p:cNvSpPr>
          <p:nvPr>
            <p:ph idx="1"/>
          </p:nvPr>
        </p:nvSpPr>
        <p:spPr/>
        <p:txBody>
          <a:bodyPr>
            <a:normAutofit/>
          </a:bodyPr>
          <a:lstStyle/>
          <a:p>
            <a:pPr marL="0" indent="0">
              <a:buNone/>
            </a:pPr>
            <a:r>
              <a:rPr lang="es-ES" sz="2000" b="1" dirty="0"/>
              <a:t>Ventajas </a:t>
            </a:r>
          </a:p>
          <a:p>
            <a:r>
              <a:rPr lang="es-ES" sz="2000" dirty="0"/>
              <a:t>Los mapas autoorganizados son valiosos para simplificar los datos y revelar los patrones y relaciones subyacentes. Los mapas autoorganizados ofrecen varias ventajas. </a:t>
            </a:r>
          </a:p>
          <a:p>
            <a:r>
              <a:rPr lang="es-ES" sz="2000" dirty="0"/>
              <a:t>Los SOM hacen que los datos complejos y multidimensionales sean fáciles de entender y leer debido a la dimensionalidad reducida de los datos y la agrupación en clústeres. </a:t>
            </a:r>
          </a:p>
          <a:p>
            <a:r>
              <a:rPr lang="es-ES" sz="2000" dirty="0"/>
              <a:t>Los mapas autoorganizados no provocan pérdida de datos ya que los datos de entrada se conservan en la representación topológica.</a:t>
            </a:r>
          </a:p>
          <a:p>
            <a:r>
              <a:rPr lang="es-ES" sz="2000" dirty="0"/>
              <a:t>Mantiene las relaciones topológicas del espacio de entrada a través de la agrupación en el espacio exterior. </a:t>
            </a:r>
          </a:p>
          <a:p>
            <a:r>
              <a:rPr lang="es-ES" sz="2000" dirty="0"/>
              <a:t>Los SOM pueden negociar una variedad de cuestiones de clasificación y al mismo tiempo proporcionar un resumen completo y valioso. </a:t>
            </a:r>
          </a:p>
          <a:p>
            <a:r>
              <a:rPr lang="es-ES" sz="2000" dirty="0"/>
              <a:t>Ayudan a facilitar la visualización de datos. </a:t>
            </a:r>
          </a:p>
        </p:txBody>
      </p:sp>
      <p:sp>
        <p:nvSpPr>
          <p:cNvPr id="2" name="Título 7">
            <a:extLst>
              <a:ext uri="{FF2B5EF4-FFF2-40B4-BE49-F238E27FC236}">
                <a16:creationId xmlns:a16="http://schemas.microsoft.com/office/drawing/2014/main" id="{0C0BF373-3027-5D78-13EE-06AA4E163404}"/>
              </a:ext>
            </a:extLst>
          </p:cNvPr>
          <p:cNvSpPr>
            <a:spLocks noGrp="1"/>
          </p:cNvSpPr>
          <p:nvPr>
            <p:ph type="title"/>
          </p:nvPr>
        </p:nvSpPr>
        <p:spPr>
          <a:xfrm>
            <a:off x="838200" y="365125"/>
            <a:ext cx="10515600" cy="1325563"/>
          </a:xfrm>
        </p:spPr>
        <p:txBody>
          <a:bodyPr>
            <a:normAutofit/>
          </a:bodyPr>
          <a:lstStyle/>
          <a:p>
            <a:r>
              <a:rPr lang="es-ES" b="1" dirty="0"/>
              <a:t>Arquitectura y funcionalidad de los mapas autoorganizados</a:t>
            </a:r>
            <a:endParaRPr lang="es-PE" dirty="0"/>
          </a:p>
        </p:txBody>
      </p:sp>
    </p:spTree>
    <p:extLst>
      <p:ext uri="{BB962C8B-B14F-4D97-AF65-F5344CB8AC3E}">
        <p14:creationId xmlns:p14="http://schemas.microsoft.com/office/powerpoint/2010/main" val="1390610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A94DD-8193-7780-60E2-1C2BD7DCCE3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595131A1-FECC-8ACF-51B2-0F5B5BF8D99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FB7293DC-551A-992B-A4D8-C52B72E069FA}"/>
              </a:ext>
            </a:extLst>
          </p:cNvPr>
          <p:cNvSpPr>
            <a:spLocks noGrp="1"/>
          </p:cNvSpPr>
          <p:nvPr>
            <p:ph idx="1"/>
          </p:nvPr>
        </p:nvSpPr>
        <p:spPr/>
        <p:txBody>
          <a:bodyPr>
            <a:normAutofit lnSpcReduction="10000"/>
          </a:bodyPr>
          <a:lstStyle/>
          <a:p>
            <a:pPr marL="0" indent="0">
              <a:buNone/>
            </a:pPr>
            <a:r>
              <a:rPr lang="es-ES" sz="2400" b="1" dirty="0"/>
              <a:t>Desventajas</a:t>
            </a:r>
          </a:p>
          <a:p>
            <a:r>
              <a:rPr lang="es-ES" sz="2400" dirty="0"/>
              <a:t>Los mapas autoorganizados tienen varias ventajas, pero también ciertas desventajas.</a:t>
            </a:r>
          </a:p>
          <a:p>
            <a:r>
              <a:rPr lang="es-ES" sz="2400" dirty="0"/>
              <a:t>Los SOM requieren una gran cantidad de datos de entrenamiento de buena calidad. </a:t>
            </a:r>
          </a:p>
          <a:p>
            <a:r>
              <a:rPr lang="es-ES" sz="2400" dirty="0"/>
              <a:t>Los costos computacionales de los mapas autoorganizados son muy altos. </a:t>
            </a:r>
          </a:p>
          <a:p>
            <a:r>
              <a:rPr lang="es-ES" sz="2400" dirty="0"/>
              <a:t>Los SOM requieren un tiempo comparativamente largo para prepararse y entrenarse frente a datos que evolucionan lentamente. </a:t>
            </a:r>
          </a:p>
          <a:p>
            <a:r>
              <a:rPr lang="es-ES" sz="2400" dirty="0"/>
              <a:t>No son adecuados para datos categóricos y de tipo mixto.</a:t>
            </a:r>
          </a:p>
          <a:p>
            <a:r>
              <a:rPr lang="es-ES" sz="2400" dirty="0"/>
              <a:t>El vector de peso inicial influye en los patrones de agrupamiento. </a:t>
            </a:r>
          </a:p>
          <a:p>
            <a:r>
              <a:rPr lang="es-ES" sz="2400" dirty="0"/>
              <a:t>Es difícil determinar el tamaño óptimo del mapa. </a:t>
            </a:r>
          </a:p>
        </p:txBody>
      </p:sp>
      <p:sp>
        <p:nvSpPr>
          <p:cNvPr id="2" name="Título 7">
            <a:extLst>
              <a:ext uri="{FF2B5EF4-FFF2-40B4-BE49-F238E27FC236}">
                <a16:creationId xmlns:a16="http://schemas.microsoft.com/office/drawing/2014/main" id="{440DB7B7-3A34-DDAF-5A3D-A6D188BF685B}"/>
              </a:ext>
            </a:extLst>
          </p:cNvPr>
          <p:cNvSpPr>
            <a:spLocks noGrp="1"/>
          </p:cNvSpPr>
          <p:nvPr>
            <p:ph type="title"/>
          </p:nvPr>
        </p:nvSpPr>
        <p:spPr>
          <a:xfrm>
            <a:off x="838200" y="365125"/>
            <a:ext cx="10515600" cy="1325563"/>
          </a:xfrm>
        </p:spPr>
        <p:txBody>
          <a:bodyPr>
            <a:normAutofit/>
          </a:bodyPr>
          <a:lstStyle/>
          <a:p>
            <a:r>
              <a:rPr lang="es-ES" b="1" dirty="0"/>
              <a:t>Arquitectura y funcionalidad de los mapas autoorganizados</a:t>
            </a:r>
            <a:endParaRPr lang="es-PE" dirty="0"/>
          </a:p>
        </p:txBody>
      </p:sp>
    </p:spTree>
    <p:extLst>
      <p:ext uri="{BB962C8B-B14F-4D97-AF65-F5344CB8AC3E}">
        <p14:creationId xmlns:p14="http://schemas.microsoft.com/office/powerpoint/2010/main" val="2867900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CBB95-423C-6BF1-3A16-66E49C3EA9D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8D4B212-4F7D-59F4-B06B-4AAD5AD7D42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E4B2516C-C139-FDB7-6B6B-373648A4D874}"/>
              </a:ext>
            </a:extLst>
          </p:cNvPr>
          <p:cNvSpPr>
            <a:spLocks noGrp="1"/>
          </p:cNvSpPr>
          <p:nvPr>
            <p:ph idx="1"/>
          </p:nvPr>
        </p:nvSpPr>
        <p:spPr>
          <a:xfrm>
            <a:off x="838200" y="1825624"/>
            <a:ext cx="6655064" cy="4486275"/>
          </a:xfrm>
        </p:spPr>
        <p:txBody>
          <a:bodyPr>
            <a:normAutofit fontScale="92500" lnSpcReduction="10000"/>
          </a:bodyPr>
          <a:lstStyle/>
          <a:p>
            <a:r>
              <a:rPr lang="es-ES" sz="2400" dirty="0"/>
              <a:t>Un Mapa Autoorganizado (SOM) o Mapa de </a:t>
            </a:r>
            <a:r>
              <a:rPr lang="es-ES" sz="2400" dirty="0" err="1"/>
              <a:t>Kohonen</a:t>
            </a:r>
            <a:r>
              <a:rPr lang="es-ES" sz="2400" dirty="0"/>
              <a:t> es un algoritmo de red neuronal no supervisada basado en modelos neuronales biológicos de la década de 1970. Utiliza un enfoque de aprendizaje competitivo y está diseñado principalmente para la agrupación y la reducción de dimensionalidad. SOM mapea eficazmente datos de alta dimensión a una cuadrícula de menor dimensión, lo que facilita la interpretación y visualización de conjuntos de datos complejos.</a:t>
            </a:r>
          </a:p>
          <a:p>
            <a:pPr fontAlgn="base"/>
            <a:r>
              <a:rPr lang="es-ES" sz="2400" dirty="0"/>
              <a:t>Se compone de dos capas principales:</a:t>
            </a:r>
          </a:p>
          <a:p>
            <a:pPr lvl="1" fontAlgn="base"/>
            <a:r>
              <a:rPr lang="es-ES" sz="2000" b="1" dirty="0"/>
              <a:t>Capa de entrada:</a:t>
            </a:r>
            <a:r>
              <a:rPr lang="es-ES" sz="2000" dirty="0"/>
              <a:t> representa las características de los datos.</a:t>
            </a:r>
          </a:p>
          <a:p>
            <a:pPr lvl="1" fontAlgn="base"/>
            <a:r>
              <a:rPr lang="es-ES" sz="2000" b="1" dirty="0"/>
              <a:t>Capa de salida</a:t>
            </a:r>
            <a:r>
              <a:rPr lang="es-ES" sz="2000" dirty="0"/>
              <a:t> : organizada como una cuadrícula 2D de neuronas, donde cada neurona representa un grupo en los datos.</a:t>
            </a:r>
          </a:p>
        </p:txBody>
      </p:sp>
      <p:sp>
        <p:nvSpPr>
          <p:cNvPr id="8" name="Título 7">
            <a:extLst>
              <a:ext uri="{FF2B5EF4-FFF2-40B4-BE49-F238E27FC236}">
                <a16:creationId xmlns:a16="http://schemas.microsoft.com/office/drawing/2014/main" id="{65A1EED8-69AF-9290-2071-24AA92645FA8}"/>
              </a:ext>
            </a:extLst>
          </p:cNvPr>
          <p:cNvSpPr>
            <a:spLocks noGrp="1"/>
          </p:cNvSpPr>
          <p:nvPr>
            <p:ph type="title"/>
          </p:nvPr>
        </p:nvSpPr>
        <p:spPr/>
        <p:txBody>
          <a:bodyPr/>
          <a:lstStyle/>
          <a:p>
            <a:r>
              <a:rPr lang="es-PE" b="1" dirty="0"/>
              <a:t>Mapas autoorganizados - Mapas </a:t>
            </a:r>
            <a:r>
              <a:rPr lang="es-PE" b="1" dirty="0" err="1"/>
              <a:t>Kohonen</a:t>
            </a:r>
            <a:endParaRPr lang="es-PE" dirty="0"/>
          </a:p>
        </p:txBody>
      </p:sp>
      <p:pic>
        <p:nvPicPr>
          <p:cNvPr id="1026" name="Picture 2">
            <a:extLst>
              <a:ext uri="{FF2B5EF4-FFF2-40B4-BE49-F238E27FC236}">
                <a16:creationId xmlns:a16="http://schemas.microsoft.com/office/drawing/2014/main" id="{1819D3B4-7119-B1E6-41BC-D0E1008E4A44}"/>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3514" t="3029" r="9110" b="9456"/>
          <a:stretch>
            <a:fillRect/>
          </a:stretch>
        </p:blipFill>
        <p:spPr bwMode="auto">
          <a:xfrm>
            <a:off x="7493264" y="1825625"/>
            <a:ext cx="4697466" cy="435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388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5FA2E-E2E4-6E13-4D60-B8887878976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65620691-CC49-9395-F961-9AFDBCD2583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mc:AlternateContent xmlns:mc="http://schemas.openxmlformats.org/markup-compatibility/2006" xmlns:a14="http://schemas.microsoft.com/office/drawing/2010/main">
        <mc:Choice Requires="a14">
          <p:sp>
            <p:nvSpPr>
              <p:cNvPr id="6" name="Marcador de contenido 5">
                <a:extLst>
                  <a:ext uri="{FF2B5EF4-FFF2-40B4-BE49-F238E27FC236}">
                    <a16:creationId xmlns:a16="http://schemas.microsoft.com/office/drawing/2014/main" id="{642B4945-D89E-4510-6A85-AB68A958E184}"/>
                  </a:ext>
                </a:extLst>
              </p:cNvPr>
              <p:cNvSpPr>
                <a:spLocks noGrp="1"/>
              </p:cNvSpPr>
              <p:nvPr>
                <p:ph idx="1"/>
              </p:nvPr>
            </p:nvSpPr>
            <p:spPr>
              <a:xfrm>
                <a:off x="838200" y="1825625"/>
                <a:ext cx="10515600" cy="4565015"/>
              </a:xfrm>
            </p:spPr>
            <p:txBody>
              <a:bodyPr>
                <a:normAutofit/>
              </a:bodyPr>
              <a:lstStyle/>
              <a:p>
                <a:pPr fontAlgn="base"/>
                <a:r>
                  <a:rPr lang="es-PE" sz="2000" dirty="0"/>
                  <a:t>Aquí está la explicación paso a paso de su funcionamiento:</a:t>
                </a:r>
              </a:p>
              <a:p>
                <a:pPr marL="0" indent="0" fontAlgn="base">
                  <a:buNone/>
                </a:pPr>
                <a:r>
                  <a:rPr lang="es-PE" sz="2000" b="1" dirty="0"/>
                  <a:t>Inicialización</a:t>
                </a:r>
              </a:p>
              <a:p>
                <a:pPr fontAlgn="base"/>
                <a:r>
                  <a:rPr lang="es-PE" sz="2000" dirty="0"/>
                  <a:t>Los pesos de las neuronas de salida se inicializan aleatoriamente. Estos pesos representan las características de cada neurona y se ajustarán durante el entrenamiento.</a:t>
                </a:r>
              </a:p>
              <a:p>
                <a:pPr marL="0" indent="0" fontAlgn="base">
                  <a:buNone/>
                </a:pPr>
                <a:r>
                  <a:rPr lang="es-PE" sz="2000" b="1" dirty="0"/>
                  <a:t>Competencia</a:t>
                </a:r>
              </a:p>
              <a:p>
                <a:pPr fontAlgn="base"/>
                <a:r>
                  <a:rPr lang="es-PE" sz="2000" dirty="0"/>
                  <a:t>Para cada vector de entrada, SOM calcula la distancia euclidiana entre los vectores de entrada y peso de todas las neuronas. La neurona con la menor distancia es la ganadora.</a:t>
                </a:r>
              </a:p>
              <a:p>
                <a:pPr fontAlgn="base"/>
                <a:r>
                  <a:rPr lang="es-PE" sz="2000" dirty="0"/>
                  <a:t>Fórmula:</a:t>
                </a:r>
              </a:p>
              <a:p>
                <a:pPr marL="0" indent="0" algn="ctr" fontAlgn="base">
                  <a:buNone/>
                </a:pPr>
                <a14:m>
                  <m:oMathPara xmlns:m="http://schemas.openxmlformats.org/officeDocument/2006/math">
                    <m:oMathParaPr>
                      <m:jc m:val="centerGroup"/>
                    </m:oMathParaPr>
                    <m:oMath xmlns:m="http://schemas.openxmlformats.org/officeDocument/2006/math">
                      <m:r>
                        <a:rPr lang="es-PE" sz="2000" b="0" i="1" smtClean="0">
                          <a:latin typeface="Cambria Math" panose="02040503050406030204" pitchFamily="18" charset="0"/>
                        </a:rPr>
                        <m:t>𝐷</m:t>
                      </m:r>
                      <m:d>
                        <m:dPr>
                          <m:ctrlPr>
                            <a:rPr lang="es-PE" sz="2000" b="0" i="1" smtClean="0">
                              <a:latin typeface="Cambria Math" panose="02040503050406030204" pitchFamily="18" charset="0"/>
                            </a:rPr>
                          </m:ctrlPr>
                        </m:dPr>
                        <m:e>
                          <m:r>
                            <a:rPr lang="es-PE" sz="2000" b="0" i="1" smtClean="0">
                              <a:latin typeface="Cambria Math" panose="02040503050406030204" pitchFamily="18" charset="0"/>
                            </a:rPr>
                            <m:t>𝑗</m:t>
                          </m:r>
                        </m:e>
                      </m:d>
                      <m:r>
                        <a:rPr lang="es-PE" sz="2000" b="0" i="1" smtClean="0">
                          <a:latin typeface="Cambria Math" panose="02040503050406030204" pitchFamily="18" charset="0"/>
                        </a:rPr>
                        <m:t>=</m:t>
                      </m:r>
                      <m:nary>
                        <m:naryPr>
                          <m:chr m:val="∑"/>
                          <m:limLoc m:val="subSup"/>
                          <m:ctrlPr>
                            <a:rPr lang="es-PE" sz="2000" b="0" i="1" smtClean="0">
                              <a:latin typeface="Cambria Math" panose="02040503050406030204" pitchFamily="18" charset="0"/>
                            </a:rPr>
                          </m:ctrlPr>
                        </m:naryPr>
                        <m:sub>
                          <m:r>
                            <m:rPr>
                              <m:brk m:alnAt="25"/>
                            </m:rPr>
                            <a:rPr lang="es-PE" sz="2000" b="0" i="1" smtClean="0">
                              <a:latin typeface="Cambria Math" panose="02040503050406030204" pitchFamily="18" charset="0"/>
                            </a:rPr>
                            <m:t>𝑦</m:t>
                          </m:r>
                          <m:r>
                            <a:rPr lang="es-PE" sz="2000" b="0" i="1" smtClean="0">
                              <a:latin typeface="Cambria Math" panose="02040503050406030204" pitchFamily="18" charset="0"/>
                            </a:rPr>
                            <m:t>𝑜</m:t>
                          </m:r>
                          <m:r>
                            <a:rPr lang="es-PE" sz="2000" b="0" i="1" smtClean="0">
                              <a:latin typeface="Cambria Math" panose="02040503050406030204" pitchFamily="18" charset="0"/>
                            </a:rPr>
                            <m:t>=1</m:t>
                          </m:r>
                        </m:sub>
                        <m:sup>
                          <m:r>
                            <a:rPr lang="es-PE" sz="2000" b="0" i="1" smtClean="0">
                              <a:latin typeface="Cambria Math" panose="02040503050406030204" pitchFamily="18" charset="0"/>
                            </a:rPr>
                            <m:t>𝑛𝑜𝑟𝑡𝑒</m:t>
                          </m:r>
                        </m:sup>
                        <m:e>
                          <m:sSup>
                            <m:sSupPr>
                              <m:ctrlPr>
                                <a:rPr lang="es-PE" sz="2000" b="0" i="1" smtClean="0">
                                  <a:latin typeface="Cambria Math" panose="02040503050406030204" pitchFamily="18" charset="0"/>
                                </a:rPr>
                              </m:ctrlPr>
                            </m:sSupPr>
                            <m:e>
                              <m:d>
                                <m:dPr>
                                  <m:ctrlPr>
                                    <a:rPr lang="es-PE" sz="2000" i="1">
                                      <a:latin typeface="Cambria Math" panose="02040503050406030204" pitchFamily="18" charset="0"/>
                                    </a:rPr>
                                  </m:ctrlPr>
                                </m:dPr>
                                <m:e>
                                  <m:sSub>
                                    <m:sSubPr>
                                      <m:ctrlPr>
                                        <a:rPr lang="es-PE" sz="2000" i="1">
                                          <a:latin typeface="Cambria Math" panose="02040503050406030204" pitchFamily="18" charset="0"/>
                                        </a:rPr>
                                      </m:ctrlPr>
                                    </m:sSubPr>
                                    <m:e>
                                      <m:r>
                                        <a:rPr lang="es-PE" sz="2000" i="1">
                                          <a:latin typeface="Cambria Math" panose="02040503050406030204" pitchFamily="18" charset="0"/>
                                        </a:rPr>
                                        <m:t>𝑐𝑜𝑛</m:t>
                                      </m:r>
                                    </m:e>
                                    <m:sub>
                                      <m:r>
                                        <a:rPr lang="es-PE" sz="2000" i="1">
                                          <a:latin typeface="Cambria Math" panose="02040503050406030204" pitchFamily="18" charset="0"/>
                                        </a:rPr>
                                        <m:t>𝑦𝑜</m:t>
                                      </m:r>
                                    </m:sub>
                                  </m:sSub>
                                  <m:r>
                                    <a:rPr lang="es-PE" sz="2000" i="1">
                                      <a:latin typeface="Cambria Math" panose="02040503050406030204" pitchFamily="18" charset="0"/>
                                      <a:ea typeface="Cambria Math" panose="02040503050406030204" pitchFamily="18" charset="0"/>
                                    </a:rPr>
                                    <m:t>−</m:t>
                                  </m:r>
                                  <m:sSub>
                                    <m:sSubPr>
                                      <m:ctrlPr>
                                        <a:rPr lang="es-PE" sz="2000" i="1">
                                          <a:latin typeface="Cambria Math" panose="02040503050406030204" pitchFamily="18" charset="0"/>
                                          <a:ea typeface="Cambria Math" panose="02040503050406030204" pitchFamily="18" charset="0"/>
                                        </a:rPr>
                                      </m:ctrlPr>
                                    </m:sSubPr>
                                    <m:e>
                                      <m:r>
                                        <a:rPr lang="es-PE" sz="2000" i="1">
                                          <a:latin typeface="Cambria Math" panose="02040503050406030204" pitchFamily="18" charset="0"/>
                                          <a:ea typeface="Cambria Math" panose="02040503050406030204" pitchFamily="18" charset="0"/>
                                        </a:rPr>
                                        <m:t>𝑖𝑛𝑐</m:t>
                                      </m:r>
                                      <m:r>
                                        <a:rPr lang="es-PE" sz="2000" i="1">
                                          <a:latin typeface="Cambria Math" panose="02040503050406030204" pitchFamily="18" charset="0"/>
                                          <a:ea typeface="Cambria Math" panose="02040503050406030204" pitchFamily="18" charset="0"/>
                                        </a:rPr>
                                        <m:t>ó</m:t>
                                      </m:r>
                                      <m:r>
                                        <a:rPr lang="es-PE" sz="2000" i="1">
                                          <a:latin typeface="Cambria Math" panose="02040503050406030204" pitchFamily="18" charset="0"/>
                                          <a:ea typeface="Cambria Math" panose="02040503050406030204" pitchFamily="18" charset="0"/>
                                        </a:rPr>
                                        <m:t>𝑔𝑛𝑖𝑡𝑎</m:t>
                                      </m:r>
                                    </m:e>
                                    <m:sub>
                                      <m:r>
                                        <a:rPr lang="es-PE" sz="2000" i="1">
                                          <a:latin typeface="Cambria Math" panose="02040503050406030204" pitchFamily="18" charset="0"/>
                                          <a:ea typeface="Cambria Math" panose="02040503050406030204" pitchFamily="18" charset="0"/>
                                        </a:rPr>
                                        <m:t>𝑖</m:t>
                                      </m:r>
                                    </m:sub>
                                  </m:sSub>
                                </m:e>
                              </m:d>
                            </m:e>
                            <m:sup>
                              <m:r>
                                <a:rPr lang="es-PE" sz="2000" b="0" i="1" smtClean="0">
                                  <a:latin typeface="Cambria Math" panose="02040503050406030204" pitchFamily="18" charset="0"/>
                                </a:rPr>
                                <m:t>2</m:t>
                              </m:r>
                            </m:sup>
                          </m:sSup>
                        </m:e>
                      </m:nary>
                    </m:oMath>
                  </m:oMathPara>
                </a14:m>
                <a:endParaRPr lang="es-PE" sz="2000" dirty="0"/>
              </a:p>
              <a:p>
                <a:pPr fontAlgn="base"/>
                <a:r>
                  <a:rPr lang="es-ES" sz="2000" dirty="0"/>
                  <a:t>Donde:</a:t>
                </a:r>
              </a:p>
              <a:p>
                <a:pPr lvl="1" fontAlgn="base"/>
                <a:r>
                  <a:rPr lang="es-ES" sz="1600" dirty="0"/>
                  <a:t>D(j) es la distancia para la neurona</a:t>
                </a:r>
              </a:p>
              <a:p>
                <a:pPr lvl="1" fontAlgn="base"/>
                <a14:m>
                  <m:oMath xmlns:m="http://schemas.openxmlformats.org/officeDocument/2006/math">
                    <m:r>
                      <m:rPr>
                        <m:brk m:alnAt="25"/>
                      </m:rPr>
                      <a:rPr lang="es-PE" sz="1600" i="1">
                        <a:latin typeface="Cambria Math" panose="02040503050406030204" pitchFamily="18" charset="0"/>
                      </a:rPr>
                      <m:t>𝑦</m:t>
                    </m:r>
                    <m:r>
                      <a:rPr lang="es-PE" sz="1600" i="1">
                        <a:latin typeface="Cambria Math" panose="02040503050406030204" pitchFamily="18" charset="0"/>
                      </a:rPr>
                      <m:t>𝑜</m:t>
                    </m:r>
                  </m:oMath>
                </a14:m>
                <a:r>
                  <a:rPr lang="es-ES" sz="1600" dirty="0"/>
                  <a:t> y </a:t>
                </a:r>
                <a14:m>
                  <m:oMath xmlns:m="http://schemas.openxmlformats.org/officeDocument/2006/math">
                    <m:r>
                      <a:rPr lang="es-PE" sz="1600" i="1">
                        <a:latin typeface="Cambria Math" panose="02040503050406030204" pitchFamily="18" charset="0"/>
                      </a:rPr>
                      <m:t>𝑛𝑜𝑟𝑡𝑒</m:t>
                    </m:r>
                  </m:oMath>
                </a14:m>
                <a:r>
                  <a:rPr lang="es-ES" sz="1600" dirty="0"/>
                  <a:t> es el número de características.</a:t>
                </a:r>
                <a:endParaRPr lang="es-PE" sz="1600" dirty="0"/>
              </a:p>
            </p:txBody>
          </p:sp>
        </mc:Choice>
        <mc:Fallback xmlns="">
          <p:sp>
            <p:nvSpPr>
              <p:cNvPr id="6" name="Marcador de contenido 5">
                <a:extLst>
                  <a:ext uri="{FF2B5EF4-FFF2-40B4-BE49-F238E27FC236}">
                    <a16:creationId xmlns:a16="http://schemas.microsoft.com/office/drawing/2014/main" id="{642B4945-D89E-4510-6A85-AB68A958E184}"/>
                  </a:ext>
                </a:extLst>
              </p:cNvPr>
              <p:cNvSpPr>
                <a:spLocks noGrp="1" noRot="1" noChangeAspect="1" noMove="1" noResize="1" noEditPoints="1" noAdjustHandles="1" noChangeArrowheads="1" noChangeShapeType="1" noTextEdit="1"/>
              </p:cNvSpPr>
              <p:nvPr>
                <p:ph idx="1"/>
              </p:nvPr>
            </p:nvSpPr>
            <p:spPr>
              <a:xfrm>
                <a:off x="838200" y="1825625"/>
                <a:ext cx="10515600" cy="4565015"/>
              </a:xfrm>
              <a:blipFill>
                <a:blip r:embed="rId3"/>
                <a:stretch>
                  <a:fillRect l="-638" t="-1335"/>
                </a:stretch>
              </a:blipFill>
            </p:spPr>
            <p:txBody>
              <a:bodyPr/>
              <a:lstStyle/>
              <a:p>
                <a:r>
                  <a:rPr lang="es-PE">
                    <a:noFill/>
                  </a:rPr>
                  <a:t> </a:t>
                </a:r>
              </a:p>
            </p:txBody>
          </p:sp>
        </mc:Fallback>
      </mc:AlternateContent>
      <p:sp>
        <p:nvSpPr>
          <p:cNvPr id="8" name="Título 7">
            <a:extLst>
              <a:ext uri="{FF2B5EF4-FFF2-40B4-BE49-F238E27FC236}">
                <a16:creationId xmlns:a16="http://schemas.microsoft.com/office/drawing/2014/main" id="{68D81795-FF9B-B01C-7BEB-79C88A7D4EE2}"/>
              </a:ext>
            </a:extLst>
          </p:cNvPr>
          <p:cNvSpPr>
            <a:spLocks noGrp="1"/>
          </p:cNvSpPr>
          <p:nvPr>
            <p:ph type="title"/>
          </p:nvPr>
        </p:nvSpPr>
        <p:spPr/>
        <p:txBody>
          <a:bodyPr>
            <a:normAutofit/>
          </a:bodyPr>
          <a:lstStyle/>
          <a:p>
            <a:r>
              <a:rPr lang="es-ES" b="1" dirty="0"/>
              <a:t>Funcionamiento de los mapas autoorganizados (SOM)</a:t>
            </a:r>
            <a:endParaRPr lang="es-PE" dirty="0"/>
          </a:p>
        </p:txBody>
      </p:sp>
    </p:spTree>
    <p:extLst>
      <p:ext uri="{BB962C8B-B14F-4D97-AF65-F5344CB8AC3E}">
        <p14:creationId xmlns:p14="http://schemas.microsoft.com/office/powerpoint/2010/main" val="1999723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D9073-606D-86A7-B70A-63E6460200A8}"/>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F05428E-401E-3EA3-1C43-33182D2084C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mc:AlternateContent xmlns:mc="http://schemas.openxmlformats.org/markup-compatibility/2006" xmlns:a14="http://schemas.microsoft.com/office/drawing/2010/main">
        <mc:Choice Requires="a14">
          <p:sp>
            <p:nvSpPr>
              <p:cNvPr id="6" name="Marcador de contenido 5">
                <a:extLst>
                  <a:ext uri="{FF2B5EF4-FFF2-40B4-BE49-F238E27FC236}">
                    <a16:creationId xmlns:a16="http://schemas.microsoft.com/office/drawing/2014/main" id="{37949A94-6265-219B-50D9-8E3503F24608}"/>
                  </a:ext>
                </a:extLst>
              </p:cNvPr>
              <p:cNvSpPr>
                <a:spLocks noGrp="1"/>
              </p:cNvSpPr>
              <p:nvPr>
                <p:ph idx="1"/>
              </p:nvPr>
            </p:nvSpPr>
            <p:spPr>
              <a:xfrm>
                <a:off x="838200" y="1825625"/>
                <a:ext cx="10515600" cy="4371976"/>
              </a:xfrm>
            </p:spPr>
            <p:txBody>
              <a:bodyPr>
                <a:normAutofit/>
              </a:bodyPr>
              <a:lstStyle/>
              <a:p>
                <a:pPr marL="0" indent="0" fontAlgn="base">
                  <a:buNone/>
                </a:pPr>
                <a:r>
                  <a:rPr lang="es-PE" sz="1800" b="1" dirty="0"/>
                  <a:t>Actualización de peso</a:t>
                </a:r>
              </a:p>
              <a:p>
                <a:pPr fontAlgn="base"/>
                <a:r>
                  <a:rPr lang="es-PE" sz="1800" dirty="0"/>
                  <a:t>Los pesos de la neurona ganadora se actualizan para acercarse al vector de entrada. Los pesos de las neuronas vecinas también se ajustan, pero con cambios menores.</a:t>
                </a:r>
              </a:p>
              <a:p>
                <a:pPr marL="0" indent="0" algn="ctr" fontAlgn="base">
                  <a:buNone/>
                </a:pPr>
                <a14:m>
                  <m:oMathPara xmlns:m="http://schemas.openxmlformats.org/officeDocument/2006/math">
                    <m:oMathParaPr>
                      <m:jc m:val="centerGroup"/>
                    </m:oMathParaPr>
                    <m:oMath xmlns:m="http://schemas.openxmlformats.org/officeDocument/2006/math">
                      <m:sSubSup>
                        <m:sSubSupPr>
                          <m:ctrlPr>
                            <a:rPr lang="es-PE" sz="1800" i="1" smtClean="0">
                              <a:latin typeface="Cambria Math" panose="02040503050406030204" pitchFamily="18" charset="0"/>
                            </a:rPr>
                          </m:ctrlPr>
                        </m:sSubSupPr>
                        <m:e>
                          <m:r>
                            <a:rPr lang="es-PE" sz="1800" b="0" i="1" smtClean="0">
                              <a:latin typeface="Cambria Math" panose="02040503050406030204" pitchFamily="18" charset="0"/>
                            </a:rPr>
                            <m:t>𝑤</m:t>
                          </m:r>
                        </m:e>
                        <m:sub>
                          <m:r>
                            <a:rPr lang="es-PE" sz="1800" b="0" i="1" smtClean="0">
                              <a:latin typeface="Cambria Math" panose="02040503050406030204" pitchFamily="18" charset="0"/>
                            </a:rPr>
                            <m:t>𝑦𝑜</m:t>
                          </m:r>
                        </m:sub>
                        <m:sup>
                          <m:d>
                            <m:dPr>
                              <m:ctrlPr>
                                <a:rPr lang="es-PE" sz="1800" i="1" smtClean="0">
                                  <a:latin typeface="Cambria Math" panose="02040503050406030204" pitchFamily="18" charset="0"/>
                                </a:rPr>
                              </m:ctrlPr>
                            </m:dPr>
                            <m:e>
                              <m:r>
                                <a:rPr lang="es-PE" sz="1800" b="0" i="1" smtClean="0">
                                  <a:latin typeface="Cambria Math" panose="02040503050406030204" pitchFamily="18" charset="0"/>
                                </a:rPr>
                                <m:t>𝑛𝑢𝑒𝑣𝑜</m:t>
                              </m:r>
                            </m:e>
                          </m:d>
                        </m:sup>
                      </m:sSubSup>
                      <m:r>
                        <a:rPr lang="es-PE" sz="1800" i="1">
                          <a:latin typeface="Cambria Math" panose="02040503050406030204" pitchFamily="18" charset="0"/>
                        </a:rPr>
                        <m:t>=</m:t>
                      </m:r>
                      <m:sSubSup>
                        <m:sSubSupPr>
                          <m:ctrlPr>
                            <a:rPr lang="es-PE" sz="1800" i="1">
                              <a:latin typeface="Cambria Math" panose="02040503050406030204" pitchFamily="18" charset="0"/>
                            </a:rPr>
                          </m:ctrlPr>
                        </m:sSubSupPr>
                        <m:e>
                          <m:r>
                            <a:rPr lang="es-PE" sz="1800" i="1">
                              <a:latin typeface="Cambria Math" panose="02040503050406030204" pitchFamily="18" charset="0"/>
                            </a:rPr>
                            <m:t>𝑤</m:t>
                          </m:r>
                        </m:e>
                        <m:sub>
                          <m:r>
                            <a:rPr lang="es-PE" sz="1800" i="1">
                              <a:latin typeface="Cambria Math" panose="02040503050406030204" pitchFamily="18" charset="0"/>
                            </a:rPr>
                            <m:t>𝑦𝑜</m:t>
                          </m:r>
                        </m:sub>
                        <m:sup>
                          <m:d>
                            <m:dPr>
                              <m:ctrlPr>
                                <a:rPr lang="es-PE" sz="1800" i="1">
                                  <a:latin typeface="Cambria Math" panose="02040503050406030204" pitchFamily="18" charset="0"/>
                                </a:rPr>
                              </m:ctrlPr>
                            </m:dPr>
                            <m:e>
                              <m:r>
                                <a:rPr lang="es-PE" sz="1800" b="0" i="1" smtClean="0">
                                  <a:latin typeface="Cambria Math" panose="02040503050406030204" pitchFamily="18" charset="0"/>
                                </a:rPr>
                                <m:t>𝑣𝑖𝑒𝑗𝑜</m:t>
                              </m:r>
                            </m:e>
                          </m:d>
                        </m:sup>
                      </m:sSubSup>
                      <m:r>
                        <a:rPr lang="es-PE" sz="1800" i="1" smtClean="0">
                          <a:latin typeface="Cambria Math" panose="02040503050406030204" pitchFamily="18" charset="0"/>
                          <a:ea typeface="Cambria Math" panose="02040503050406030204" pitchFamily="18" charset="0"/>
                        </a:rPr>
                        <m:t>+</m:t>
                      </m:r>
                      <m:r>
                        <a:rPr lang="es-PE" sz="1800" b="0" i="1" smtClean="0">
                          <a:latin typeface="Cambria Math" panose="02040503050406030204" pitchFamily="18" charset="0"/>
                          <a:ea typeface="Cambria Math" panose="02040503050406030204" pitchFamily="18" charset="0"/>
                        </a:rPr>
                        <m:t>𝑎𝑙𝑓𝑎</m:t>
                      </m:r>
                      <m:r>
                        <a:rPr lang="es-PE" sz="1800" b="0" i="1" smtClean="0">
                          <a:latin typeface="Cambria Math" panose="02040503050406030204" pitchFamily="18" charset="0"/>
                          <a:ea typeface="Cambria Math" panose="02040503050406030204" pitchFamily="18" charset="0"/>
                        </a:rPr>
                        <m:t>×</m:t>
                      </m:r>
                      <m:d>
                        <m:dPr>
                          <m:ctrlPr>
                            <a:rPr lang="es-PE" sz="1800" b="0" i="1" smtClean="0">
                              <a:latin typeface="Cambria Math" panose="02040503050406030204" pitchFamily="18" charset="0"/>
                              <a:ea typeface="Cambria Math" panose="02040503050406030204" pitchFamily="18" charset="0"/>
                            </a:rPr>
                          </m:ctrlPr>
                        </m:dPr>
                        <m:e>
                          <m:sSub>
                            <m:sSubPr>
                              <m:ctrlPr>
                                <a:rPr lang="es-PE" sz="1800" i="1">
                                  <a:latin typeface="Cambria Math" panose="02040503050406030204" pitchFamily="18" charset="0"/>
                                </a:rPr>
                              </m:ctrlPr>
                            </m:sSubPr>
                            <m:e>
                              <m:r>
                                <a:rPr lang="es-PE" sz="1800" b="0" i="1" smtClean="0">
                                  <a:latin typeface="Cambria Math" panose="02040503050406030204" pitchFamily="18" charset="0"/>
                                </a:rPr>
                                <m:t>𝑥</m:t>
                              </m:r>
                            </m:e>
                            <m:sub>
                              <m:r>
                                <a:rPr lang="es-PE" sz="1800" b="0" i="1" smtClean="0">
                                  <a:latin typeface="Cambria Math" panose="02040503050406030204" pitchFamily="18" charset="0"/>
                                </a:rPr>
                                <m:t>𝑖</m:t>
                              </m:r>
                            </m:sub>
                          </m:sSub>
                          <m:r>
                            <a:rPr lang="es-PE" sz="1800" i="1" smtClean="0">
                              <a:latin typeface="Cambria Math" panose="02040503050406030204" pitchFamily="18" charset="0"/>
                              <a:ea typeface="Cambria Math" panose="02040503050406030204" pitchFamily="18" charset="0"/>
                            </a:rPr>
                            <m:t>−</m:t>
                          </m:r>
                          <m:sSubSup>
                            <m:sSubSupPr>
                              <m:ctrlPr>
                                <a:rPr lang="es-PE" sz="1800" i="1">
                                  <a:latin typeface="Cambria Math" panose="02040503050406030204" pitchFamily="18" charset="0"/>
                                </a:rPr>
                              </m:ctrlPr>
                            </m:sSubSupPr>
                            <m:e>
                              <m:r>
                                <a:rPr lang="es-PE" sz="1800" i="1">
                                  <a:latin typeface="Cambria Math" panose="02040503050406030204" pitchFamily="18" charset="0"/>
                                </a:rPr>
                                <m:t>𝑤</m:t>
                              </m:r>
                            </m:e>
                            <m:sub>
                              <m:r>
                                <a:rPr lang="es-PE" sz="1800" i="1">
                                  <a:latin typeface="Cambria Math" panose="02040503050406030204" pitchFamily="18" charset="0"/>
                                </a:rPr>
                                <m:t>𝑦𝑜</m:t>
                              </m:r>
                            </m:sub>
                            <m:sup>
                              <m:d>
                                <m:dPr>
                                  <m:ctrlPr>
                                    <a:rPr lang="es-PE" sz="1800" i="1">
                                      <a:latin typeface="Cambria Math" panose="02040503050406030204" pitchFamily="18" charset="0"/>
                                    </a:rPr>
                                  </m:ctrlPr>
                                </m:dPr>
                                <m:e>
                                  <m:r>
                                    <a:rPr lang="es-PE" sz="1800" b="0" i="1" smtClean="0">
                                      <a:latin typeface="Cambria Math" panose="02040503050406030204" pitchFamily="18" charset="0"/>
                                    </a:rPr>
                                    <m:t>𝑣𝑖𝑒𝑗𝑜</m:t>
                                  </m:r>
                                </m:e>
                              </m:d>
                            </m:sup>
                          </m:sSubSup>
                        </m:e>
                      </m:d>
                    </m:oMath>
                  </m:oMathPara>
                </a14:m>
                <a:endParaRPr lang="es-PE" sz="1800" dirty="0"/>
              </a:p>
              <a:p>
                <a:pPr fontAlgn="base"/>
                <a:r>
                  <a:rPr lang="es-PE" sz="1800" dirty="0"/>
                  <a:t>Dónde:</a:t>
                </a:r>
              </a:p>
              <a:p>
                <a:pPr lvl="1" fontAlgn="base"/>
                <a14:m>
                  <m:oMath xmlns:m="http://schemas.openxmlformats.org/officeDocument/2006/math">
                    <m:r>
                      <a:rPr lang="es-PE" sz="1600" i="1">
                        <a:latin typeface="Cambria Math" panose="02040503050406030204" pitchFamily="18" charset="0"/>
                        <a:ea typeface="Cambria Math" panose="02040503050406030204" pitchFamily="18" charset="0"/>
                      </a:rPr>
                      <m:t>𝑎𝑙𝑓</m:t>
                    </m:r>
                    <m:r>
                      <a:rPr lang="es-PE" sz="1600" b="0" i="1" smtClean="0">
                        <a:latin typeface="Cambria Math" panose="02040503050406030204" pitchFamily="18" charset="0"/>
                        <a:ea typeface="Cambria Math" panose="02040503050406030204" pitchFamily="18" charset="0"/>
                      </a:rPr>
                      <m:t>𝑎</m:t>
                    </m:r>
                  </m:oMath>
                </a14:m>
                <a:r>
                  <a:rPr lang="es-PE" sz="1600" dirty="0"/>
                  <a:t> es la tasa de aprendizaje</a:t>
                </a:r>
              </a:p>
              <a:p>
                <a:pPr lvl="1" fontAlgn="base"/>
                <a14:m>
                  <m:oMath xmlns:m="http://schemas.openxmlformats.org/officeDocument/2006/math">
                    <m:sSub>
                      <m:sSubPr>
                        <m:ctrlPr>
                          <a:rPr lang="es-PE" sz="1600" i="1">
                            <a:latin typeface="Cambria Math" panose="02040503050406030204" pitchFamily="18" charset="0"/>
                          </a:rPr>
                        </m:ctrlPr>
                      </m:sSubPr>
                      <m:e>
                        <m:r>
                          <a:rPr lang="es-PE" sz="1600" b="0" i="1" smtClean="0">
                            <a:latin typeface="Cambria Math" panose="02040503050406030204" pitchFamily="18" charset="0"/>
                          </a:rPr>
                          <m:t>𝑖𝑛𝑐</m:t>
                        </m:r>
                        <m:r>
                          <a:rPr lang="es-PE" sz="1600" b="0" i="1" smtClean="0">
                            <a:latin typeface="Cambria Math" panose="02040503050406030204" pitchFamily="18" charset="0"/>
                          </a:rPr>
                          <m:t>ó</m:t>
                        </m:r>
                        <m:r>
                          <a:rPr lang="es-PE" sz="1600" b="0" i="1" smtClean="0">
                            <a:latin typeface="Cambria Math" panose="02040503050406030204" pitchFamily="18" charset="0"/>
                          </a:rPr>
                          <m:t>𝑔𝑛𝑖𝑡𝑎</m:t>
                        </m:r>
                      </m:e>
                      <m:sub>
                        <m:r>
                          <a:rPr lang="es-PE" sz="1600" i="1">
                            <a:latin typeface="Cambria Math" panose="02040503050406030204" pitchFamily="18" charset="0"/>
                          </a:rPr>
                          <m:t>𝑖</m:t>
                        </m:r>
                      </m:sub>
                    </m:sSub>
                  </m:oMath>
                </a14:m>
                <a:r>
                  <a:rPr lang="es-PE" sz="1600" dirty="0"/>
                  <a:t> es la característica de entrada.</a:t>
                </a:r>
              </a:p>
              <a:p>
                <a:pPr marL="0" indent="0" fontAlgn="base">
                  <a:buNone/>
                </a:pPr>
                <a:r>
                  <a:rPr lang="es-PE" sz="1800" b="1" dirty="0"/>
                  <a:t>Disminución de la tasa de aprendizaje</a:t>
                </a:r>
              </a:p>
              <a:p>
                <a:pPr fontAlgn="base"/>
                <a:r>
                  <a:rPr lang="es-PE" sz="1800" dirty="0"/>
                  <a:t>La tasa de aprendizaje </a:t>
                </a:r>
                <a14:m>
                  <m:oMath xmlns:m="http://schemas.openxmlformats.org/officeDocument/2006/math">
                    <m:r>
                      <a:rPr lang="es-PE" sz="1800" i="1">
                        <a:latin typeface="Cambria Math" panose="02040503050406030204" pitchFamily="18" charset="0"/>
                        <a:ea typeface="Cambria Math" panose="02040503050406030204" pitchFamily="18" charset="0"/>
                      </a:rPr>
                      <m:t>𝛼</m:t>
                    </m:r>
                  </m:oMath>
                </a14:m>
                <a:r>
                  <a:rPr lang="es-PE" sz="1800" dirty="0"/>
                  <a:t>/</a:t>
                </a:r>
                <a:r>
                  <a:rPr lang="es-PE" sz="1800" dirty="0" err="1"/>
                  <a:t>alpha</a:t>
                </a:r>
                <a:r>
                  <a:rPr lang="es-PE" sz="1800" dirty="0"/>
                  <a:t> disminuye con el tiempo, lo que permite que el mapa converja a valores estables.</a:t>
                </a:r>
              </a:p>
              <a:p>
                <a:pPr marL="0" indent="0" algn="ctr" fontAlgn="base">
                  <a:buNone/>
                </a:pPr>
                <a14:m>
                  <m:oMathPara xmlns:m="http://schemas.openxmlformats.org/officeDocument/2006/math">
                    <m:oMathParaPr>
                      <m:jc m:val="centerGroup"/>
                    </m:oMathParaPr>
                    <m:oMath xmlns:m="http://schemas.openxmlformats.org/officeDocument/2006/math">
                      <m:r>
                        <a:rPr lang="es-PE" sz="1800" i="1" smtClean="0">
                          <a:latin typeface="Cambria Math" panose="02040503050406030204" pitchFamily="18" charset="0"/>
                          <a:ea typeface="Cambria Math" panose="02040503050406030204" pitchFamily="18" charset="0"/>
                        </a:rPr>
                        <m:t>𝛼</m:t>
                      </m:r>
                      <m:d>
                        <m:dPr>
                          <m:ctrlPr>
                            <a:rPr lang="es-PE" sz="1800" i="1" smtClean="0">
                              <a:latin typeface="Cambria Math" panose="02040503050406030204" pitchFamily="18" charset="0"/>
                              <a:ea typeface="Cambria Math" panose="02040503050406030204" pitchFamily="18" charset="0"/>
                            </a:rPr>
                          </m:ctrlPr>
                        </m:dPr>
                        <m:e>
                          <m:r>
                            <a:rPr lang="es-PE" sz="1800" b="0" i="1" smtClean="0">
                              <a:latin typeface="Cambria Math" panose="02040503050406030204" pitchFamily="18" charset="0"/>
                              <a:ea typeface="Cambria Math" panose="02040503050406030204" pitchFamily="18" charset="0"/>
                            </a:rPr>
                            <m:t>𝑡</m:t>
                          </m:r>
                          <m:r>
                            <a:rPr lang="es-PE" sz="1800" b="0" i="1" smtClean="0">
                              <a:latin typeface="Cambria Math" panose="02040503050406030204" pitchFamily="18" charset="0"/>
                              <a:ea typeface="Cambria Math" panose="02040503050406030204" pitchFamily="18" charset="0"/>
                            </a:rPr>
                            <m:t>+1</m:t>
                          </m:r>
                        </m:e>
                      </m:d>
                      <m:r>
                        <a:rPr lang="es-PE" sz="1800" i="1" smtClean="0">
                          <a:latin typeface="Cambria Math" panose="02040503050406030204" pitchFamily="18" charset="0"/>
                          <a:ea typeface="Cambria Math" panose="02040503050406030204" pitchFamily="18" charset="0"/>
                        </a:rPr>
                        <m:t>=</m:t>
                      </m:r>
                      <m:r>
                        <a:rPr lang="es-PE" sz="1800" b="0" i="1" smtClean="0">
                          <a:latin typeface="Cambria Math" panose="02040503050406030204" pitchFamily="18" charset="0"/>
                          <a:ea typeface="Cambria Math" panose="02040503050406030204" pitchFamily="18" charset="0"/>
                        </a:rPr>
                        <m:t>0.5×</m:t>
                      </m:r>
                      <m:r>
                        <a:rPr lang="es-PE" sz="1800" b="0" i="1" smtClean="0">
                          <a:latin typeface="Cambria Math" panose="02040503050406030204" pitchFamily="18" charset="0"/>
                          <a:ea typeface="Cambria Math" panose="02040503050406030204" pitchFamily="18" charset="0"/>
                        </a:rPr>
                        <m:t>𝛼</m:t>
                      </m:r>
                      <m:d>
                        <m:dPr>
                          <m:ctrlPr>
                            <a:rPr lang="es-PE" sz="1800" b="0" i="1" smtClean="0">
                              <a:latin typeface="Cambria Math" panose="02040503050406030204" pitchFamily="18" charset="0"/>
                              <a:ea typeface="Cambria Math" panose="02040503050406030204" pitchFamily="18" charset="0"/>
                            </a:rPr>
                          </m:ctrlPr>
                        </m:dPr>
                        <m:e>
                          <m:r>
                            <a:rPr lang="es-PE" sz="1800" b="0" i="1" smtClean="0">
                              <a:latin typeface="Cambria Math" panose="02040503050406030204" pitchFamily="18" charset="0"/>
                              <a:ea typeface="Cambria Math" panose="02040503050406030204" pitchFamily="18" charset="0"/>
                            </a:rPr>
                            <m:t>𝑡</m:t>
                          </m:r>
                        </m:e>
                      </m:d>
                    </m:oMath>
                  </m:oMathPara>
                </a14:m>
                <a:endParaRPr lang="es-PE" sz="1800" dirty="0"/>
              </a:p>
              <a:p>
                <a:pPr marL="0" indent="0" fontAlgn="base">
                  <a:buNone/>
                </a:pPr>
                <a:r>
                  <a:rPr lang="es-PE" sz="1800" b="1" dirty="0"/>
                  <a:t>Condición de parada</a:t>
                </a:r>
              </a:p>
              <a:p>
                <a:pPr fontAlgn="base"/>
                <a:r>
                  <a:rPr lang="es-PE" sz="1800" dirty="0"/>
                  <a:t>El entrenamiento se detiene cuando se alcanza el número máximo de épocas o cuando los pesos convergen.</a:t>
                </a:r>
              </a:p>
            </p:txBody>
          </p:sp>
        </mc:Choice>
        <mc:Fallback xmlns="">
          <p:sp>
            <p:nvSpPr>
              <p:cNvPr id="6" name="Marcador de contenido 5">
                <a:extLst>
                  <a:ext uri="{FF2B5EF4-FFF2-40B4-BE49-F238E27FC236}">
                    <a16:creationId xmlns:a16="http://schemas.microsoft.com/office/drawing/2014/main" id="{37949A94-6265-219B-50D9-8E3503F24608}"/>
                  </a:ext>
                </a:extLst>
              </p:cNvPr>
              <p:cNvSpPr>
                <a:spLocks noGrp="1" noRot="1" noChangeAspect="1" noMove="1" noResize="1" noEditPoints="1" noAdjustHandles="1" noChangeArrowheads="1" noChangeShapeType="1" noTextEdit="1"/>
              </p:cNvSpPr>
              <p:nvPr>
                <p:ph idx="1"/>
              </p:nvPr>
            </p:nvSpPr>
            <p:spPr>
              <a:xfrm>
                <a:off x="838200" y="1825625"/>
                <a:ext cx="10515600" cy="4371976"/>
              </a:xfrm>
              <a:blipFill>
                <a:blip r:embed="rId3"/>
                <a:stretch>
                  <a:fillRect l="-522" t="-1253"/>
                </a:stretch>
              </a:blipFill>
            </p:spPr>
            <p:txBody>
              <a:bodyPr/>
              <a:lstStyle/>
              <a:p>
                <a:r>
                  <a:rPr lang="es-PE">
                    <a:noFill/>
                  </a:rPr>
                  <a:t> </a:t>
                </a:r>
              </a:p>
            </p:txBody>
          </p:sp>
        </mc:Fallback>
      </mc:AlternateContent>
      <p:sp>
        <p:nvSpPr>
          <p:cNvPr id="2" name="Título 7">
            <a:extLst>
              <a:ext uri="{FF2B5EF4-FFF2-40B4-BE49-F238E27FC236}">
                <a16:creationId xmlns:a16="http://schemas.microsoft.com/office/drawing/2014/main" id="{91820688-4169-C40B-C5E1-3B5B65B2F455}"/>
              </a:ext>
            </a:extLst>
          </p:cNvPr>
          <p:cNvSpPr>
            <a:spLocks noGrp="1"/>
          </p:cNvSpPr>
          <p:nvPr>
            <p:ph type="title"/>
          </p:nvPr>
        </p:nvSpPr>
        <p:spPr>
          <a:xfrm>
            <a:off x="838200" y="365125"/>
            <a:ext cx="10515600" cy="1325563"/>
          </a:xfrm>
        </p:spPr>
        <p:txBody>
          <a:bodyPr>
            <a:normAutofit/>
          </a:bodyPr>
          <a:lstStyle/>
          <a:p>
            <a:r>
              <a:rPr lang="es-ES" b="1" dirty="0"/>
              <a:t>Funcionamiento de los mapas autoorganizados (SOM)</a:t>
            </a:r>
            <a:endParaRPr lang="es-PE" dirty="0"/>
          </a:p>
        </p:txBody>
      </p:sp>
    </p:spTree>
    <p:extLst>
      <p:ext uri="{BB962C8B-B14F-4D97-AF65-F5344CB8AC3E}">
        <p14:creationId xmlns:p14="http://schemas.microsoft.com/office/powerpoint/2010/main" val="2332871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3A15F-48FC-180F-C1DD-28C252C8C6F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378F772-E56D-2A38-CAAB-FC53C853C6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DD52C9C9-8558-A982-6026-731899515C6C}"/>
              </a:ext>
            </a:extLst>
          </p:cNvPr>
          <p:cNvSpPr>
            <a:spLocks noGrp="1"/>
          </p:cNvSpPr>
          <p:nvPr>
            <p:ph idx="1"/>
          </p:nvPr>
        </p:nvSpPr>
        <p:spPr>
          <a:xfrm>
            <a:off x="838200" y="1825625"/>
            <a:ext cx="10515600" cy="1839753"/>
          </a:xfrm>
        </p:spPr>
        <p:txBody>
          <a:bodyPr>
            <a:normAutofit/>
          </a:bodyPr>
          <a:lstStyle/>
          <a:p>
            <a:pPr fontAlgn="base"/>
            <a:r>
              <a:rPr lang="es-ES" sz="2000" dirty="0"/>
              <a:t>Ahora veamos una implementación en Python del algoritmo SOM. El código está dividido en bloques para mayor claridad.</a:t>
            </a:r>
          </a:p>
          <a:p>
            <a:pPr marL="0" indent="0" fontAlgn="base">
              <a:buNone/>
            </a:pPr>
            <a:r>
              <a:rPr lang="es-ES" sz="2000" b="1" dirty="0"/>
              <a:t>Importación de las bibliotecas necesarias</a:t>
            </a:r>
          </a:p>
          <a:p>
            <a:r>
              <a:rPr lang="es-ES" sz="2000" dirty="0"/>
              <a:t>Utilizaremos la biblioteca matemática para calcular la distancia euclidiana entre el vector de entrada y el vector de peso.</a:t>
            </a:r>
            <a:endParaRPr lang="es-PE" sz="2000" dirty="0"/>
          </a:p>
        </p:txBody>
      </p:sp>
      <p:sp>
        <p:nvSpPr>
          <p:cNvPr id="8" name="Título 7">
            <a:extLst>
              <a:ext uri="{FF2B5EF4-FFF2-40B4-BE49-F238E27FC236}">
                <a16:creationId xmlns:a16="http://schemas.microsoft.com/office/drawing/2014/main" id="{0029DCE1-ADE4-6EE5-5173-3B83A8F7B618}"/>
              </a:ext>
            </a:extLst>
          </p:cNvPr>
          <p:cNvSpPr>
            <a:spLocks noGrp="1"/>
          </p:cNvSpPr>
          <p:nvPr>
            <p:ph type="title"/>
          </p:nvPr>
        </p:nvSpPr>
        <p:spPr/>
        <p:txBody>
          <a:bodyPr/>
          <a:lstStyle/>
          <a:p>
            <a:r>
              <a:rPr lang="es-ES" b="1" dirty="0"/>
              <a:t>Implementación de SOM en Python</a:t>
            </a:r>
            <a:endParaRPr lang="es-PE" dirty="0"/>
          </a:p>
        </p:txBody>
      </p:sp>
      <p:sp>
        <p:nvSpPr>
          <p:cNvPr id="12" name="CuadroTexto 11">
            <a:extLst>
              <a:ext uri="{FF2B5EF4-FFF2-40B4-BE49-F238E27FC236}">
                <a16:creationId xmlns:a16="http://schemas.microsoft.com/office/drawing/2014/main" id="{4032F3CC-A03D-543C-427E-AF0FEC0017F7}"/>
              </a:ext>
            </a:extLst>
          </p:cNvPr>
          <p:cNvSpPr txBox="1"/>
          <p:nvPr/>
        </p:nvSpPr>
        <p:spPr>
          <a:xfrm>
            <a:off x="5303519" y="3789917"/>
            <a:ext cx="1584960" cy="369332"/>
          </a:xfrm>
          <a:prstGeom prst="rect">
            <a:avLst/>
          </a:prstGeom>
          <a:noFill/>
        </p:spPr>
        <p:txBody>
          <a:bodyPr wrap="square">
            <a:spAutoFit/>
          </a:bodyPr>
          <a:lstStyle/>
          <a:p>
            <a:pPr algn="ctr" fontAlgn="base">
              <a:buNone/>
            </a:pPr>
            <a:r>
              <a:rPr lang="es-PE" sz="1800" b="1" i="0" dirty="0" err="1">
                <a:solidFill>
                  <a:srgbClr val="008000"/>
                </a:solidFill>
                <a:effectLst/>
                <a:latin typeface="Consolas" panose="020B0609020204030204" pitchFamily="49" charset="0"/>
              </a:rPr>
              <a:t>import</a:t>
            </a:r>
            <a:r>
              <a:rPr lang="es-PE" sz="1800" b="0" i="0" dirty="0">
                <a:effectLst/>
                <a:latin typeface="Consolas" panose="020B0609020204030204" pitchFamily="49" charset="0"/>
              </a:rPr>
              <a:t> </a:t>
            </a:r>
            <a:r>
              <a:rPr lang="es-PE" sz="1800" b="1" i="0" dirty="0" err="1">
                <a:solidFill>
                  <a:srgbClr val="0000FF"/>
                </a:solidFill>
                <a:effectLst/>
                <a:latin typeface="Consolas" panose="020B0609020204030204" pitchFamily="49" charset="0"/>
              </a:rPr>
              <a:t>math</a:t>
            </a:r>
            <a:endParaRPr lang="es-PE" sz="1800" b="0" i="0" dirty="0">
              <a:effectLst/>
              <a:latin typeface="Consolas" panose="020B0609020204030204" pitchFamily="49" charset="0"/>
            </a:endParaRPr>
          </a:p>
        </p:txBody>
      </p:sp>
      <p:sp>
        <p:nvSpPr>
          <p:cNvPr id="14" name="CuadroTexto 13">
            <a:extLst>
              <a:ext uri="{FF2B5EF4-FFF2-40B4-BE49-F238E27FC236}">
                <a16:creationId xmlns:a16="http://schemas.microsoft.com/office/drawing/2014/main" id="{EA6A2672-B227-16BC-E5CC-B7ABC93BD117}"/>
              </a:ext>
            </a:extLst>
          </p:cNvPr>
          <p:cNvSpPr txBox="1"/>
          <p:nvPr/>
        </p:nvSpPr>
        <p:spPr>
          <a:xfrm>
            <a:off x="838200" y="4341812"/>
            <a:ext cx="10515600" cy="1839753"/>
          </a:xfrm>
          <a:prstGeom prst="rect">
            <a:avLst/>
          </a:prstGeom>
        </p:spPr>
        <p:txBody>
          <a:bodyPr vert="horz" lIns="91440" tIns="45720" rIns="91440" bIns="45720" rtlCol="0">
            <a:normAutofit/>
          </a:bodyPr>
          <a:lstStyle>
            <a:lvl1pPr marL="228600" indent="-228600" fontAlgn="base">
              <a:lnSpc>
                <a:spcPct val="90000"/>
              </a:lnSpc>
              <a:spcBef>
                <a:spcPts val="1000"/>
              </a:spcBef>
              <a:buFont typeface="Arial" panose="020B0604020202020204" pitchFamily="34" charset="0"/>
              <a:buChar char="•"/>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s-ES" sz="2000" b="1" dirty="0"/>
              <a:t>Definición de la clase SOM</a:t>
            </a:r>
          </a:p>
          <a:p>
            <a:r>
              <a:rPr lang="es-ES" sz="2000" dirty="0"/>
              <a:t>En esta clase, definimos dos funciones importantes, </a:t>
            </a:r>
            <a:r>
              <a:rPr lang="es-ES" sz="2000" dirty="0" err="1"/>
              <a:t>winner</a:t>
            </a:r>
            <a:r>
              <a:rPr lang="es-ES" sz="2000" dirty="0"/>
              <a:t>() para calcular la neurona ganadora calculando la distancia euclidiana entre los vectores de entrada y peso de cada grupo y </a:t>
            </a:r>
            <a:r>
              <a:rPr lang="es-ES" sz="2000" dirty="0" err="1"/>
              <a:t>update</a:t>
            </a:r>
            <a:r>
              <a:rPr lang="es-ES" sz="2000" dirty="0"/>
              <a:t>() para actualizar los vectores de peso de la neurona ganadora de acuerdo con la regla de actualización de peso.</a:t>
            </a:r>
          </a:p>
        </p:txBody>
      </p:sp>
    </p:spTree>
    <p:extLst>
      <p:ext uri="{BB962C8B-B14F-4D97-AF65-F5344CB8AC3E}">
        <p14:creationId xmlns:p14="http://schemas.microsoft.com/office/powerpoint/2010/main" val="1066269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71697-AA09-7DD1-E9B5-A1D89347AC8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2389041-955E-9B2F-0180-ABAED19082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16" name="CuadroTexto 15">
            <a:extLst>
              <a:ext uri="{FF2B5EF4-FFF2-40B4-BE49-F238E27FC236}">
                <a16:creationId xmlns:a16="http://schemas.microsoft.com/office/drawing/2014/main" id="{121818E3-3F65-3F06-906B-543059E0F1C8}"/>
              </a:ext>
            </a:extLst>
          </p:cNvPr>
          <p:cNvSpPr txBox="1"/>
          <p:nvPr/>
        </p:nvSpPr>
        <p:spPr>
          <a:xfrm>
            <a:off x="1600199" y="2055813"/>
            <a:ext cx="8991600" cy="4031873"/>
          </a:xfrm>
          <a:prstGeom prst="rect">
            <a:avLst/>
          </a:prstGeom>
          <a:noFill/>
        </p:spPr>
        <p:txBody>
          <a:bodyPr wrap="square">
            <a:spAutoFit/>
          </a:bodyPr>
          <a:lstStyle/>
          <a:p>
            <a:pPr algn="l" fontAlgn="base">
              <a:buNone/>
            </a:pPr>
            <a:r>
              <a:rPr lang="es-PE" sz="1600" b="1" i="0" dirty="0" err="1">
                <a:solidFill>
                  <a:srgbClr val="008000"/>
                </a:solidFill>
                <a:effectLst/>
                <a:latin typeface="Consolas" panose="020B0609020204030204" pitchFamily="49" charset="0"/>
              </a:rPr>
              <a:t>class</a:t>
            </a:r>
            <a:r>
              <a:rPr lang="es-PE" sz="1600" b="0" i="0" dirty="0">
                <a:effectLst/>
                <a:latin typeface="Consolas" panose="020B0609020204030204" pitchFamily="49" charset="0"/>
              </a:rPr>
              <a:t> </a:t>
            </a:r>
            <a:r>
              <a:rPr lang="es-PE" sz="1600" b="1" i="0" dirty="0">
                <a:solidFill>
                  <a:srgbClr val="0000FF"/>
                </a:solidFill>
                <a:effectLst/>
                <a:latin typeface="Consolas" panose="020B0609020204030204" pitchFamily="49" charset="0"/>
              </a:rPr>
              <a:t>SOM</a:t>
            </a:r>
            <a:r>
              <a:rPr lang="es-PE" sz="1600" b="0" i="0" dirty="0">
                <a:effectLst/>
                <a:latin typeface="Consolas" panose="020B0609020204030204" pitchFamily="49" charset="0"/>
              </a:rPr>
              <a:t>:</a:t>
            </a:r>
          </a:p>
          <a:p>
            <a:pPr algn="l" fontAlgn="base">
              <a:buNone/>
            </a:pPr>
            <a:r>
              <a:rPr lang="es-PE" sz="1600" b="0" i="0" dirty="0">
                <a:effectLst/>
                <a:latin typeface="Consolas" panose="020B0609020204030204" pitchFamily="49" charset="0"/>
              </a:rPr>
              <a:t>    </a:t>
            </a:r>
            <a:r>
              <a:rPr lang="es-PE" sz="1600" b="1" i="0" dirty="0" err="1">
                <a:solidFill>
                  <a:srgbClr val="008000"/>
                </a:solidFill>
                <a:effectLst/>
                <a:latin typeface="Consolas" panose="020B0609020204030204" pitchFamily="49" charset="0"/>
              </a:rPr>
              <a:t>def</a:t>
            </a:r>
            <a:r>
              <a:rPr lang="es-PE" sz="1600" b="0" i="0" dirty="0">
                <a:effectLst/>
                <a:latin typeface="Consolas" panose="020B0609020204030204" pitchFamily="49" charset="0"/>
              </a:rPr>
              <a:t> </a:t>
            </a:r>
            <a:r>
              <a:rPr lang="es-PE" sz="1600" b="0" i="0" dirty="0" err="1">
                <a:solidFill>
                  <a:srgbClr val="0000FF"/>
                </a:solidFill>
                <a:effectLst/>
                <a:latin typeface="Consolas" panose="020B0609020204030204" pitchFamily="49" charset="0"/>
              </a:rPr>
              <a:t>winner</a:t>
            </a:r>
            <a:r>
              <a:rPr lang="es-PE" sz="1600" b="0" i="0" dirty="0">
                <a:effectLst/>
                <a:latin typeface="Consolas" panose="020B0609020204030204" pitchFamily="49" charset="0"/>
              </a:rPr>
              <a:t>(</a:t>
            </a:r>
            <a:r>
              <a:rPr lang="es-PE" sz="1600" b="0" i="0" dirty="0" err="1">
                <a:solidFill>
                  <a:srgbClr val="008000"/>
                </a:solidFill>
                <a:effectLst/>
                <a:latin typeface="Consolas" panose="020B0609020204030204" pitchFamily="49" charset="0"/>
              </a:rPr>
              <a:t>self</a:t>
            </a:r>
            <a:r>
              <a:rPr lang="es-PE" sz="1600" b="0" i="0" dirty="0">
                <a:effectLst/>
                <a:latin typeface="Consolas" panose="020B0609020204030204" pitchFamily="49" charset="0"/>
              </a:rPr>
              <a:t>, </a:t>
            </a:r>
            <a:r>
              <a:rPr lang="es-PE" sz="1600" b="0" i="0" dirty="0" err="1">
                <a:effectLst/>
                <a:latin typeface="Consolas" panose="020B0609020204030204" pitchFamily="49" charset="0"/>
              </a:rPr>
              <a:t>weights</a:t>
            </a:r>
            <a:r>
              <a:rPr lang="es-PE" sz="1600" b="0" i="0" dirty="0">
                <a:effectLst/>
                <a:latin typeface="Consolas" panose="020B0609020204030204" pitchFamily="49" charset="0"/>
              </a:rPr>
              <a:t>, </a:t>
            </a:r>
            <a:r>
              <a:rPr lang="es-PE" sz="1600" b="0" i="0" dirty="0" err="1">
                <a:effectLst/>
                <a:latin typeface="Consolas" panose="020B0609020204030204" pitchFamily="49" charset="0"/>
              </a:rPr>
              <a:t>sample</a:t>
            </a:r>
            <a:r>
              <a:rPr lang="es-PE" sz="1600" b="0" i="0" dirty="0">
                <a:effectLst/>
                <a:latin typeface="Consolas" panose="020B0609020204030204" pitchFamily="49" charset="0"/>
              </a:rPr>
              <a:t>):</a:t>
            </a:r>
          </a:p>
          <a:p>
            <a:pPr algn="l" fontAlgn="base">
              <a:buNone/>
            </a:pPr>
            <a:r>
              <a:rPr lang="es-PE" sz="1600" b="0" i="0" dirty="0">
                <a:effectLst/>
                <a:latin typeface="Consolas" panose="020B0609020204030204" pitchFamily="49" charset="0"/>
              </a:rPr>
              <a:t>        D0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a:solidFill>
                  <a:srgbClr val="666666"/>
                </a:solidFill>
                <a:effectLst/>
                <a:latin typeface="Consolas" panose="020B0609020204030204" pitchFamily="49" charset="0"/>
              </a:rPr>
              <a:t>0</a:t>
            </a:r>
            <a:endParaRPr lang="es-PE" sz="1600" b="0" i="0" dirty="0">
              <a:effectLst/>
              <a:latin typeface="Consolas" panose="020B0609020204030204" pitchFamily="49" charset="0"/>
            </a:endParaRPr>
          </a:p>
          <a:p>
            <a:pPr algn="l" fontAlgn="base">
              <a:buNone/>
            </a:pPr>
            <a:r>
              <a:rPr lang="es-PE" sz="1600" b="0" i="0" dirty="0">
                <a:effectLst/>
                <a:latin typeface="Consolas" panose="020B0609020204030204" pitchFamily="49" charset="0"/>
              </a:rPr>
              <a:t>        D1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a:solidFill>
                  <a:srgbClr val="666666"/>
                </a:solidFill>
                <a:effectLst/>
                <a:latin typeface="Consolas" panose="020B0609020204030204" pitchFamily="49" charset="0"/>
              </a:rPr>
              <a:t>0</a:t>
            </a:r>
            <a:endParaRPr lang="es-PE" sz="1600" b="0" i="0" dirty="0">
              <a:effectLst/>
              <a:latin typeface="Consolas" panose="020B0609020204030204" pitchFamily="49" charset="0"/>
            </a:endParaRPr>
          </a:p>
          <a:p>
            <a:pPr algn="l" fontAlgn="base">
              <a:buNone/>
            </a:pPr>
            <a:endParaRPr lang="es-PE" sz="1600" b="0" i="0" dirty="0">
              <a:effectLst/>
              <a:latin typeface="Consolas" panose="020B0609020204030204" pitchFamily="49" charset="0"/>
            </a:endParaRPr>
          </a:p>
          <a:p>
            <a:pPr algn="l" fontAlgn="base">
              <a:buNone/>
            </a:pPr>
            <a:r>
              <a:rPr lang="es-PE" sz="1600" b="0" i="0" dirty="0">
                <a:effectLst/>
                <a:latin typeface="Consolas" panose="020B0609020204030204" pitchFamily="49" charset="0"/>
              </a:rPr>
              <a:t>        </a:t>
            </a:r>
            <a:r>
              <a:rPr lang="es-PE" sz="1600" b="1" i="0" dirty="0" err="1">
                <a:solidFill>
                  <a:srgbClr val="008000"/>
                </a:solidFill>
                <a:effectLst/>
                <a:latin typeface="Consolas" panose="020B0609020204030204" pitchFamily="49" charset="0"/>
              </a:rPr>
              <a:t>for</a:t>
            </a:r>
            <a:r>
              <a:rPr lang="es-PE" sz="1600" b="0" i="0" dirty="0">
                <a:effectLst/>
                <a:latin typeface="Consolas" panose="020B0609020204030204" pitchFamily="49" charset="0"/>
              </a:rPr>
              <a:t> i </a:t>
            </a:r>
            <a:r>
              <a:rPr lang="es-PE" sz="1600" b="1" i="0" dirty="0">
                <a:solidFill>
                  <a:srgbClr val="AA22FF"/>
                </a:solidFill>
                <a:effectLst/>
                <a:latin typeface="Consolas" panose="020B0609020204030204" pitchFamily="49" charset="0"/>
              </a:rPr>
              <a:t>in</a:t>
            </a:r>
            <a:r>
              <a:rPr lang="es-PE" sz="1600" b="0" i="0" dirty="0">
                <a:effectLst/>
                <a:latin typeface="Consolas" panose="020B0609020204030204" pitchFamily="49" charset="0"/>
              </a:rPr>
              <a:t> </a:t>
            </a:r>
            <a:r>
              <a:rPr lang="es-PE" sz="1600" b="0" i="0" dirty="0" err="1">
                <a:solidFill>
                  <a:srgbClr val="008000"/>
                </a:solidFill>
                <a:effectLst/>
                <a:latin typeface="Consolas" panose="020B0609020204030204" pitchFamily="49" charset="0"/>
              </a:rPr>
              <a:t>range</a:t>
            </a:r>
            <a:r>
              <a:rPr lang="es-PE" sz="1600" b="0" i="0" dirty="0">
                <a:effectLst/>
                <a:latin typeface="Consolas" panose="020B0609020204030204" pitchFamily="49" charset="0"/>
              </a:rPr>
              <a:t>(</a:t>
            </a:r>
            <a:r>
              <a:rPr lang="es-PE" sz="1600" b="0" i="0" dirty="0" err="1">
                <a:solidFill>
                  <a:srgbClr val="008000"/>
                </a:solidFill>
                <a:effectLst/>
                <a:latin typeface="Consolas" panose="020B0609020204030204" pitchFamily="49" charset="0"/>
              </a:rPr>
              <a:t>len</a:t>
            </a:r>
            <a:r>
              <a:rPr lang="es-PE" sz="1600" b="0" i="0" dirty="0">
                <a:effectLst/>
                <a:latin typeface="Consolas" panose="020B0609020204030204" pitchFamily="49" charset="0"/>
              </a:rPr>
              <a:t>(</a:t>
            </a:r>
            <a:r>
              <a:rPr lang="es-PE" sz="1600" b="0" i="0" dirty="0" err="1">
                <a:effectLst/>
                <a:latin typeface="Consolas" panose="020B0609020204030204" pitchFamily="49" charset="0"/>
              </a:rPr>
              <a:t>sample</a:t>
            </a:r>
            <a:r>
              <a:rPr lang="es-PE" sz="1600" b="0" i="0" dirty="0">
                <a:effectLst/>
                <a:latin typeface="Consolas" panose="020B0609020204030204" pitchFamily="49" charset="0"/>
              </a:rPr>
              <a:t>)):</a:t>
            </a:r>
          </a:p>
          <a:p>
            <a:pPr algn="l" fontAlgn="base">
              <a:buNone/>
            </a:pPr>
            <a:r>
              <a:rPr lang="es-PE" sz="1600" b="0" i="0" dirty="0">
                <a:effectLst/>
                <a:latin typeface="Consolas" panose="020B0609020204030204" pitchFamily="49" charset="0"/>
              </a:rPr>
              <a:t>            D0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err="1">
                <a:effectLst/>
                <a:latin typeface="Consolas" panose="020B0609020204030204" pitchFamily="49" charset="0"/>
              </a:rPr>
              <a:t>math</a:t>
            </a:r>
            <a:r>
              <a:rPr lang="es-PE" sz="1600" b="0" i="0" dirty="0" err="1">
                <a:solidFill>
                  <a:srgbClr val="666666"/>
                </a:solidFill>
                <a:effectLst/>
                <a:latin typeface="Consolas" panose="020B0609020204030204" pitchFamily="49" charset="0"/>
              </a:rPr>
              <a:t>.</a:t>
            </a:r>
            <a:r>
              <a:rPr lang="es-PE" sz="1600" b="0" i="0" dirty="0" err="1">
                <a:effectLst/>
                <a:latin typeface="Consolas" panose="020B0609020204030204" pitchFamily="49" charset="0"/>
              </a:rPr>
              <a:t>pow</a:t>
            </a:r>
            <a:r>
              <a:rPr lang="es-PE" sz="1600" b="0" i="0" dirty="0">
                <a:effectLst/>
                <a:latin typeface="Consolas" panose="020B0609020204030204" pitchFamily="49" charset="0"/>
              </a:rPr>
              <a:t>((</a:t>
            </a:r>
            <a:r>
              <a:rPr lang="es-PE" sz="1600" b="0" i="0" dirty="0" err="1">
                <a:effectLst/>
                <a:latin typeface="Consolas" panose="020B0609020204030204" pitchFamily="49" charset="0"/>
              </a:rPr>
              <a:t>sample</a:t>
            </a:r>
            <a:r>
              <a:rPr lang="es-PE" sz="1600" b="0" i="0" dirty="0">
                <a:effectLst/>
                <a:latin typeface="Consolas" panose="020B0609020204030204" pitchFamily="49" charset="0"/>
              </a:rPr>
              <a:t>[i]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err="1">
                <a:effectLst/>
                <a:latin typeface="Consolas" panose="020B0609020204030204" pitchFamily="49" charset="0"/>
              </a:rPr>
              <a:t>weights</a:t>
            </a:r>
            <a:r>
              <a:rPr lang="es-PE" sz="1600" b="0" i="0" dirty="0">
                <a:effectLst/>
                <a:latin typeface="Consolas" panose="020B0609020204030204" pitchFamily="49" charset="0"/>
              </a:rPr>
              <a:t>[</a:t>
            </a:r>
            <a:r>
              <a:rPr lang="es-PE" sz="1600" b="0" i="0" dirty="0">
                <a:solidFill>
                  <a:srgbClr val="666666"/>
                </a:solidFill>
                <a:effectLst/>
                <a:latin typeface="Consolas" panose="020B0609020204030204" pitchFamily="49" charset="0"/>
              </a:rPr>
              <a:t>0</a:t>
            </a:r>
            <a:r>
              <a:rPr lang="es-PE" sz="1600" b="0" i="0" dirty="0">
                <a:effectLst/>
                <a:latin typeface="Consolas" panose="020B0609020204030204" pitchFamily="49" charset="0"/>
              </a:rPr>
              <a:t>][i]), </a:t>
            </a:r>
            <a:r>
              <a:rPr lang="es-PE" sz="1600" b="0" i="0" dirty="0">
                <a:solidFill>
                  <a:srgbClr val="666666"/>
                </a:solidFill>
                <a:effectLst/>
                <a:latin typeface="Consolas" panose="020B0609020204030204" pitchFamily="49" charset="0"/>
              </a:rPr>
              <a:t>2</a:t>
            </a:r>
            <a:r>
              <a:rPr lang="es-PE" sz="1600" b="0" i="0" dirty="0">
                <a:effectLst/>
                <a:latin typeface="Consolas" panose="020B0609020204030204" pitchFamily="49" charset="0"/>
              </a:rPr>
              <a:t>)</a:t>
            </a:r>
          </a:p>
          <a:p>
            <a:pPr algn="l" fontAlgn="base">
              <a:buNone/>
            </a:pPr>
            <a:r>
              <a:rPr lang="es-PE" sz="1600" b="0" i="0" dirty="0">
                <a:effectLst/>
                <a:latin typeface="Consolas" panose="020B0609020204030204" pitchFamily="49" charset="0"/>
              </a:rPr>
              <a:t>            D1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err="1">
                <a:effectLst/>
                <a:latin typeface="Consolas" panose="020B0609020204030204" pitchFamily="49" charset="0"/>
              </a:rPr>
              <a:t>math</a:t>
            </a:r>
            <a:r>
              <a:rPr lang="es-PE" sz="1600" b="0" i="0" dirty="0" err="1">
                <a:solidFill>
                  <a:srgbClr val="666666"/>
                </a:solidFill>
                <a:effectLst/>
                <a:latin typeface="Consolas" panose="020B0609020204030204" pitchFamily="49" charset="0"/>
              </a:rPr>
              <a:t>.</a:t>
            </a:r>
            <a:r>
              <a:rPr lang="es-PE" sz="1600" b="0" i="0" dirty="0" err="1">
                <a:effectLst/>
                <a:latin typeface="Consolas" panose="020B0609020204030204" pitchFamily="49" charset="0"/>
              </a:rPr>
              <a:t>pow</a:t>
            </a:r>
            <a:r>
              <a:rPr lang="es-PE" sz="1600" b="0" i="0" dirty="0">
                <a:effectLst/>
                <a:latin typeface="Consolas" panose="020B0609020204030204" pitchFamily="49" charset="0"/>
              </a:rPr>
              <a:t>((</a:t>
            </a:r>
            <a:r>
              <a:rPr lang="es-PE" sz="1600" b="0" i="0" dirty="0" err="1">
                <a:effectLst/>
                <a:latin typeface="Consolas" panose="020B0609020204030204" pitchFamily="49" charset="0"/>
              </a:rPr>
              <a:t>sample</a:t>
            </a:r>
            <a:r>
              <a:rPr lang="es-PE" sz="1600" b="0" i="0" dirty="0">
                <a:effectLst/>
                <a:latin typeface="Consolas" panose="020B0609020204030204" pitchFamily="49" charset="0"/>
              </a:rPr>
              <a:t>[i]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err="1">
                <a:effectLst/>
                <a:latin typeface="Consolas" panose="020B0609020204030204" pitchFamily="49" charset="0"/>
              </a:rPr>
              <a:t>weights</a:t>
            </a:r>
            <a:r>
              <a:rPr lang="es-PE" sz="1600" b="0" i="0" dirty="0">
                <a:effectLst/>
                <a:latin typeface="Consolas" panose="020B0609020204030204" pitchFamily="49" charset="0"/>
              </a:rPr>
              <a:t>[</a:t>
            </a:r>
            <a:r>
              <a:rPr lang="es-PE" sz="1600" b="0" i="0" dirty="0">
                <a:solidFill>
                  <a:srgbClr val="666666"/>
                </a:solidFill>
                <a:effectLst/>
                <a:latin typeface="Consolas" panose="020B0609020204030204" pitchFamily="49" charset="0"/>
              </a:rPr>
              <a:t>1</a:t>
            </a:r>
            <a:r>
              <a:rPr lang="es-PE" sz="1600" b="0" i="0" dirty="0">
                <a:effectLst/>
                <a:latin typeface="Consolas" panose="020B0609020204030204" pitchFamily="49" charset="0"/>
              </a:rPr>
              <a:t>][i]), </a:t>
            </a:r>
            <a:r>
              <a:rPr lang="es-PE" sz="1600" b="0" i="0" dirty="0">
                <a:solidFill>
                  <a:srgbClr val="666666"/>
                </a:solidFill>
                <a:effectLst/>
                <a:latin typeface="Consolas" panose="020B0609020204030204" pitchFamily="49" charset="0"/>
              </a:rPr>
              <a:t>2</a:t>
            </a:r>
            <a:r>
              <a:rPr lang="es-PE" sz="1600" b="0" i="0" dirty="0">
                <a:effectLst/>
                <a:latin typeface="Consolas" panose="020B0609020204030204" pitchFamily="49" charset="0"/>
              </a:rPr>
              <a:t>)</a:t>
            </a:r>
          </a:p>
          <a:p>
            <a:pPr algn="l" fontAlgn="base">
              <a:buNone/>
            </a:pPr>
            <a:r>
              <a:rPr lang="es-PE" sz="1600" b="0" i="0" dirty="0">
                <a:effectLst/>
                <a:latin typeface="Consolas" panose="020B0609020204030204" pitchFamily="49" charset="0"/>
              </a:rPr>
              <a:t>            </a:t>
            </a:r>
          </a:p>
          <a:p>
            <a:pPr algn="l" fontAlgn="base">
              <a:buNone/>
            </a:pPr>
            <a:r>
              <a:rPr lang="es-PE" sz="1600" b="0" i="0" dirty="0">
                <a:effectLst/>
                <a:latin typeface="Consolas" panose="020B0609020204030204" pitchFamily="49" charset="0"/>
              </a:rPr>
              <a:t>        </a:t>
            </a:r>
            <a:r>
              <a:rPr lang="es-PE" sz="1600" b="1" i="0" dirty="0" err="1">
                <a:solidFill>
                  <a:srgbClr val="008000"/>
                </a:solidFill>
                <a:effectLst/>
                <a:latin typeface="Consolas" panose="020B0609020204030204" pitchFamily="49" charset="0"/>
              </a:rPr>
              <a:t>return</a:t>
            </a:r>
            <a:r>
              <a:rPr lang="es-PE" sz="1600" b="0" i="0" dirty="0">
                <a:effectLst/>
                <a:latin typeface="Consolas" panose="020B0609020204030204" pitchFamily="49" charset="0"/>
              </a:rPr>
              <a:t> </a:t>
            </a:r>
            <a:r>
              <a:rPr lang="es-PE" sz="1600" b="0" i="0" dirty="0">
                <a:solidFill>
                  <a:srgbClr val="666666"/>
                </a:solidFill>
                <a:effectLst/>
                <a:latin typeface="Consolas" panose="020B0609020204030204" pitchFamily="49" charset="0"/>
              </a:rPr>
              <a:t>0</a:t>
            </a:r>
            <a:r>
              <a:rPr lang="es-PE" sz="1600" b="0" i="0" dirty="0">
                <a:effectLst/>
                <a:latin typeface="Consolas" panose="020B0609020204030204" pitchFamily="49" charset="0"/>
              </a:rPr>
              <a:t> </a:t>
            </a:r>
            <a:r>
              <a:rPr lang="es-PE" sz="1600" b="1" i="0" dirty="0" err="1">
                <a:solidFill>
                  <a:srgbClr val="008000"/>
                </a:solidFill>
                <a:effectLst/>
                <a:latin typeface="Consolas" panose="020B0609020204030204" pitchFamily="49" charset="0"/>
              </a:rPr>
              <a:t>if</a:t>
            </a:r>
            <a:r>
              <a:rPr lang="es-PE" sz="1600" b="0" i="0" dirty="0">
                <a:effectLst/>
                <a:latin typeface="Consolas" panose="020B0609020204030204" pitchFamily="49" charset="0"/>
              </a:rPr>
              <a:t> D0 </a:t>
            </a:r>
            <a:r>
              <a:rPr lang="es-PE" sz="1600" b="0" i="0" dirty="0">
                <a:solidFill>
                  <a:srgbClr val="666666"/>
                </a:solidFill>
                <a:effectLst/>
                <a:latin typeface="Consolas" panose="020B0609020204030204" pitchFamily="49" charset="0"/>
              </a:rPr>
              <a:t>&lt;</a:t>
            </a:r>
            <a:r>
              <a:rPr lang="es-PE" sz="1600" b="0" i="0" dirty="0">
                <a:effectLst/>
                <a:latin typeface="Consolas" panose="020B0609020204030204" pitchFamily="49" charset="0"/>
              </a:rPr>
              <a:t> D1 </a:t>
            </a:r>
            <a:r>
              <a:rPr lang="es-PE" sz="1600" b="1" i="0" dirty="0" err="1">
                <a:solidFill>
                  <a:srgbClr val="008000"/>
                </a:solidFill>
                <a:effectLst/>
                <a:latin typeface="Consolas" panose="020B0609020204030204" pitchFamily="49" charset="0"/>
              </a:rPr>
              <a:t>else</a:t>
            </a:r>
            <a:r>
              <a:rPr lang="es-PE" sz="1600" b="0" i="0" dirty="0">
                <a:effectLst/>
                <a:latin typeface="Consolas" panose="020B0609020204030204" pitchFamily="49" charset="0"/>
              </a:rPr>
              <a:t> </a:t>
            </a:r>
            <a:r>
              <a:rPr lang="es-PE" sz="1600" b="0" i="0" dirty="0">
                <a:solidFill>
                  <a:srgbClr val="666666"/>
                </a:solidFill>
                <a:effectLst/>
                <a:latin typeface="Consolas" panose="020B0609020204030204" pitchFamily="49" charset="0"/>
              </a:rPr>
              <a:t>1</a:t>
            </a:r>
            <a:endParaRPr lang="es-PE" sz="1600" b="0" i="0" dirty="0">
              <a:effectLst/>
              <a:latin typeface="Consolas" panose="020B0609020204030204" pitchFamily="49" charset="0"/>
            </a:endParaRPr>
          </a:p>
          <a:p>
            <a:pPr algn="l" fontAlgn="base">
              <a:buNone/>
            </a:pPr>
            <a:r>
              <a:rPr lang="es-PE" sz="1600" b="0" i="0" dirty="0">
                <a:effectLst/>
                <a:latin typeface="Consolas" panose="020B0609020204030204" pitchFamily="49" charset="0"/>
              </a:rPr>
              <a:t>        </a:t>
            </a:r>
          </a:p>
          <a:p>
            <a:pPr algn="l" fontAlgn="base">
              <a:buNone/>
            </a:pPr>
            <a:r>
              <a:rPr lang="es-PE" sz="1600" b="0" i="0" dirty="0">
                <a:effectLst/>
                <a:latin typeface="Consolas" panose="020B0609020204030204" pitchFamily="49" charset="0"/>
              </a:rPr>
              <a:t>    </a:t>
            </a:r>
            <a:r>
              <a:rPr lang="es-PE" sz="1600" b="1" i="0" dirty="0" err="1">
                <a:solidFill>
                  <a:srgbClr val="008000"/>
                </a:solidFill>
                <a:effectLst/>
                <a:latin typeface="Consolas" panose="020B0609020204030204" pitchFamily="49" charset="0"/>
              </a:rPr>
              <a:t>def</a:t>
            </a:r>
            <a:r>
              <a:rPr lang="es-PE" sz="1600" b="0" i="0" dirty="0">
                <a:effectLst/>
                <a:latin typeface="Consolas" panose="020B0609020204030204" pitchFamily="49" charset="0"/>
              </a:rPr>
              <a:t> </a:t>
            </a:r>
            <a:r>
              <a:rPr lang="es-PE" sz="1600" b="0" i="0" dirty="0" err="1">
                <a:solidFill>
                  <a:srgbClr val="0000FF"/>
                </a:solidFill>
                <a:effectLst/>
                <a:latin typeface="Consolas" panose="020B0609020204030204" pitchFamily="49" charset="0"/>
              </a:rPr>
              <a:t>update</a:t>
            </a:r>
            <a:r>
              <a:rPr lang="es-PE" sz="1600" b="0" i="0" dirty="0">
                <a:effectLst/>
                <a:latin typeface="Consolas" panose="020B0609020204030204" pitchFamily="49" charset="0"/>
              </a:rPr>
              <a:t>(</a:t>
            </a:r>
            <a:r>
              <a:rPr lang="es-PE" sz="1600" b="0" i="0" dirty="0" err="1">
                <a:solidFill>
                  <a:srgbClr val="008000"/>
                </a:solidFill>
                <a:effectLst/>
                <a:latin typeface="Consolas" panose="020B0609020204030204" pitchFamily="49" charset="0"/>
              </a:rPr>
              <a:t>self</a:t>
            </a:r>
            <a:r>
              <a:rPr lang="es-PE" sz="1600" b="0" i="0" dirty="0">
                <a:effectLst/>
                <a:latin typeface="Consolas" panose="020B0609020204030204" pitchFamily="49" charset="0"/>
              </a:rPr>
              <a:t>, </a:t>
            </a:r>
            <a:r>
              <a:rPr lang="es-PE" sz="1600" b="0" i="0" dirty="0" err="1">
                <a:effectLst/>
                <a:latin typeface="Consolas" panose="020B0609020204030204" pitchFamily="49" charset="0"/>
              </a:rPr>
              <a:t>weights</a:t>
            </a:r>
            <a:r>
              <a:rPr lang="es-PE" sz="1600" b="0" i="0" dirty="0">
                <a:effectLst/>
                <a:latin typeface="Consolas" panose="020B0609020204030204" pitchFamily="49" charset="0"/>
              </a:rPr>
              <a:t>, </a:t>
            </a:r>
            <a:r>
              <a:rPr lang="es-PE" sz="1600" b="0" i="0" dirty="0" err="1">
                <a:effectLst/>
                <a:latin typeface="Consolas" panose="020B0609020204030204" pitchFamily="49" charset="0"/>
              </a:rPr>
              <a:t>sample</a:t>
            </a:r>
            <a:r>
              <a:rPr lang="es-PE" sz="1600" b="0" i="0" dirty="0">
                <a:effectLst/>
                <a:latin typeface="Consolas" panose="020B0609020204030204" pitchFamily="49" charset="0"/>
              </a:rPr>
              <a:t>, J, </a:t>
            </a:r>
            <a:r>
              <a:rPr lang="es-PE" sz="1600" b="0" i="0" dirty="0" err="1">
                <a:effectLst/>
                <a:latin typeface="Consolas" panose="020B0609020204030204" pitchFamily="49" charset="0"/>
              </a:rPr>
              <a:t>alpha</a:t>
            </a:r>
            <a:r>
              <a:rPr lang="es-PE" sz="1600" b="0" i="0" dirty="0">
                <a:effectLst/>
                <a:latin typeface="Consolas" panose="020B0609020204030204" pitchFamily="49" charset="0"/>
              </a:rPr>
              <a:t>)</a:t>
            </a:r>
          </a:p>
          <a:p>
            <a:pPr algn="l" fontAlgn="base">
              <a:buNone/>
            </a:pPr>
            <a:r>
              <a:rPr lang="es-PE" sz="1600" b="0" i="0" dirty="0">
                <a:effectLst/>
                <a:latin typeface="Consolas" panose="020B0609020204030204" pitchFamily="49" charset="0"/>
              </a:rPr>
              <a:t>        </a:t>
            </a:r>
            <a:r>
              <a:rPr lang="es-PE" sz="1600" b="1" i="0" dirty="0" err="1">
                <a:solidFill>
                  <a:srgbClr val="008000"/>
                </a:solidFill>
                <a:effectLst/>
                <a:latin typeface="Consolas" panose="020B0609020204030204" pitchFamily="49" charset="0"/>
              </a:rPr>
              <a:t>for</a:t>
            </a:r>
            <a:r>
              <a:rPr lang="es-PE" sz="1600" b="0" i="0" dirty="0">
                <a:effectLst/>
                <a:latin typeface="Consolas" panose="020B0609020204030204" pitchFamily="49" charset="0"/>
              </a:rPr>
              <a:t> i </a:t>
            </a:r>
            <a:r>
              <a:rPr lang="es-PE" sz="1600" b="1" i="0" dirty="0">
                <a:solidFill>
                  <a:srgbClr val="AA22FF"/>
                </a:solidFill>
                <a:effectLst/>
                <a:latin typeface="Consolas" panose="020B0609020204030204" pitchFamily="49" charset="0"/>
              </a:rPr>
              <a:t>in</a:t>
            </a:r>
            <a:r>
              <a:rPr lang="es-PE" sz="1600" b="0" i="0" dirty="0">
                <a:effectLst/>
                <a:latin typeface="Consolas" panose="020B0609020204030204" pitchFamily="49" charset="0"/>
              </a:rPr>
              <a:t> </a:t>
            </a:r>
            <a:r>
              <a:rPr lang="es-PE" sz="1600" b="0" i="0" dirty="0" err="1">
                <a:solidFill>
                  <a:srgbClr val="008000"/>
                </a:solidFill>
                <a:effectLst/>
                <a:latin typeface="Consolas" panose="020B0609020204030204" pitchFamily="49" charset="0"/>
              </a:rPr>
              <a:t>range</a:t>
            </a:r>
            <a:r>
              <a:rPr lang="es-PE" sz="1600" b="0" i="0" dirty="0">
                <a:effectLst/>
                <a:latin typeface="Consolas" panose="020B0609020204030204" pitchFamily="49" charset="0"/>
              </a:rPr>
              <a:t>(</a:t>
            </a:r>
            <a:r>
              <a:rPr lang="es-PE" sz="1600" b="0" i="0" dirty="0" err="1">
                <a:solidFill>
                  <a:srgbClr val="008000"/>
                </a:solidFill>
                <a:effectLst/>
                <a:latin typeface="Consolas" panose="020B0609020204030204" pitchFamily="49" charset="0"/>
              </a:rPr>
              <a:t>len</a:t>
            </a:r>
            <a:r>
              <a:rPr lang="es-PE" sz="1600" b="0" i="0" dirty="0">
                <a:effectLst/>
                <a:latin typeface="Consolas" panose="020B0609020204030204" pitchFamily="49" charset="0"/>
              </a:rPr>
              <a:t>(</a:t>
            </a:r>
            <a:r>
              <a:rPr lang="es-PE" sz="1600" b="0" i="0" dirty="0" err="1">
                <a:effectLst/>
                <a:latin typeface="Consolas" panose="020B0609020204030204" pitchFamily="49" charset="0"/>
              </a:rPr>
              <a:t>weights</a:t>
            </a:r>
            <a:r>
              <a:rPr lang="es-PE" sz="1600" b="0" i="0" dirty="0">
                <a:effectLst/>
                <a:latin typeface="Consolas" panose="020B0609020204030204" pitchFamily="49" charset="0"/>
              </a:rPr>
              <a:t>[</a:t>
            </a:r>
            <a:r>
              <a:rPr lang="es-PE" sz="1600" b="0" i="0" dirty="0">
                <a:solidFill>
                  <a:srgbClr val="666666"/>
                </a:solidFill>
                <a:effectLst/>
                <a:latin typeface="Consolas" panose="020B0609020204030204" pitchFamily="49" charset="0"/>
              </a:rPr>
              <a:t>0</a:t>
            </a:r>
            <a:r>
              <a:rPr lang="es-PE" sz="1600" b="0" i="0" dirty="0">
                <a:effectLst/>
                <a:latin typeface="Consolas" panose="020B0609020204030204" pitchFamily="49" charset="0"/>
              </a:rPr>
              <a:t>])):</a:t>
            </a:r>
          </a:p>
          <a:p>
            <a:pPr algn="l" fontAlgn="base">
              <a:buNone/>
            </a:pPr>
            <a:r>
              <a:rPr lang="es-PE" sz="1600" b="0" i="0" dirty="0">
                <a:effectLst/>
                <a:latin typeface="Consolas" panose="020B0609020204030204" pitchFamily="49" charset="0"/>
              </a:rPr>
              <a:t>            </a:t>
            </a:r>
            <a:r>
              <a:rPr lang="es-PE" sz="1600" b="0" i="0" dirty="0" err="1">
                <a:effectLst/>
                <a:latin typeface="Consolas" panose="020B0609020204030204" pitchFamily="49" charset="0"/>
              </a:rPr>
              <a:t>weights</a:t>
            </a:r>
            <a:r>
              <a:rPr lang="es-PE" sz="1600" b="0" i="0" dirty="0">
                <a:effectLst/>
                <a:latin typeface="Consolas" panose="020B0609020204030204" pitchFamily="49" charset="0"/>
              </a:rPr>
              <a:t>[J][i]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err="1">
                <a:effectLst/>
                <a:latin typeface="Consolas" panose="020B0609020204030204" pitchFamily="49" charset="0"/>
              </a:rPr>
              <a:t>weights</a:t>
            </a:r>
            <a:r>
              <a:rPr lang="es-PE" sz="1600" b="0" i="0" dirty="0">
                <a:effectLst/>
                <a:latin typeface="Consolas" panose="020B0609020204030204" pitchFamily="49" charset="0"/>
              </a:rPr>
              <a:t>[J][i]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err="1">
                <a:effectLst/>
                <a:latin typeface="Consolas" panose="020B0609020204030204" pitchFamily="49" charset="0"/>
              </a:rPr>
              <a:t>alpha</a:t>
            </a:r>
            <a:r>
              <a:rPr lang="es-PE" sz="1600" b="0" i="0" dirty="0">
                <a:effectLst/>
                <a:latin typeface="Consolas" panose="020B0609020204030204" pitchFamily="49" charset="0"/>
              </a:rPr>
              <a:t>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err="1">
                <a:effectLst/>
                <a:latin typeface="Consolas" panose="020B0609020204030204" pitchFamily="49" charset="0"/>
              </a:rPr>
              <a:t>sample</a:t>
            </a:r>
            <a:r>
              <a:rPr lang="es-PE" sz="1600" b="0" i="0" dirty="0">
                <a:effectLst/>
                <a:latin typeface="Consolas" panose="020B0609020204030204" pitchFamily="49" charset="0"/>
              </a:rPr>
              <a:t>[i] </a:t>
            </a:r>
            <a:r>
              <a:rPr lang="es-PE" sz="1600" b="0" i="0" dirty="0">
                <a:solidFill>
                  <a:srgbClr val="666666"/>
                </a:solidFill>
                <a:effectLst/>
                <a:latin typeface="Consolas" panose="020B0609020204030204" pitchFamily="49" charset="0"/>
              </a:rPr>
              <a:t>-</a:t>
            </a:r>
            <a:r>
              <a:rPr lang="es-PE" sz="1600" b="0" i="0" dirty="0">
                <a:effectLst/>
                <a:latin typeface="Consolas" panose="020B0609020204030204" pitchFamily="49" charset="0"/>
              </a:rPr>
              <a:t> </a:t>
            </a:r>
            <a:r>
              <a:rPr lang="es-PE" sz="1600" b="0" i="0" dirty="0" err="1">
                <a:effectLst/>
                <a:latin typeface="Consolas" panose="020B0609020204030204" pitchFamily="49" charset="0"/>
              </a:rPr>
              <a:t>weights</a:t>
            </a:r>
            <a:r>
              <a:rPr lang="es-PE" sz="1600" b="0" i="0" dirty="0">
                <a:effectLst/>
                <a:latin typeface="Consolas" panose="020B0609020204030204" pitchFamily="49" charset="0"/>
              </a:rPr>
              <a:t>[J][i])</a:t>
            </a:r>
          </a:p>
          <a:p>
            <a:pPr algn="l" fontAlgn="base">
              <a:buNone/>
            </a:pPr>
            <a:endParaRPr lang="es-PE" sz="1600" b="0" i="0" dirty="0">
              <a:effectLst/>
              <a:latin typeface="Consolas" panose="020B0609020204030204" pitchFamily="49" charset="0"/>
            </a:endParaRPr>
          </a:p>
          <a:p>
            <a:pPr algn="l" fontAlgn="base">
              <a:buNone/>
            </a:pPr>
            <a:r>
              <a:rPr lang="es-PE" sz="1600" b="0" i="0" dirty="0">
                <a:effectLst/>
                <a:latin typeface="Consolas" panose="020B0609020204030204" pitchFamily="49" charset="0"/>
              </a:rPr>
              <a:t>        </a:t>
            </a:r>
            <a:r>
              <a:rPr lang="es-PE" sz="1600" b="1" i="0" dirty="0" err="1">
                <a:solidFill>
                  <a:srgbClr val="008000"/>
                </a:solidFill>
                <a:effectLst/>
                <a:latin typeface="Consolas" panose="020B0609020204030204" pitchFamily="49" charset="0"/>
              </a:rPr>
              <a:t>return</a:t>
            </a:r>
            <a:r>
              <a:rPr lang="es-PE" sz="1600" b="0" i="0" dirty="0">
                <a:effectLst/>
                <a:latin typeface="Consolas" panose="020B0609020204030204" pitchFamily="49" charset="0"/>
              </a:rPr>
              <a:t> </a:t>
            </a:r>
            <a:r>
              <a:rPr lang="es-PE" sz="1600" b="0" i="0" dirty="0" err="1">
                <a:effectLst/>
                <a:latin typeface="Consolas" panose="020B0609020204030204" pitchFamily="49" charset="0"/>
              </a:rPr>
              <a:t>weights</a:t>
            </a:r>
            <a:endParaRPr lang="es-PE" sz="1600" b="0" i="0" dirty="0">
              <a:effectLst/>
              <a:latin typeface="Consolas" panose="020B0609020204030204" pitchFamily="49" charset="0"/>
            </a:endParaRPr>
          </a:p>
        </p:txBody>
      </p:sp>
      <p:sp>
        <p:nvSpPr>
          <p:cNvPr id="2" name="Título 7">
            <a:extLst>
              <a:ext uri="{FF2B5EF4-FFF2-40B4-BE49-F238E27FC236}">
                <a16:creationId xmlns:a16="http://schemas.microsoft.com/office/drawing/2014/main" id="{494D3E09-0433-FAC2-EA4A-1CFF72BD583A}"/>
              </a:ext>
            </a:extLst>
          </p:cNvPr>
          <p:cNvSpPr>
            <a:spLocks noGrp="1"/>
          </p:cNvSpPr>
          <p:nvPr>
            <p:ph type="title"/>
          </p:nvPr>
        </p:nvSpPr>
        <p:spPr>
          <a:xfrm>
            <a:off x="838200" y="365125"/>
            <a:ext cx="10515600" cy="1325563"/>
          </a:xfrm>
        </p:spPr>
        <p:txBody>
          <a:bodyPr/>
          <a:lstStyle/>
          <a:p>
            <a:r>
              <a:rPr lang="es-ES" b="1" dirty="0"/>
              <a:t>Implementación de SOM en Python</a:t>
            </a:r>
            <a:endParaRPr lang="es-PE" dirty="0"/>
          </a:p>
        </p:txBody>
      </p:sp>
    </p:spTree>
    <p:extLst>
      <p:ext uri="{BB962C8B-B14F-4D97-AF65-F5344CB8AC3E}">
        <p14:creationId xmlns:p14="http://schemas.microsoft.com/office/powerpoint/2010/main" val="4062454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FC846-B977-8CE1-44C3-03779BB04A4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82B956A3-38FC-7B4A-4DAF-6354E21EAC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53308C6D-2BAE-630A-189E-DF4CA001BB77}"/>
              </a:ext>
            </a:extLst>
          </p:cNvPr>
          <p:cNvSpPr>
            <a:spLocks noGrp="1"/>
          </p:cNvSpPr>
          <p:nvPr>
            <p:ph idx="1"/>
          </p:nvPr>
        </p:nvSpPr>
        <p:spPr>
          <a:xfrm>
            <a:off x="838200" y="1825625"/>
            <a:ext cx="10515600" cy="2533015"/>
          </a:xfrm>
        </p:spPr>
        <p:txBody>
          <a:bodyPr>
            <a:normAutofit/>
          </a:bodyPr>
          <a:lstStyle/>
          <a:p>
            <a:pPr marL="0" indent="0" fontAlgn="base">
              <a:buNone/>
            </a:pPr>
            <a:r>
              <a:rPr lang="es-ES" sz="1800" b="1" dirty="0"/>
              <a:t>Definición de la función principal</a:t>
            </a:r>
          </a:p>
          <a:p>
            <a:pPr fontAlgn="base"/>
            <a:r>
              <a:rPr lang="es-ES" sz="1800" dirty="0"/>
              <a:t>En esta sección, definimos los datos de entrenamiento e inicializamos los pesos. También especificamos el número de épocas y la tasa de aprendizaje.</a:t>
            </a:r>
          </a:p>
          <a:p>
            <a:pPr fontAlgn="base"/>
            <a:r>
              <a:rPr lang="es-ES" sz="1800" b="1" dirty="0"/>
              <a:t>T:</a:t>
            </a:r>
            <a:r>
              <a:rPr lang="es-ES" sz="1800" dirty="0"/>
              <a:t> Estos son los datos de entrenamiento con cuatro ejemplos, cada uno con cuatro características.</a:t>
            </a:r>
          </a:p>
          <a:p>
            <a:pPr fontAlgn="base"/>
            <a:r>
              <a:rPr lang="es-ES" sz="1800" b="1" dirty="0"/>
              <a:t>pesos:</a:t>
            </a:r>
            <a:r>
              <a:rPr lang="es-ES" sz="1800" dirty="0"/>
              <a:t> son los pesos iniciales para dos grupos, cada uno con cuatro características.</a:t>
            </a:r>
          </a:p>
          <a:p>
            <a:pPr fontAlgn="base"/>
            <a:r>
              <a:rPr lang="es-ES" sz="1800" b="1" dirty="0"/>
              <a:t>épocas:</a:t>
            </a:r>
            <a:r>
              <a:rPr lang="es-ES" sz="1800" dirty="0"/>
              <a:t> especifica el número de iteraciones para el entrenamiento.</a:t>
            </a:r>
          </a:p>
          <a:p>
            <a:pPr fontAlgn="base"/>
            <a:r>
              <a:rPr lang="es-ES" sz="1800" b="1" dirty="0"/>
              <a:t>alfa</a:t>
            </a:r>
            <a:r>
              <a:rPr lang="es-ES" sz="1800" dirty="0"/>
              <a:t> : La tasa de aprendizaje utilizada para actualizar los pesos.</a:t>
            </a:r>
          </a:p>
        </p:txBody>
      </p:sp>
      <p:sp>
        <p:nvSpPr>
          <p:cNvPr id="2" name="Título 7">
            <a:extLst>
              <a:ext uri="{FF2B5EF4-FFF2-40B4-BE49-F238E27FC236}">
                <a16:creationId xmlns:a16="http://schemas.microsoft.com/office/drawing/2014/main" id="{0A1A10EC-BE5A-321D-C76A-B8690FC1D900}"/>
              </a:ext>
            </a:extLst>
          </p:cNvPr>
          <p:cNvSpPr>
            <a:spLocks noGrp="1"/>
          </p:cNvSpPr>
          <p:nvPr>
            <p:ph type="title"/>
          </p:nvPr>
        </p:nvSpPr>
        <p:spPr>
          <a:xfrm>
            <a:off x="838200" y="365125"/>
            <a:ext cx="10515600" cy="1325563"/>
          </a:xfrm>
        </p:spPr>
        <p:txBody>
          <a:bodyPr/>
          <a:lstStyle/>
          <a:p>
            <a:r>
              <a:rPr lang="es-ES" b="1" dirty="0"/>
              <a:t>Implementación de SOM en Python</a:t>
            </a:r>
            <a:endParaRPr lang="es-PE" dirty="0"/>
          </a:p>
        </p:txBody>
      </p:sp>
      <p:sp>
        <p:nvSpPr>
          <p:cNvPr id="5" name="CuadroTexto 4">
            <a:extLst>
              <a:ext uri="{FF2B5EF4-FFF2-40B4-BE49-F238E27FC236}">
                <a16:creationId xmlns:a16="http://schemas.microsoft.com/office/drawing/2014/main" id="{C8A41144-BBC4-3D5D-5BFB-61FAA1806693}"/>
              </a:ext>
            </a:extLst>
          </p:cNvPr>
          <p:cNvSpPr txBox="1"/>
          <p:nvPr/>
        </p:nvSpPr>
        <p:spPr>
          <a:xfrm>
            <a:off x="1747518" y="4493577"/>
            <a:ext cx="8696961" cy="2031325"/>
          </a:xfrm>
          <a:prstGeom prst="rect">
            <a:avLst/>
          </a:prstGeom>
          <a:noFill/>
        </p:spPr>
        <p:txBody>
          <a:bodyPr wrap="square">
            <a:spAutoFit/>
          </a:bodyPr>
          <a:lstStyle/>
          <a:p>
            <a:pPr algn="l" fontAlgn="base">
              <a:buNone/>
            </a:pPr>
            <a:r>
              <a:rPr lang="de-DE" sz="1800" b="1" i="0" dirty="0">
                <a:solidFill>
                  <a:srgbClr val="008000"/>
                </a:solidFill>
                <a:effectLst/>
                <a:latin typeface="Consolas" panose="020B0609020204030204" pitchFamily="49" charset="0"/>
              </a:rPr>
              <a:t>def</a:t>
            </a:r>
            <a:r>
              <a:rPr lang="de-DE" sz="1800" b="0" i="0" dirty="0">
                <a:effectLst/>
                <a:latin typeface="Consolas" panose="020B0609020204030204" pitchFamily="49" charset="0"/>
              </a:rPr>
              <a:t> </a:t>
            </a:r>
            <a:r>
              <a:rPr lang="de-DE" sz="1800" b="0" i="0" dirty="0">
                <a:solidFill>
                  <a:srgbClr val="0000FF"/>
                </a:solidFill>
                <a:effectLst/>
                <a:latin typeface="Consolas" panose="020B0609020204030204" pitchFamily="49" charset="0"/>
              </a:rPr>
              <a:t>main</a:t>
            </a:r>
            <a:r>
              <a:rPr lang="de-DE" sz="1800" b="0" i="0" dirty="0">
                <a:effectLst/>
                <a:latin typeface="Consolas" panose="020B0609020204030204" pitchFamily="49" charset="0"/>
              </a:rPr>
              <a:t>():</a:t>
            </a:r>
          </a:p>
          <a:p>
            <a:pPr algn="l" fontAlgn="base">
              <a:buNone/>
            </a:pPr>
            <a:r>
              <a:rPr lang="de-DE" sz="1800" b="0" i="0" dirty="0">
                <a:effectLst/>
                <a:latin typeface="Consolas" panose="020B0609020204030204" pitchFamily="49" charset="0"/>
              </a:rPr>
              <a:t>    T </a:t>
            </a:r>
            <a:r>
              <a:rPr lang="de-DE" sz="1800" b="0" i="0" dirty="0">
                <a:solidFill>
                  <a:srgbClr val="666666"/>
                </a:solidFill>
                <a:effectLst/>
                <a:latin typeface="Consolas" panose="020B0609020204030204" pitchFamily="49" charset="0"/>
              </a:rPr>
              <a:t>=</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1</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1</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1</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1</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1</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1</a:t>
            </a:r>
            <a:r>
              <a:rPr lang="de-DE" sz="1800" b="0" i="0" dirty="0">
                <a:effectLst/>
                <a:latin typeface="Consolas" panose="020B0609020204030204" pitchFamily="49" charset="0"/>
              </a:rPr>
              <a:t>]]</a:t>
            </a:r>
          </a:p>
          <a:p>
            <a:pPr algn="l" fontAlgn="base">
              <a:buNone/>
            </a:pPr>
            <a:r>
              <a:rPr lang="de-DE" sz="1800" b="0" i="0" dirty="0">
                <a:effectLst/>
                <a:latin typeface="Consolas" panose="020B0609020204030204" pitchFamily="49" charset="0"/>
              </a:rPr>
              <a:t>    m, n </a:t>
            </a:r>
            <a:r>
              <a:rPr lang="de-DE" sz="1800" b="0" i="0" dirty="0">
                <a:solidFill>
                  <a:srgbClr val="666666"/>
                </a:solidFill>
                <a:effectLst/>
                <a:latin typeface="Consolas" panose="020B0609020204030204" pitchFamily="49" charset="0"/>
              </a:rPr>
              <a:t>=</a:t>
            </a:r>
            <a:r>
              <a:rPr lang="de-DE" sz="1800" b="0" i="0" dirty="0">
                <a:effectLst/>
                <a:latin typeface="Consolas" panose="020B0609020204030204" pitchFamily="49" charset="0"/>
              </a:rPr>
              <a:t> </a:t>
            </a:r>
            <a:r>
              <a:rPr lang="de-DE" sz="1800" b="0" i="0" dirty="0">
                <a:solidFill>
                  <a:srgbClr val="008000"/>
                </a:solidFill>
                <a:effectLst/>
                <a:latin typeface="Consolas" panose="020B0609020204030204" pitchFamily="49" charset="0"/>
              </a:rPr>
              <a:t>len</a:t>
            </a:r>
            <a:r>
              <a:rPr lang="de-DE" sz="1800" b="0" i="0" dirty="0">
                <a:effectLst/>
                <a:latin typeface="Consolas" panose="020B0609020204030204" pitchFamily="49" charset="0"/>
              </a:rPr>
              <a:t>(T), </a:t>
            </a:r>
            <a:r>
              <a:rPr lang="de-DE" sz="1800" b="0" i="0" dirty="0">
                <a:solidFill>
                  <a:srgbClr val="008000"/>
                </a:solidFill>
                <a:effectLst/>
                <a:latin typeface="Consolas" panose="020B0609020204030204" pitchFamily="49" charset="0"/>
              </a:rPr>
              <a:t>len</a:t>
            </a:r>
            <a:r>
              <a:rPr lang="de-DE" sz="1800" b="0" i="0" dirty="0">
                <a:effectLst/>
                <a:latin typeface="Consolas" panose="020B0609020204030204" pitchFamily="49" charset="0"/>
              </a:rPr>
              <a:t>(T[</a:t>
            </a:r>
            <a:r>
              <a:rPr lang="de-DE" sz="1800" b="0" i="0" dirty="0">
                <a:solidFill>
                  <a:srgbClr val="666666"/>
                </a:solidFill>
                <a:effectLst/>
                <a:latin typeface="Consolas" panose="020B0609020204030204" pitchFamily="49" charset="0"/>
              </a:rPr>
              <a:t>0</a:t>
            </a:r>
            <a:r>
              <a:rPr lang="de-DE" sz="1800" b="0" i="0" dirty="0">
                <a:effectLst/>
                <a:latin typeface="Consolas" panose="020B0609020204030204" pitchFamily="49" charset="0"/>
              </a:rPr>
              <a:t>])</a:t>
            </a:r>
          </a:p>
          <a:p>
            <a:pPr algn="l" fontAlgn="base">
              <a:buNone/>
            </a:pPr>
            <a:r>
              <a:rPr lang="de-DE" sz="1800" b="0" i="0" dirty="0">
                <a:effectLst/>
                <a:latin typeface="Consolas" panose="020B0609020204030204" pitchFamily="49" charset="0"/>
              </a:rPr>
              <a:t>    weights </a:t>
            </a:r>
            <a:r>
              <a:rPr lang="de-DE" sz="1800" b="0" i="0" dirty="0">
                <a:solidFill>
                  <a:srgbClr val="666666"/>
                </a:solidFill>
                <a:effectLst/>
                <a:latin typeface="Consolas" panose="020B0609020204030204" pitchFamily="49" charset="0"/>
              </a:rPr>
              <a:t>=</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0.2</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0.6</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0.5</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0.9</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0.8</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0.4</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0.7</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0.3</a:t>
            </a:r>
            <a:r>
              <a:rPr lang="de-DE" sz="1800" b="0" i="0" dirty="0">
                <a:effectLst/>
                <a:latin typeface="Consolas" panose="020B0609020204030204" pitchFamily="49" charset="0"/>
              </a:rPr>
              <a:t>]]</a:t>
            </a:r>
          </a:p>
          <a:p>
            <a:pPr algn="l" fontAlgn="base">
              <a:buNone/>
            </a:pPr>
            <a:r>
              <a:rPr lang="de-DE" sz="1800" b="0" i="0" dirty="0">
                <a:effectLst/>
                <a:latin typeface="Consolas" panose="020B0609020204030204" pitchFamily="49" charset="0"/>
              </a:rPr>
              <a:t>    ob </a:t>
            </a:r>
            <a:r>
              <a:rPr lang="de-DE" sz="1800" b="0" i="0" dirty="0">
                <a:solidFill>
                  <a:srgbClr val="666666"/>
                </a:solidFill>
                <a:effectLst/>
                <a:latin typeface="Consolas" panose="020B0609020204030204" pitchFamily="49" charset="0"/>
              </a:rPr>
              <a:t>=</a:t>
            </a:r>
            <a:r>
              <a:rPr lang="de-DE" sz="1800" b="0" i="0" dirty="0">
                <a:effectLst/>
                <a:latin typeface="Consolas" panose="020B0609020204030204" pitchFamily="49" charset="0"/>
              </a:rPr>
              <a:t> SOM()</a:t>
            </a:r>
          </a:p>
          <a:p>
            <a:pPr algn="l" fontAlgn="base">
              <a:buNone/>
            </a:pPr>
            <a:r>
              <a:rPr lang="de-DE" sz="1800" b="0" i="0" dirty="0">
                <a:effectLst/>
                <a:latin typeface="Consolas" panose="020B0609020204030204" pitchFamily="49" charset="0"/>
              </a:rPr>
              <a:t>    epochs </a:t>
            </a:r>
            <a:r>
              <a:rPr lang="de-DE" sz="1800" b="0" i="0" dirty="0">
                <a:solidFill>
                  <a:srgbClr val="666666"/>
                </a:solidFill>
                <a:effectLst/>
                <a:latin typeface="Consolas" panose="020B0609020204030204" pitchFamily="49" charset="0"/>
              </a:rPr>
              <a:t>=</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3</a:t>
            </a:r>
            <a:endParaRPr lang="de-DE" sz="1800" b="0" i="0" dirty="0">
              <a:effectLst/>
              <a:latin typeface="Consolas" panose="020B0609020204030204" pitchFamily="49" charset="0"/>
            </a:endParaRPr>
          </a:p>
          <a:p>
            <a:pPr algn="l" fontAlgn="base">
              <a:buNone/>
            </a:pPr>
            <a:r>
              <a:rPr lang="de-DE" sz="1800" b="0" i="0" dirty="0">
                <a:effectLst/>
                <a:latin typeface="Consolas" panose="020B0609020204030204" pitchFamily="49" charset="0"/>
              </a:rPr>
              <a:t>    alpha </a:t>
            </a:r>
            <a:r>
              <a:rPr lang="de-DE" sz="1800" b="0" i="0" dirty="0">
                <a:solidFill>
                  <a:srgbClr val="666666"/>
                </a:solidFill>
                <a:effectLst/>
                <a:latin typeface="Consolas" panose="020B0609020204030204" pitchFamily="49" charset="0"/>
              </a:rPr>
              <a:t>=</a:t>
            </a:r>
            <a:r>
              <a:rPr lang="de-DE" sz="1800" b="0" i="0" dirty="0">
                <a:effectLst/>
                <a:latin typeface="Consolas" panose="020B0609020204030204" pitchFamily="49" charset="0"/>
              </a:rPr>
              <a:t> </a:t>
            </a:r>
            <a:r>
              <a:rPr lang="de-DE" sz="1800" b="0" i="0" dirty="0">
                <a:solidFill>
                  <a:srgbClr val="666666"/>
                </a:solidFill>
                <a:effectLst/>
                <a:latin typeface="Consolas" panose="020B0609020204030204" pitchFamily="49" charset="0"/>
              </a:rPr>
              <a:t>0.5</a:t>
            </a:r>
            <a:endParaRPr lang="de-DE" sz="1800" b="0" i="0" dirty="0">
              <a:effectLst/>
              <a:latin typeface="Consolas" panose="020B0609020204030204" pitchFamily="49" charset="0"/>
            </a:endParaRPr>
          </a:p>
        </p:txBody>
      </p:sp>
    </p:spTree>
    <p:extLst>
      <p:ext uri="{BB962C8B-B14F-4D97-AF65-F5344CB8AC3E}">
        <p14:creationId xmlns:p14="http://schemas.microsoft.com/office/powerpoint/2010/main" val="1159838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891A-6658-DF2A-110E-F2AF3AB5C3C8}"/>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8FB84B6E-6C8E-C817-B016-92081BFCB64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35824CBA-FA72-C3C0-86D0-B8F142D54408}"/>
              </a:ext>
            </a:extLst>
          </p:cNvPr>
          <p:cNvSpPr>
            <a:spLocks noGrp="1"/>
          </p:cNvSpPr>
          <p:nvPr>
            <p:ph idx="1"/>
          </p:nvPr>
        </p:nvSpPr>
        <p:spPr>
          <a:xfrm>
            <a:off x="838200" y="1825625"/>
            <a:ext cx="10515600" cy="2238375"/>
          </a:xfrm>
        </p:spPr>
        <p:txBody>
          <a:bodyPr>
            <a:normAutofit/>
          </a:bodyPr>
          <a:lstStyle/>
          <a:p>
            <a:pPr marL="0" indent="0" fontAlgn="base">
              <a:buNone/>
            </a:pPr>
            <a:r>
              <a:rPr lang="es-ES" sz="2000" b="1" dirty="0"/>
              <a:t>Capacitación de la Red SOM</a:t>
            </a:r>
          </a:p>
          <a:p>
            <a:pPr fontAlgn="base"/>
            <a:r>
              <a:rPr lang="es-ES" sz="2000" dirty="0"/>
              <a:t>Aquí, recorremos cada ejemplo de entrenamiento durante el número especificado de épocas, calculamos el clúster ganador y actualizamos las ponderaciones. Para cada época y muestra de entrenamiento:</a:t>
            </a:r>
          </a:p>
          <a:p>
            <a:pPr fontAlgn="base"/>
            <a:r>
              <a:rPr lang="es-ES" sz="2000" dirty="0"/>
              <a:t>Calcule el clúster ganador utilizando el método </a:t>
            </a:r>
            <a:r>
              <a:rPr lang="es-ES" sz="2000" dirty="0" err="1"/>
              <a:t>winner</a:t>
            </a:r>
            <a:r>
              <a:rPr lang="es-ES" sz="2000" dirty="0"/>
              <a:t>().</a:t>
            </a:r>
          </a:p>
          <a:p>
            <a:pPr fontAlgn="base"/>
            <a:r>
              <a:rPr lang="es-ES" sz="2000" dirty="0"/>
              <a:t>Actualice los pesos del clúster ganador utilizando el método </a:t>
            </a:r>
            <a:r>
              <a:rPr lang="es-ES" sz="2000" dirty="0" err="1"/>
              <a:t>update</a:t>
            </a:r>
            <a:r>
              <a:rPr lang="es-ES" sz="2000" dirty="0"/>
              <a:t>().</a:t>
            </a:r>
          </a:p>
        </p:txBody>
      </p:sp>
      <p:sp>
        <p:nvSpPr>
          <p:cNvPr id="2" name="Título 7">
            <a:extLst>
              <a:ext uri="{FF2B5EF4-FFF2-40B4-BE49-F238E27FC236}">
                <a16:creationId xmlns:a16="http://schemas.microsoft.com/office/drawing/2014/main" id="{AD74F0A3-3A85-D3E7-2B41-1D2B2D8EE589}"/>
              </a:ext>
            </a:extLst>
          </p:cNvPr>
          <p:cNvSpPr>
            <a:spLocks noGrp="1"/>
          </p:cNvSpPr>
          <p:nvPr>
            <p:ph type="title"/>
          </p:nvPr>
        </p:nvSpPr>
        <p:spPr>
          <a:xfrm>
            <a:off x="838200" y="365125"/>
            <a:ext cx="10515600" cy="1325563"/>
          </a:xfrm>
        </p:spPr>
        <p:txBody>
          <a:bodyPr/>
          <a:lstStyle/>
          <a:p>
            <a:r>
              <a:rPr lang="es-ES" b="1" dirty="0"/>
              <a:t>Implementación de SOM en Python</a:t>
            </a:r>
            <a:endParaRPr lang="es-PE" dirty="0"/>
          </a:p>
        </p:txBody>
      </p:sp>
      <p:sp>
        <p:nvSpPr>
          <p:cNvPr id="5" name="CuadroTexto 4">
            <a:extLst>
              <a:ext uri="{FF2B5EF4-FFF2-40B4-BE49-F238E27FC236}">
                <a16:creationId xmlns:a16="http://schemas.microsoft.com/office/drawing/2014/main" id="{3F97AA65-F3D6-8FC8-6056-7EEC36521DFD}"/>
              </a:ext>
            </a:extLst>
          </p:cNvPr>
          <p:cNvSpPr txBox="1"/>
          <p:nvPr/>
        </p:nvSpPr>
        <p:spPr>
          <a:xfrm>
            <a:off x="2052319" y="4198937"/>
            <a:ext cx="8087360" cy="1754326"/>
          </a:xfrm>
          <a:prstGeom prst="rect">
            <a:avLst/>
          </a:prstGeom>
          <a:noFill/>
        </p:spPr>
        <p:txBody>
          <a:bodyPr wrap="square">
            <a:spAutoFit/>
          </a:bodyPr>
          <a:lstStyle/>
          <a:p>
            <a:pPr algn="l" fontAlgn="base">
              <a:buNone/>
            </a:pPr>
            <a:r>
              <a:rPr lang="es-PE" sz="1800" b="0" i="1" dirty="0">
                <a:solidFill>
                  <a:srgbClr val="3D7B7B"/>
                </a:solidFill>
                <a:effectLst/>
                <a:latin typeface="Consolas" panose="020B0609020204030204" pitchFamily="49" charset="0"/>
              </a:rPr>
              <a:t># </a:t>
            </a:r>
            <a:r>
              <a:rPr lang="es-PE" sz="1800" b="0" i="1" dirty="0" err="1">
                <a:solidFill>
                  <a:srgbClr val="3D7B7B"/>
                </a:solidFill>
                <a:effectLst/>
                <a:latin typeface="Consolas" panose="020B0609020204030204" pitchFamily="49" charset="0"/>
              </a:rPr>
              <a:t>Inside</a:t>
            </a:r>
            <a:r>
              <a:rPr lang="es-PE" sz="1800" b="0" i="1" dirty="0">
                <a:solidFill>
                  <a:srgbClr val="3D7B7B"/>
                </a:solidFill>
                <a:effectLst/>
                <a:latin typeface="Consolas" panose="020B0609020204030204" pitchFamily="49" charset="0"/>
              </a:rPr>
              <a:t> </a:t>
            </a:r>
            <a:r>
              <a:rPr lang="es-PE" sz="1800" b="0" i="1" dirty="0" err="1">
                <a:solidFill>
                  <a:srgbClr val="3D7B7B"/>
                </a:solidFill>
                <a:effectLst/>
                <a:latin typeface="Consolas" panose="020B0609020204030204" pitchFamily="49" charset="0"/>
              </a:rPr>
              <a:t>the</a:t>
            </a:r>
            <a:r>
              <a:rPr lang="es-PE" sz="1800" b="0" i="1" dirty="0">
                <a:solidFill>
                  <a:srgbClr val="3D7B7B"/>
                </a:solidFill>
                <a:effectLst/>
                <a:latin typeface="Consolas" panose="020B0609020204030204" pitchFamily="49" charset="0"/>
              </a:rPr>
              <a:t> "</a:t>
            </a:r>
            <a:r>
              <a:rPr lang="es-PE" sz="1800" b="0" i="1" dirty="0" err="1">
                <a:solidFill>
                  <a:srgbClr val="3D7B7B"/>
                </a:solidFill>
                <a:effectLst/>
                <a:latin typeface="Consolas" panose="020B0609020204030204" pitchFamily="49" charset="0"/>
              </a:rPr>
              <a:t>main</a:t>
            </a:r>
            <a:r>
              <a:rPr lang="es-PE" sz="1800" b="0" i="1" dirty="0">
                <a:solidFill>
                  <a:srgbClr val="3D7B7B"/>
                </a:solidFill>
                <a:effectLst/>
                <a:latin typeface="Consolas" panose="020B0609020204030204" pitchFamily="49" charset="0"/>
              </a:rPr>
              <a:t>" </a:t>
            </a:r>
            <a:r>
              <a:rPr lang="es-PE" sz="1800" b="0" i="1" dirty="0" err="1">
                <a:solidFill>
                  <a:srgbClr val="3D7B7B"/>
                </a:solidFill>
                <a:effectLst/>
                <a:latin typeface="Consolas" panose="020B0609020204030204" pitchFamily="49" charset="0"/>
              </a:rPr>
              <a:t>function</a:t>
            </a:r>
            <a:endParaRPr lang="es-PE" sz="1800" b="0" i="0" dirty="0">
              <a:effectLst/>
              <a:latin typeface="Consolas" panose="020B0609020204030204" pitchFamily="49" charset="0"/>
            </a:endParaRPr>
          </a:p>
          <a:p>
            <a:pPr algn="l" fontAlgn="base">
              <a:buNone/>
            </a:pPr>
            <a:r>
              <a:rPr lang="es-PE" sz="1800" b="0" i="0" dirty="0">
                <a:effectLst/>
                <a:latin typeface="Consolas" panose="020B0609020204030204" pitchFamily="49" charset="0"/>
              </a:rPr>
              <a:t>    </a:t>
            </a:r>
            <a:r>
              <a:rPr lang="es-PE" sz="1800" b="1" i="0" dirty="0" err="1">
                <a:solidFill>
                  <a:srgbClr val="008000"/>
                </a:solidFill>
                <a:effectLst/>
                <a:latin typeface="Consolas" panose="020B0609020204030204" pitchFamily="49" charset="0"/>
              </a:rPr>
              <a:t>for</a:t>
            </a:r>
            <a:r>
              <a:rPr lang="es-PE" sz="1800" b="0" i="0" dirty="0">
                <a:effectLst/>
                <a:latin typeface="Consolas" panose="020B0609020204030204" pitchFamily="49" charset="0"/>
              </a:rPr>
              <a:t> i </a:t>
            </a:r>
            <a:r>
              <a:rPr lang="es-PE" sz="1800" b="1" i="0" dirty="0">
                <a:solidFill>
                  <a:srgbClr val="AA22FF"/>
                </a:solidFill>
                <a:effectLst/>
                <a:latin typeface="Consolas" panose="020B0609020204030204" pitchFamily="49" charset="0"/>
              </a:rPr>
              <a:t>in</a:t>
            </a:r>
            <a:r>
              <a:rPr lang="es-PE" sz="1800" b="0" i="0" dirty="0">
                <a:effectLst/>
                <a:latin typeface="Consolas" panose="020B0609020204030204" pitchFamily="49" charset="0"/>
              </a:rPr>
              <a:t> </a:t>
            </a:r>
            <a:r>
              <a:rPr lang="es-PE" sz="1800" b="0" i="0" dirty="0" err="1">
                <a:solidFill>
                  <a:srgbClr val="008000"/>
                </a:solidFill>
                <a:effectLst/>
                <a:latin typeface="Consolas" panose="020B0609020204030204" pitchFamily="49" charset="0"/>
              </a:rPr>
              <a:t>range</a:t>
            </a:r>
            <a:r>
              <a:rPr lang="es-PE" sz="1800" b="0" i="0" dirty="0">
                <a:effectLst/>
                <a:latin typeface="Consolas" panose="020B0609020204030204" pitchFamily="49" charset="0"/>
              </a:rPr>
              <a:t>(</a:t>
            </a:r>
            <a:r>
              <a:rPr lang="es-PE" sz="1800" b="0" i="0" dirty="0" err="1">
                <a:effectLst/>
                <a:latin typeface="Consolas" panose="020B0609020204030204" pitchFamily="49" charset="0"/>
              </a:rPr>
              <a:t>epochs</a:t>
            </a:r>
            <a:r>
              <a:rPr lang="es-PE" sz="1800" b="0" i="0" dirty="0">
                <a:effectLst/>
                <a:latin typeface="Consolas" panose="020B0609020204030204" pitchFamily="49" charset="0"/>
              </a:rPr>
              <a:t>):</a:t>
            </a:r>
          </a:p>
          <a:p>
            <a:pPr algn="l" fontAlgn="base">
              <a:buNone/>
            </a:pPr>
            <a:r>
              <a:rPr lang="es-PE" sz="1800" b="0" i="0" dirty="0">
                <a:effectLst/>
                <a:latin typeface="Consolas" panose="020B0609020204030204" pitchFamily="49" charset="0"/>
              </a:rPr>
              <a:t>        </a:t>
            </a:r>
            <a:r>
              <a:rPr lang="es-PE" sz="1800" b="1" i="0" dirty="0" err="1">
                <a:solidFill>
                  <a:srgbClr val="008000"/>
                </a:solidFill>
                <a:effectLst/>
                <a:latin typeface="Consolas" panose="020B0609020204030204" pitchFamily="49" charset="0"/>
              </a:rPr>
              <a:t>for</a:t>
            </a:r>
            <a:r>
              <a:rPr lang="es-PE" sz="1800" b="0" i="0" dirty="0">
                <a:effectLst/>
                <a:latin typeface="Consolas" panose="020B0609020204030204" pitchFamily="49" charset="0"/>
              </a:rPr>
              <a:t> j </a:t>
            </a:r>
            <a:r>
              <a:rPr lang="es-PE" sz="1800" b="1" i="0" dirty="0">
                <a:solidFill>
                  <a:srgbClr val="AA22FF"/>
                </a:solidFill>
                <a:effectLst/>
                <a:latin typeface="Consolas" panose="020B0609020204030204" pitchFamily="49" charset="0"/>
              </a:rPr>
              <a:t>in</a:t>
            </a:r>
            <a:r>
              <a:rPr lang="es-PE" sz="1800" b="0" i="0" dirty="0">
                <a:effectLst/>
                <a:latin typeface="Consolas" panose="020B0609020204030204" pitchFamily="49" charset="0"/>
              </a:rPr>
              <a:t> </a:t>
            </a:r>
            <a:r>
              <a:rPr lang="es-PE" sz="1800" b="0" i="0" dirty="0" err="1">
                <a:solidFill>
                  <a:srgbClr val="008000"/>
                </a:solidFill>
                <a:effectLst/>
                <a:latin typeface="Consolas" panose="020B0609020204030204" pitchFamily="49" charset="0"/>
              </a:rPr>
              <a:t>range</a:t>
            </a:r>
            <a:r>
              <a:rPr lang="es-PE" sz="1800" b="0" i="0" dirty="0">
                <a:effectLst/>
                <a:latin typeface="Consolas" panose="020B0609020204030204" pitchFamily="49" charset="0"/>
              </a:rPr>
              <a:t>(m):</a:t>
            </a:r>
          </a:p>
          <a:p>
            <a:pPr algn="l" fontAlgn="base">
              <a:buNone/>
            </a:pPr>
            <a:r>
              <a:rPr lang="es-PE" sz="1800" b="0" i="0" dirty="0">
                <a:effectLst/>
                <a:latin typeface="Consolas" panose="020B0609020204030204" pitchFamily="49" charset="0"/>
              </a:rPr>
              <a:t>            </a:t>
            </a:r>
            <a:r>
              <a:rPr lang="es-PE" sz="1800" b="0" i="0" dirty="0" err="1">
                <a:effectLst/>
                <a:latin typeface="Consolas" panose="020B0609020204030204" pitchFamily="49" charset="0"/>
              </a:rPr>
              <a:t>sample</a:t>
            </a:r>
            <a:r>
              <a:rPr lang="es-PE" sz="1800" b="0" i="0" dirty="0">
                <a:effectLst/>
                <a:latin typeface="Consolas" panose="020B0609020204030204" pitchFamily="49" charset="0"/>
              </a:rPr>
              <a:t> </a:t>
            </a:r>
            <a:r>
              <a:rPr lang="es-PE" sz="1800" b="0" i="0" dirty="0">
                <a:solidFill>
                  <a:srgbClr val="666666"/>
                </a:solidFill>
                <a:effectLst/>
                <a:latin typeface="Consolas" panose="020B0609020204030204" pitchFamily="49" charset="0"/>
              </a:rPr>
              <a:t>=</a:t>
            </a:r>
            <a:r>
              <a:rPr lang="es-PE" sz="1800" b="0" i="0" dirty="0">
                <a:effectLst/>
                <a:latin typeface="Consolas" panose="020B0609020204030204" pitchFamily="49" charset="0"/>
              </a:rPr>
              <a:t> T[j]</a:t>
            </a:r>
          </a:p>
          <a:p>
            <a:pPr algn="l" fontAlgn="base">
              <a:buNone/>
            </a:pPr>
            <a:r>
              <a:rPr lang="es-PE" sz="1800" b="0" i="0" dirty="0">
                <a:effectLst/>
                <a:latin typeface="Consolas" panose="020B0609020204030204" pitchFamily="49" charset="0"/>
              </a:rPr>
              <a:t>            J </a:t>
            </a:r>
            <a:r>
              <a:rPr lang="es-PE" sz="1800" b="0" i="0" dirty="0">
                <a:solidFill>
                  <a:srgbClr val="666666"/>
                </a:solidFill>
                <a:effectLst/>
                <a:latin typeface="Consolas" panose="020B0609020204030204" pitchFamily="49" charset="0"/>
              </a:rPr>
              <a:t>=</a:t>
            </a:r>
            <a:r>
              <a:rPr lang="es-PE" sz="1800" b="0" i="0" dirty="0">
                <a:effectLst/>
                <a:latin typeface="Consolas" panose="020B0609020204030204" pitchFamily="49" charset="0"/>
              </a:rPr>
              <a:t> </a:t>
            </a:r>
            <a:r>
              <a:rPr lang="es-PE" sz="1800" b="0" i="0" dirty="0" err="1">
                <a:effectLst/>
                <a:latin typeface="Consolas" panose="020B0609020204030204" pitchFamily="49" charset="0"/>
              </a:rPr>
              <a:t>ob</a:t>
            </a:r>
            <a:r>
              <a:rPr lang="es-PE" sz="1800" b="0" i="0" dirty="0" err="1">
                <a:solidFill>
                  <a:srgbClr val="666666"/>
                </a:solidFill>
                <a:effectLst/>
                <a:latin typeface="Consolas" panose="020B0609020204030204" pitchFamily="49" charset="0"/>
              </a:rPr>
              <a:t>.</a:t>
            </a:r>
            <a:r>
              <a:rPr lang="es-PE" sz="1800" b="0" i="0" dirty="0" err="1">
                <a:effectLst/>
                <a:latin typeface="Consolas" panose="020B0609020204030204" pitchFamily="49" charset="0"/>
              </a:rPr>
              <a:t>winner</a:t>
            </a:r>
            <a:r>
              <a:rPr lang="es-PE" sz="1800" b="0" i="0" dirty="0">
                <a:effectLst/>
                <a:latin typeface="Consolas" panose="020B0609020204030204" pitchFamily="49" charset="0"/>
              </a:rPr>
              <a:t>(</a:t>
            </a:r>
            <a:r>
              <a:rPr lang="es-PE" sz="1800" b="0" i="0" dirty="0" err="1">
                <a:effectLst/>
                <a:latin typeface="Consolas" panose="020B0609020204030204" pitchFamily="49" charset="0"/>
              </a:rPr>
              <a:t>weights</a:t>
            </a:r>
            <a:r>
              <a:rPr lang="es-PE" sz="1800" b="0" i="0" dirty="0">
                <a:effectLst/>
                <a:latin typeface="Consolas" panose="020B0609020204030204" pitchFamily="49" charset="0"/>
              </a:rPr>
              <a:t>, </a:t>
            </a:r>
            <a:r>
              <a:rPr lang="es-PE" sz="1800" b="0" i="0" dirty="0" err="1">
                <a:effectLst/>
                <a:latin typeface="Consolas" panose="020B0609020204030204" pitchFamily="49" charset="0"/>
              </a:rPr>
              <a:t>sample</a:t>
            </a:r>
            <a:r>
              <a:rPr lang="es-PE" sz="1800" b="0" i="0" dirty="0">
                <a:effectLst/>
                <a:latin typeface="Consolas" panose="020B0609020204030204" pitchFamily="49" charset="0"/>
              </a:rPr>
              <a:t>)</a:t>
            </a:r>
          </a:p>
          <a:p>
            <a:pPr algn="l" fontAlgn="base">
              <a:buNone/>
            </a:pPr>
            <a:r>
              <a:rPr lang="es-PE" sz="1800" b="0" i="0" dirty="0">
                <a:effectLst/>
                <a:latin typeface="Consolas" panose="020B0609020204030204" pitchFamily="49" charset="0"/>
              </a:rPr>
              <a:t>            </a:t>
            </a:r>
            <a:r>
              <a:rPr lang="es-PE" sz="1800" b="0" i="0" dirty="0" err="1">
                <a:effectLst/>
                <a:latin typeface="Consolas" panose="020B0609020204030204" pitchFamily="49" charset="0"/>
              </a:rPr>
              <a:t>weights</a:t>
            </a:r>
            <a:r>
              <a:rPr lang="es-PE" sz="1800" b="0" i="0" dirty="0">
                <a:effectLst/>
                <a:latin typeface="Consolas" panose="020B0609020204030204" pitchFamily="49" charset="0"/>
              </a:rPr>
              <a:t> </a:t>
            </a:r>
            <a:r>
              <a:rPr lang="es-PE" sz="1800" b="0" i="0" dirty="0">
                <a:solidFill>
                  <a:srgbClr val="666666"/>
                </a:solidFill>
                <a:effectLst/>
                <a:latin typeface="Consolas" panose="020B0609020204030204" pitchFamily="49" charset="0"/>
              </a:rPr>
              <a:t>=</a:t>
            </a:r>
            <a:r>
              <a:rPr lang="es-PE" sz="1800" b="0" i="0" dirty="0">
                <a:effectLst/>
                <a:latin typeface="Consolas" panose="020B0609020204030204" pitchFamily="49" charset="0"/>
              </a:rPr>
              <a:t> </a:t>
            </a:r>
            <a:r>
              <a:rPr lang="es-PE" sz="1800" b="0" i="0" dirty="0" err="1">
                <a:effectLst/>
                <a:latin typeface="Consolas" panose="020B0609020204030204" pitchFamily="49" charset="0"/>
              </a:rPr>
              <a:t>ob</a:t>
            </a:r>
            <a:r>
              <a:rPr lang="es-PE" sz="1800" b="0" i="0" dirty="0" err="1">
                <a:solidFill>
                  <a:srgbClr val="666666"/>
                </a:solidFill>
                <a:effectLst/>
                <a:latin typeface="Consolas" panose="020B0609020204030204" pitchFamily="49" charset="0"/>
              </a:rPr>
              <a:t>.</a:t>
            </a:r>
            <a:r>
              <a:rPr lang="es-PE" sz="1800" b="0" i="0" dirty="0" err="1">
                <a:effectLst/>
                <a:latin typeface="Consolas" panose="020B0609020204030204" pitchFamily="49" charset="0"/>
              </a:rPr>
              <a:t>update</a:t>
            </a:r>
            <a:r>
              <a:rPr lang="es-PE" sz="1800" b="0" i="0" dirty="0">
                <a:effectLst/>
                <a:latin typeface="Consolas" panose="020B0609020204030204" pitchFamily="49" charset="0"/>
              </a:rPr>
              <a:t>(</a:t>
            </a:r>
            <a:r>
              <a:rPr lang="es-PE" sz="1800" b="0" i="0" dirty="0" err="1">
                <a:effectLst/>
                <a:latin typeface="Consolas" panose="020B0609020204030204" pitchFamily="49" charset="0"/>
              </a:rPr>
              <a:t>weights</a:t>
            </a:r>
            <a:r>
              <a:rPr lang="es-PE" sz="1800" b="0" i="0" dirty="0">
                <a:effectLst/>
                <a:latin typeface="Consolas" panose="020B0609020204030204" pitchFamily="49" charset="0"/>
              </a:rPr>
              <a:t>, </a:t>
            </a:r>
            <a:r>
              <a:rPr lang="es-PE" sz="1800" b="0" i="0" dirty="0" err="1">
                <a:effectLst/>
                <a:latin typeface="Consolas" panose="020B0609020204030204" pitchFamily="49" charset="0"/>
              </a:rPr>
              <a:t>sample</a:t>
            </a:r>
            <a:r>
              <a:rPr lang="es-PE" sz="1800" b="0" i="0" dirty="0">
                <a:effectLst/>
                <a:latin typeface="Consolas" panose="020B0609020204030204" pitchFamily="49" charset="0"/>
              </a:rPr>
              <a:t>, J, </a:t>
            </a:r>
            <a:r>
              <a:rPr lang="es-PE" sz="1800" b="0" i="0" dirty="0" err="1">
                <a:effectLst/>
                <a:latin typeface="Consolas" panose="020B0609020204030204" pitchFamily="49" charset="0"/>
              </a:rPr>
              <a:t>alpha</a:t>
            </a:r>
            <a:r>
              <a:rPr lang="es-PE" sz="1800" b="0" i="0" dirty="0">
                <a:effectLst/>
                <a:latin typeface="Consolas" panose="020B0609020204030204" pitchFamily="49" charset="0"/>
              </a:rPr>
              <a:t>)</a:t>
            </a:r>
          </a:p>
        </p:txBody>
      </p:sp>
    </p:spTree>
    <p:extLst>
      <p:ext uri="{BB962C8B-B14F-4D97-AF65-F5344CB8AC3E}">
        <p14:creationId xmlns:p14="http://schemas.microsoft.com/office/powerpoint/2010/main" val="2278320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DFA0D-3586-188D-8420-9F61DD676936}"/>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130FF15B-99A2-D07F-529F-ED1D43AC93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912CBDCA-9846-4996-D221-24D201CEE9B5}"/>
              </a:ext>
            </a:extLst>
          </p:cNvPr>
          <p:cNvSpPr>
            <a:spLocks noGrp="1"/>
          </p:cNvSpPr>
          <p:nvPr>
            <p:ph idx="1"/>
          </p:nvPr>
        </p:nvSpPr>
        <p:spPr>
          <a:xfrm>
            <a:off x="838200" y="1825625"/>
            <a:ext cx="10515600" cy="1913255"/>
          </a:xfrm>
        </p:spPr>
        <p:txBody>
          <a:bodyPr>
            <a:normAutofit/>
          </a:bodyPr>
          <a:lstStyle/>
          <a:p>
            <a:pPr marL="0" indent="0" fontAlgn="base">
              <a:buNone/>
            </a:pPr>
            <a:r>
              <a:rPr lang="es-ES" sz="2400" b="1" dirty="0"/>
              <a:t>Clasificación de la muestra de prueba</a:t>
            </a:r>
          </a:p>
          <a:p>
            <a:pPr fontAlgn="base"/>
            <a:r>
              <a:rPr lang="es-ES" sz="2400" dirty="0"/>
              <a:t>Tras entrenar la red SOM, utilizamos una muestra de prueba s y la clasificamos en uno de los clústeres calculando cuál tiene el vector de pesos más cercano a la muestra de entrada. Finalmente, imprimimos la asignación de clústeres y los pesos entrenados para cada clúster.</a:t>
            </a:r>
          </a:p>
        </p:txBody>
      </p:sp>
      <p:sp>
        <p:nvSpPr>
          <p:cNvPr id="2" name="Título 7">
            <a:extLst>
              <a:ext uri="{FF2B5EF4-FFF2-40B4-BE49-F238E27FC236}">
                <a16:creationId xmlns:a16="http://schemas.microsoft.com/office/drawing/2014/main" id="{CAD64440-0439-EC49-2A00-7107ACC27867}"/>
              </a:ext>
            </a:extLst>
          </p:cNvPr>
          <p:cNvSpPr>
            <a:spLocks noGrp="1"/>
          </p:cNvSpPr>
          <p:nvPr>
            <p:ph type="title"/>
          </p:nvPr>
        </p:nvSpPr>
        <p:spPr>
          <a:xfrm>
            <a:off x="838200" y="365125"/>
            <a:ext cx="10515600" cy="1325563"/>
          </a:xfrm>
        </p:spPr>
        <p:txBody>
          <a:bodyPr/>
          <a:lstStyle/>
          <a:p>
            <a:r>
              <a:rPr lang="es-ES" b="1" dirty="0"/>
              <a:t>Implementación de SOM en Python</a:t>
            </a:r>
            <a:endParaRPr lang="es-PE" dirty="0"/>
          </a:p>
        </p:txBody>
      </p:sp>
      <p:sp>
        <p:nvSpPr>
          <p:cNvPr id="5" name="CuadroTexto 4">
            <a:extLst>
              <a:ext uri="{FF2B5EF4-FFF2-40B4-BE49-F238E27FC236}">
                <a16:creationId xmlns:a16="http://schemas.microsoft.com/office/drawing/2014/main" id="{265B45C3-EE81-3382-42A0-CD5D7927DBC9}"/>
              </a:ext>
            </a:extLst>
          </p:cNvPr>
          <p:cNvSpPr txBox="1"/>
          <p:nvPr/>
        </p:nvSpPr>
        <p:spPr>
          <a:xfrm>
            <a:off x="2758439" y="3873817"/>
            <a:ext cx="6675120" cy="1754326"/>
          </a:xfrm>
          <a:prstGeom prst="rect">
            <a:avLst/>
          </a:prstGeom>
          <a:noFill/>
        </p:spPr>
        <p:txBody>
          <a:bodyPr wrap="square">
            <a:spAutoFit/>
          </a:bodyPr>
          <a:lstStyle/>
          <a:p>
            <a:pPr algn="l" fontAlgn="base">
              <a:buNone/>
            </a:pPr>
            <a:r>
              <a:rPr lang="en-US" sz="1800" b="0" i="1" dirty="0">
                <a:solidFill>
                  <a:srgbClr val="3D7B7B"/>
                </a:solidFill>
                <a:effectLst/>
                <a:latin typeface="Consolas" panose="020B0609020204030204" pitchFamily="49" charset="0"/>
              </a:rPr>
              <a:t># Inside the "Main" function</a:t>
            </a:r>
            <a:endParaRPr lang="en-US" sz="1800" b="0" i="0" dirty="0">
              <a:effectLst/>
              <a:latin typeface="Consolas" panose="020B0609020204030204" pitchFamily="49" charset="0"/>
            </a:endParaRPr>
          </a:p>
          <a:p>
            <a:pPr algn="l" fontAlgn="base">
              <a:buNone/>
            </a:pPr>
            <a:r>
              <a:rPr lang="en-US" sz="1800" b="0" i="0" dirty="0">
                <a:effectLst/>
                <a:latin typeface="Consolas" panose="020B0609020204030204" pitchFamily="49" charset="0"/>
              </a:rPr>
              <a:t>    s </a:t>
            </a:r>
            <a:r>
              <a:rPr lang="en-US" sz="1800" b="0" i="0" dirty="0">
                <a:solidFill>
                  <a:srgbClr val="666666"/>
                </a:solidFill>
                <a:effectLst/>
                <a:latin typeface="Consolas" panose="020B0609020204030204" pitchFamily="49" charset="0"/>
              </a:rPr>
              <a:t>=</a:t>
            </a:r>
            <a:r>
              <a:rPr lang="en-US" sz="1800" b="0" i="0" dirty="0">
                <a:effectLst/>
                <a:latin typeface="Consolas" panose="020B0609020204030204" pitchFamily="49" charset="0"/>
              </a:rPr>
              <a:t> [</a:t>
            </a:r>
            <a:r>
              <a:rPr lang="en-US" sz="1800" b="0" i="0" dirty="0">
                <a:solidFill>
                  <a:srgbClr val="666666"/>
                </a:solidFill>
                <a:effectLst/>
                <a:latin typeface="Consolas" panose="020B0609020204030204" pitchFamily="49" charset="0"/>
              </a:rPr>
              <a:t>0</a:t>
            </a:r>
            <a:r>
              <a:rPr lang="en-US" sz="1800" b="0" i="0" dirty="0">
                <a:effectLst/>
                <a:latin typeface="Consolas" panose="020B0609020204030204" pitchFamily="49" charset="0"/>
              </a:rPr>
              <a:t>, </a:t>
            </a:r>
            <a:r>
              <a:rPr lang="en-US" sz="1800" b="0" i="0" dirty="0">
                <a:solidFill>
                  <a:srgbClr val="666666"/>
                </a:solidFill>
                <a:effectLst/>
                <a:latin typeface="Consolas" panose="020B0609020204030204" pitchFamily="49" charset="0"/>
              </a:rPr>
              <a:t>0</a:t>
            </a:r>
            <a:r>
              <a:rPr lang="en-US" sz="1800" b="0" i="0" dirty="0">
                <a:effectLst/>
                <a:latin typeface="Consolas" panose="020B0609020204030204" pitchFamily="49" charset="0"/>
              </a:rPr>
              <a:t>, </a:t>
            </a:r>
            <a:r>
              <a:rPr lang="en-US" sz="1800" b="0" i="0" dirty="0">
                <a:solidFill>
                  <a:srgbClr val="666666"/>
                </a:solidFill>
                <a:effectLst/>
                <a:latin typeface="Consolas" panose="020B0609020204030204" pitchFamily="49" charset="0"/>
              </a:rPr>
              <a:t>0</a:t>
            </a:r>
            <a:r>
              <a:rPr lang="en-US" sz="1800" b="0" i="0" dirty="0">
                <a:effectLst/>
                <a:latin typeface="Consolas" panose="020B0609020204030204" pitchFamily="49" charset="0"/>
              </a:rPr>
              <a:t>, </a:t>
            </a:r>
            <a:r>
              <a:rPr lang="en-US" sz="1800" b="0" i="0" dirty="0">
                <a:solidFill>
                  <a:srgbClr val="666666"/>
                </a:solidFill>
                <a:effectLst/>
                <a:latin typeface="Consolas" panose="020B0609020204030204" pitchFamily="49" charset="0"/>
              </a:rPr>
              <a:t>1</a:t>
            </a:r>
            <a:r>
              <a:rPr lang="en-US" sz="1800" b="0" i="0" dirty="0">
                <a:effectLst/>
                <a:latin typeface="Consolas" panose="020B0609020204030204" pitchFamily="49" charset="0"/>
              </a:rPr>
              <a:t>]</a:t>
            </a:r>
          </a:p>
          <a:p>
            <a:pPr algn="l" fontAlgn="base">
              <a:buNone/>
            </a:pPr>
            <a:r>
              <a:rPr lang="en-US" sz="1800" b="0" i="0" dirty="0">
                <a:effectLst/>
                <a:latin typeface="Consolas" panose="020B0609020204030204" pitchFamily="49" charset="0"/>
              </a:rPr>
              <a:t>    J </a:t>
            </a:r>
            <a:r>
              <a:rPr lang="en-US" sz="1800" b="0" i="0" dirty="0">
                <a:solidFill>
                  <a:srgbClr val="666666"/>
                </a:solidFill>
                <a:effectLst/>
                <a:latin typeface="Consolas" panose="020B0609020204030204" pitchFamily="49" charset="0"/>
              </a:rPr>
              <a:t>=</a:t>
            </a:r>
            <a:r>
              <a:rPr lang="en-US" sz="1800" b="0" i="0" dirty="0">
                <a:effectLst/>
                <a:latin typeface="Consolas" panose="020B0609020204030204" pitchFamily="49" charset="0"/>
              </a:rPr>
              <a:t> </a:t>
            </a:r>
            <a:r>
              <a:rPr lang="en-US" sz="1800" b="0" i="0" dirty="0" err="1">
                <a:effectLst/>
                <a:latin typeface="Consolas" panose="020B0609020204030204" pitchFamily="49" charset="0"/>
              </a:rPr>
              <a:t>ob</a:t>
            </a:r>
            <a:r>
              <a:rPr lang="en-US" sz="1800" b="0" i="0" dirty="0" err="1">
                <a:solidFill>
                  <a:srgbClr val="666666"/>
                </a:solidFill>
                <a:effectLst/>
                <a:latin typeface="Consolas" panose="020B0609020204030204" pitchFamily="49" charset="0"/>
              </a:rPr>
              <a:t>.</a:t>
            </a:r>
            <a:r>
              <a:rPr lang="en-US" sz="1800" b="0" i="0" dirty="0" err="1">
                <a:effectLst/>
                <a:latin typeface="Consolas" panose="020B0609020204030204" pitchFamily="49" charset="0"/>
              </a:rPr>
              <a:t>winner</a:t>
            </a:r>
            <a:r>
              <a:rPr lang="en-US" sz="1800" b="0" i="0" dirty="0">
                <a:effectLst/>
                <a:latin typeface="Consolas" panose="020B0609020204030204" pitchFamily="49" charset="0"/>
              </a:rPr>
              <a:t>(weights, s)</a:t>
            </a:r>
          </a:p>
          <a:p>
            <a:pPr algn="l" fontAlgn="base">
              <a:buNone/>
            </a:pPr>
            <a:endParaRPr lang="en-US" sz="1800" b="0" i="0" dirty="0">
              <a:effectLst/>
              <a:latin typeface="Consolas" panose="020B0609020204030204" pitchFamily="49" charset="0"/>
            </a:endParaRPr>
          </a:p>
          <a:p>
            <a:pPr algn="l" fontAlgn="base">
              <a:buNone/>
            </a:pPr>
            <a:r>
              <a:rPr lang="en-US" sz="1800" b="0" i="0" dirty="0">
                <a:effectLst/>
                <a:latin typeface="Consolas" panose="020B0609020204030204" pitchFamily="49" charset="0"/>
              </a:rPr>
              <a:t>    </a:t>
            </a:r>
            <a:r>
              <a:rPr lang="en-US" sz="1800" b="0" i="0" dirty="0">
                <a:solidFill>
                  <a:srgbClr val="008000"/>
                </a:solidFill>
                <a:effectLst/>
                <a:latin typeface="Consolas" panose="020B0609020204030204" pitchFamily="49" charset="0"/>
              </a:rPr>
              <a:t>print</a:t>
            </a:r>
            <a:r>
              <a:rPr lang="en-US" sz="1800" b="0" i="0" dirty="0">
                <a:effectLst/>
                <a:latin typeface="Consolas" panose="020B0609020204030204" pitchFamily="49" charset="0"/>
              </a:rPr>
              <a:t>(</a:t>
            </a:r>
            <a:r>
              <a:rPr lang="en-US" sz="1800" b="0" i="0" dirty="0">
                <a:solidFill>
                  <a:srgbClr val="BA2121"/>
                </a:solidFill>
                <a:effectLst/>
                <a:latin typeface="Consolas" panose="020B0609020204030204" pitchFamily="49" charset="0"/>
              </a:rPr>
              <a:t>"Test Sample s belongs to Cluster: "</a:t>
            </a:r>
            <a:r>
              <a:rPr lang="en-US" sz="1800" b="0" i="0" dirty="0">
                <a:effectLst/>
                <a:latin typeface="Consolas" panose="020B0609020204030204" pitchFamily="49" charset="0"/>
              </a:rPr>
              <a:t>, J)</a:t>
            </a:r>
          </a:p>
          <a:p>
            <a:pPr algn="l" fontAlgn="base">
              <a:buNone/>
            </a:pPr>
            <a:r>
              <a:rPr lang="en-US" sz="1800" b="0" i="0" dirty="0">
                <a:effectLst/>
                <a:latin typeface="Consolas" panose="020B0609020204030204" pitchFamily="49" charset="0"/>
              </a:rPr>
              <a:t>    </a:t>
            </a:r>
            <a:r>
              <a:rPr lang="en-US" sz="1800" b="0" i="0" dirty="0">
                <a:solidFill>
                  <a:srgbClr val="008000"/>
                </a:solidFill>
                <a:effectLst/>
                <a:latin typeface="Consolas" panose="020B0609020204030204" pitchFamily="49" charset="0"/>
              </a:rPr>
              <a:t>print</a:t>
            </a:r>
            <a:r>
              <a:rPr lang="en-US" sz="1800" b="0" i="0" dirty="0">
                <a:effectLst/>
                <a:latin typeface="Consolas" panose="020B0609020204030204" pitchFamily="49" charset="0"/>
              </a:rPr>
              <a:t>(</a:t>
            </a:r>
            <a:r>
              <a:rPr lang="en-US" sz="1800" b="0" i="0" dirty="0">
                <a:solidFill>
                  <a:srgbClr val="BA2121"/>
                </a:solidFill>
                <a:effectLst/>
                <a:latin typeface="Consolas" panose="020B0609020204030204" pitchFamily="49" charset="0"/>
              </a:rPr>
              <a:t>"Trained weights: "</a:t>
            </a:r>
            <a:r>
              <a:rPr lang="en-US" sz="1800" b="0" i="0" dirty="0">
                <a:effectLst/>
                <a:latin typeface="Consolas" panose="020B0609020204030204" pitchFamily="49" charset="0"/>
              </a:rPr>
              <a:t>, weights)</a:t>
            </a:r>
          </a:p>
        </p:txBody>
      </p:sp>
    </p:spTree>
    <p:extLst>
      <p:ext uri="{BB962C8B-B14F-4D97-AF65-F5344CB8AC3E}">
        <p14:creationId xmlns:p14="http://schemas.microsoft.com/office/powerpoint/2010/main" val="3033423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CBDA2-3D99-0FDB-DF04-BA800B7E73C9}"/>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7F6C2DA-B522-2BFC-DBB2-FE0E14E11EF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6" name="Marcador de contenido 5">
            <a:extLst>
              <a:ext uri="{FF2B5EF4-FFF2-40B4-BE49-F238E27FC236}">
                <a16:creationId xmlns:a16="http://schemas.microsoft.com/office/drawing/2014/main" id="{A26D5605-C11B-2B4B-CBED-85EF1BDF0680}"/>
              </a:ext>
            </a:extLst>
          </p:cNvPr>
          <p:cNvSpPr>
            <a:spLocks noGrp="1"/>
          </p:cNvSpPr>
          <p:nvPr>
            <p:ph idx="1"/>
          </p:nvPr>
        </p:nvSpPr>
        <p:spPr>
          <a:xfrm>
            <a:off x="838200" y="1825625"/>
            <a:ext cx="10515600" cy="836295"/>
          </a:xfrm>
        </p:spPr>
        <p:txBody>
          <a:bodyPr>
            <a:normAutofit/>
          </a:bodyPr>
          <a:lstStyle/>
          <a:p>
            <a:pPr marL="0" indent="0" fontAlgn="base">
              <a:buNone/>
            </a:pPr>
            <a:r>
              <a:rPr lang="es-ES" sz="2000" b="1" dirty="0"/>
              <a:t>Ejecución de la función principal</a:t>
            </a:r>
          </a:p>
          <a:p>
            <a:pPr fontAlgn="base"/>
            <a:r>
              <a:rPr lang="es-ES" sz="2000" dirty="0"/>
              <a:t>El siguiente bloque ejecuta la función </a:t>
            </a:r>
            <a:r>
              <a:rPr lang="es-ES" sz="2000" dirty="0" err="1"/>
              <a:t>main</a:t>
            </a:r>
            <a:r>
              <a:rPr lang="es-ES" sz="2000" dirty="0"/>
              <a:t>() cuando se ejecuta el script.</a:t>
            </a:r>
          </a:p>
        </p:txBody>
      </p:sp>
      <p:sp>
        <p:nvSpPr>
          <p:cNvPr id="2" name="Título 7">
            <a:extLst>
              <a:ext uri="{FF2B5EF4-FFF2-40B4-BE49-F238E27FC236}">
                <a16:creationId xmlns:a16="http://schemas.microsoft.com/office/drawing/2014/main" id="{B2D241C7-566A-3B26-B80B-5EA7A80B973A}"/>
              </a:ext>
            </a:extLst>
          </p:cNvPr>
          <p:cNvSpPr>
            <a:spLocks noGrp="1"/>
          </p:cNvSpPr>
          <p:nvPr>
            <p:ph type="title"/>
          </p:nvPr>
        </p:nvSpPr>
        <p:spPr>
          <a:xfrm>
            <a:off x="838200" y="365125"/>
            <a:ext cx="10515600" cy="1325563"/>
          </a:xfrm>
        </p:spPr>
        <p:txBody>
          <a:bodyPr/>
          <a:lstStyle/>
          <a:p>
            <a:r>
              <a:rPr lang="es-ES" b="1" dirty="0"/>
              <a:t>Implementación de SOM en Python</a:t>
            </a:r>
            <a:endParaRPr lang="es-PE" dirty="0"/>
          </a:p>
        </p:txBody>
      </p:sp>
      <p:sp>
        <p:nvSpPr>
          <p:cNvPr id="5" name="CuadroTexto 4">
            <a:extLst>
              <a:ext uri="{FF2B5EF4-FFF2-40B4-BE49-F238E27FC236}">
                <a16:creationId xmlns:a16="http://schemas.microsoft.com/office/drawing/2014/main" id="{34EF9842-96D0-671A-3F34-945135E691CD}"/>
              </a:ext>
            </a:extLst>
          </p:cNvPr>
          <p:cNvSpPr txBox="1"/>
          <p:nvPr/>
        </p:nvSpPr>
        <p:spPr>
          <a:xfrm>
            <a:off x="4363719" y="2782669"/>
            <a:ext cx="3464560" cy="646331"/>
          </a:xfrm>
          <a:prstGeom prst="rect">
            <a:avLst/>
          </a:prstGeom>
          <a:noFill/>
        </p:spPr>
        <p:txBody>
          <a:bodyPr wrap="square">
            <a:spAutoFit/>
          </a:bodyPr>
          <a:lstStyle/>
          <a:p>
            <a:pPr algn="l" fontAlgn="base">
              <a:buNone/>
            </a:pPr>
            <a:r>
              <a:rPr lang="es-PE" sz="1800" b="1" i="0" dirty="0" err="1">
                <a:solidFill>
                  <a:srgbClr val="008000"/>
                </a:solidFill>
                <a:effectLst/>
                <a:latin typeface="Consolas" panose="020B0609020204030204" pitchFamily="49" charset="0"/>
              </a:rPr>
              <a:t>if</a:t>
            </a:r>
            <a:r>
              <a:rPr lang="es-PE" sz="1800" b="0" i="0" dirty="0">
                <a:solidFill>
                  <a:srgbClr val="273239"/>
                </a:solidFill>
                <a:effectLst/>
                <a:latin typeface="Consolas" panose="020B0609020204030204" pitchFamily="49" charset="0"/>
              </a:rPr>
              <a:t> </a:t>
            </a:r>
            <a:r>
              <a:rPr lang="es-PE" sz="1800" b="0" i="0" dirty="0">
                <a:solidFill>
                  <a:srgbClr val="19177C"/>
                </a:solidFill>
                <a:effectLst/>
                <a:latin typeface="Consolas" panose="020B0609020204030204" pitchFamily="49" charset="0"/>
              </a:rPr>
              <a:t>__</a:t>
            </a:r>
            <a:r>
              <a:rPr lang="es-PE" sz="1800" b="0" i="0" dirty="0" err="1">
                <a:solidFill>
                  <a:srgbClr val="19177C"/>
                </a:solidFill>
                <a:effectLst/>
                <a:latin typeface="Consolas" panose="020B0609020204030204" pitchFamily="49" charset="0"/>
              </a:rPr>
              <a:t>name</a:t>
            </a:r>
            <a:r>
              <a:rPr lang="es-PE" sz="1800" b="0" i="0" dirty="0">
                <a:solidFill>
                  <a:srgbClr val="19177C"/>
                </a:solidFill>
                <a:effectLst/>
                <a:latin typeface="Consolas" panose="020B0609020204030204" pitchFamily="49" charset="0"/>
              </a:rPr>
              <a:t>__</a:t>
            </a:r>
            <a:r>
              <a:rPr lang="es-PE" sz="1800" b="0" i="0" dirty="0">
                <a:solidFill>
                  <a:srgbClr val="273239"/>
                </a:solidFill>
                <a:effectLst/>
                <a:latin typeface="Consolas" panose="020B0609020204030204" pitchFamily="49" charset="0"/>
              </a:rPr>
              <a:t> </a:t>
            </a:r>
            <a:r>
              <a:rPr lang="es-PE" sz="1800" b="0" i="0" dirty="0">
                <a:solidFill>
                  <a:srgbClr val="666666"/>
                </a:solidFill>
                <a:effectLst/>
                <a:latin typeface="Consolas" panose="020B0609020204030204" pitchFamily="49" charset="0"/>
              </a:rPr>
              <a:t>==</a:t>
            </a:r>
            <a:r>
              <a:rPr lang="es-PE" sz="1800" b="0" i="0" dirty="0">
                <a:solidFill>
                  <a:srgbClr val="273239"/>
                </a:solidFill>
                <a:effectLst/>
                <a:latin typeface="Consolas" panose="020B0609020204030204" pitchFamily="49" charset="0"/>
              </a:rPr>
              <a:t> </a:t>
            </a:r>
            <a:r>
              <a:rPr lang="es-PE" sz="1800" b="0" i="0" dirty="0">
                <a:solidFill>
                  <a:srgbClr val="BA2121"/>
                </a:solidFill>
                <a:effectLst/>
                <a:latin typeface="Consolas" panose="020B0609020204030204" pitchFamily="49" charset="0"/>
              </a:rPr>
              <a:t>"__</a:t>
            </a:r>
            <a:r>
              <a:rPr lang="es-PE" sz="1800" b="0" i="0" dirty="0" err="1">
                <a:solidFill>
                  <a:srgbClr val="BA2121"/>
                </a:solidFill>
                <a:effectLst/>
                <a:latin typeface="Consolas" panose="020B0609020204030204" pitchFamily="49" charset="0"/>
              </a:rPr>
              <a:t>main</a:t>
            </a:r>
            <a:r>
              <a:rPr lang="es-PE" sz="1800" b="0" i="0" dirty="0">
                <a:solidFill>
                  <a:srgbClr val="BA2121"/>
                </a:solidFill>
                <a:effectLst/>
                <a:latin typeface="Consolas" panose="020B0609020204030204" pitchFamily="49" charset="0"/>
              </a:rPr>
              <a:t>__"</a:t>
            </a:r>
            <a:r>
              <a:rPr lang="es-PE" sz="1800" b="0" i="0" dirty="0">
                <a:solidFill>
                  <a:srgbClr val="273239"/>
                </a:solidFill>
                <a:effectLst/>
                <a:latin typeface="Consolas" panose="020B0609020204030204" pitchFamily="49" charset="0"/>
              </a:rPr>
              <a:t>:</a:t>
            </a:r>
          </a:p>
          <a:p>
            <a:pPr algn="l" fontAlgn="base">
              <a:buNone/>
            </a:pPr>
            <a:r>
              <a:rPr lang="es-PE" sz="1800" b="0" i="0" dirty="0">
                <a:solidFill>
                  <a:srgbClr val="273239"/>
                </a:solidFill>
                <a:effectLst/>
                <a:latin typeface="Consolas" panose="020B0609020204030204" pitchFamily="49" charset="0"/>
              </a:rPr>
              <a:t>    </a:t>
            </a:r>
            <a:r>
              <a:rPr lang="es-PE" sz="1800" b="0" i="0" dirty="0" err="1">
                <a:solidFill>
                  <a:srgbClr val="273239"/>
                </a:solidFill>
                <a:effectLst/>
                <a:latin typeface="Consolas" panose="020B0609020204030204" pitchFamily="49" charset="0"/>
              </a:rPr>
              <a:t>main</a:t>
            </a:r>
            <a:r>
              <a:rPr lang="es-PE" sz="1800" b="0" i="0" dirty="0">
                <a:solidFill>
                  <a:srgbClr val="273239"/>
                </a:solidFill>
                <a:effectLst/>
                <a:latin typeface="Consolas" panose="020B0609020204030204" pitchFamily="49" charset="0"/>
              </a:rPr>
              <a:t>()</a:t>
            </a:r>
          </a:p>
        </p:txBody>
      </p:sp>
      <p:sp>
        <p:nvSpPr>
          <p:cNvPr id="9" name="CuadroTexto 8">
            <a:extLst>
              <a:ext uri="{FF2B5EF4-FFF2-40B4-BE49-F238E27FC236}">
                <a16:creationId xmlns:a16="http://schemas.microsoft.com/office/drawing/2014/main" id="{DEC19DBE-1532-297F-BB96-F23EEDE9CD26}"/>
              </a:ext>
            </a:extLst>
          </p:cNvPr>
          <p:cNvSpPr txBox="1"/>
          <p:nvPr/>
        </p:nvSpPr>
        <p:spPr>
          <a:xfrm>
            <a:off x="865504" y="3429000"/>
            <a:ext cx="10515599" cy="1051570"/>
          </a:xfrm>
          <a:prstGeom prst="rect">
            <a:avLst/>
          </a:prstGeom>
        </p:spPr>
        <p:txBody>
          <a:bodyPr vert="horz" lIns="91440" tIns="45720" rIns="91440" bIns="45720" rtlCol="0">
            <a:normAutofit/>
          </a:bodyPr>
          <a:lstStyle>
            <a:lvl1pPr indent="0" fontAlgn="base">
              <a:lnSpc>
                <a:spcPct val="90000"/>
              </a:lnSpc>
              <a:spcBef>
                <a:spcPts val="1000"/>
              </a:spcBef>
              <a:buFont typeface="Arial" panose="020B0604020202020204" pitchFamily="34" charset="0"/>
              <a:buNone/>
              <a:defRPr sz="2000" b="1"/>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ES" dirty="0"/>
              <a:t>Producción:</a:t>
            </a:r>
          </a:p>
          <a:p>
            <a:pPr marL="182563" indent="-182563">
              <a:buFont typeface="Arial" panose="020B0604020202020204" pitchFamily="34" charset="0"/>
              <a:buChar char="•"/>
            </a:pPr>
            <a:r>
              <a:rPr lang="es-ES" b="0" dirty="0"/>
              <a:t>La salida mostrará a qué grupo pertenece la muestra de prueba y los pesos entrenados finales de los grupos.</a:t>
            </a:r>
          </a:p>
        </p:txBody>
      </p:sp>
      <p:sp>
        <p:nvSpPr>
          <p:cNvPr id="11" name="CuadroTexto 10">
            <a:extLst>
              <a:ext uri="{FF2B5EF4-FFF2-40B4-BE49-F238E27FC236}">
                <a16:creationId xmlns:a16="http://schemas.microsoft.com/office/drawing/2014/main" id="{50516DB0-DB4E-2879-CDB3-5EC3ED1DE94E}"/>
              </a:ext>
            </a:extLst>
          </p:cNvPr>
          <p:cNvSpPr txBox="1"/>
          <p:nvPr/>
        </p:nvSpPr>
        <p:spPr>
          <a:xfrm>
            <a:off x="838199" y="4520981"/>
            <a:ext cx="10515599" cy="646331"/>
          </a:xfrm>
          <a:prstGeom prst="rect">
            <a:avLst/>
          </a:prstGeom>
          <a:noFill/>
        </p:spPr>
        <p:txBody>
          <a:bodyPr wrap="square">
            <a:spAutoFit/>
          </a:bodyPr>
          <a:lstStyle/>
          <a:p>
            <a:r>
              <a:rPr lang="es-ES" b="0" i="1" dirty="0">
                <a:solidFill>
                  <a:srgbClr val="273239"/>
                </a:solidFill>
                <a:effectLst/>
                <a:latin typeface="Nunito" pitchFamily="2" charset="0"/>
              </a:rPr>
              <a:t>La muestra de prueba s pertenece al clúster: 0 </a:t>
            </a:r>
            <a:br>
              <a:rPr lang="es-ES" dirty="0"/>
            </a:br>
            <a:r>
              <a:rPr lang="es-ES" b="0" i="1" dirty="0">
                <a:solidFill>
                  <a:srgbClr val="273239"/>
                </a:solidFill>
                <a:effectLst/>
                <a:latin typeface="Nunito" pitchFamily="2" charset="0"/>
              </a:rPr>
              <a:t>Pesos entrenados: [[0.6000000000000001, 0.8, 0.5, 0.9], [0.3333984375, 0.0666015625, 0.7, 0.3]]</a:t>
            </a:r>
            <a:endParaRPr lang="es-PE" dirty="0"/>
          </a:p>
        </p:txBody>
      </p:sp>
      <p:sp>
        <p:nvSpPr>
          <p:cNvPr id="13" name="CuadroTexto 12">
            <a:extLst>
              <a:ext uri="{FF2B5EF4-FFF2-40B4-BE49-F238E27FC236}">
                <a16:creationId xmlns:a16="http://schemas.microsoft.com/office/drawing/2014/main" id="{42226131-C2E4-F312-E215-477037B9266F}"/>
              </a:ext>
            </a:extLst>
          </p:cNvPr>
          <p:cNvSpPr txBox="1"/>
          <p:nvPr/>
        </p:nvSpPr>
        <p:spPr>
          <a:xfrm>
            <a:off x="865503" y="5346119"/>
            <a:ext cx="10515599" cy="646331"/>
          </a:xfrm>
          <a:prstGeom prst="rect">
            <a:avLst/>
          </a:prstGeom>
          <a:noFill/>
        </p:spPr>
        <p:txBody>
          <a:bodyPr wrap="square">
            <a:spAutoFit/>
          </a:bodyPr>
          <a:lstStyle/>
          <a:p>
            <a:pPr marL="182563" indent="-182563" algn="l" fontAlgn="base">
              <a:buFont typeface="Arial" panose="020B0604020202020204" pitchFamily="34" charset="0"/>
              <a:buChar char="•"/>
            </a:pPr>
            <a:r>
              <a:rPr lang="es-ES" b="0" i="0" dirty="0">
                <a:solidFill>
                  <a:srgbClr val="273239"/>
                </a:solidFill>
                <a:effectLst/>
              </a:rPr>
              <a:t>El grupo 0 se asigna a la muestra de prueba [0, 0, 0, 1].</a:t>
            </a:r>
          </a:p>
          <a:p>
            <a:pPr marL="182563" indent="-182563" algn="l" fontAlgn="base">
              <a:buFont typeface="Arial" panose="020B0604020202020204" pitchFamily="34" charset="0"/>
              <a:buChar char="•"/>
            </a:pPr>
            <a:r>
              <a:rPr lang="es-ES" b="0" i="0" dirty="0">
                <a:solidFill>
                  <a:srgbClr val="273239"/>
                </a:solidFill>
                <a:effectLst/>
              </a:rPr>
              <a:t>Los pesos entrenados para ambos clústeres se muestran después de 3 épocas</a:t>
            </a:r>
            <a:r>
              <a:rPr lang="es-ES" dirty="0">
                <a:solidFill>
                  <a:srgbClr val="273239"/>
                </a:solidFill>
              </a:rPr>
              <a:t>.</a:t>
            </a:r>
            <a:endParaRPr lang="es-ES" b="0" i="0" dirty="0">
              <a:solidFill>
                <a:srgbClr val="273239"/>
              </a:solidFill>
              <a:effectLst/>
            </a:endParaRPr>
          </a:p>
        </p:txBody>
      </p:sp>
    </p:spTree>
    <p:extLst>
      <p:ext uri="{BB962C8B-B14F-4D97-AF65-F5344CB8AC3E}">
        <p14:creationId xmlns:p14="http://schemas.microsoft.com/office/powerpoint/2010/main" val="3725616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2575D-693A-1A9C-5E9F-9E91B272AB83}"/>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9CF126F-7CFF-6364-8F6E-E14E938989A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8" name="Título 7">
            <a:extLst>
              <a:ext uri="{FF2B5EF4-FFF2-40B4-BE49-F238E27FC236}">
                <a16:creationId xmlns:a16="http://schemas.microsoft.com/office/drawing/2014/main" id="{48CC6E03-24F6-8171-9D32-298BA75DF712}"/>
              </a:ext>
            </a:extLst>
          </p:cNvPr>
          <p:cNvSpPr>
            <a:spLocks noGrp="1"/>
          </p:cNvSpPr>
          <p:nvPr>
            <p:ph type="title"/>
          </p:nvPr>
        </p:nvSpPr>
        <p:spPr/>
        <p:txBody>
          <a:bodyPr/>
          <a:lstStyle/>
          <a:p>
            <a:r>
              <a:rPr lang="es-PE" dirty="0"/>
              <a:t>Ejemplo de SOM</a:t>
            </a:r>
          </a:p>
        </p:txBody>
      </p:sp>
      <p:sp>
        <p:nvSpPr>
          <p:cNvPr id="4" name="CuadroTexto 3">
            <a:extLst>
              <a:ext uri="{FF2B5EF4-FFF2-40B4-BE49-F238E27FC236}">
                <a16:creationId xmlns:a16="http://schemas.microsoft.com/office/drawing/2014/main" id="{2BDFABE6-BB0B-7D2C-04FC-099778B499E0}"/>
              </a:ext>
            </a:extLst>
          </p:cNvPr>
          <p:cNvSpPr txBox="1"/>
          <p:nvPr/>
        </p:nvSpPr>
        <p:spPr>
          <a:xfrm>
            <a:off x="838200" y="1690688"/>
            <a:ext cx="9702800" cy="5170646"/>
          </a:xfrm>
          <a:prstGeom prst="rect">
            <a:avLst/>
          </a:prstGeom>
          <a:noFill/>
        </p:spPr>
        <p:txBody>
          <a:bodyPr wrap="square">
            <a:spAutoFit/>
          </a:bodyPr>
          <a:lstStyle/>
          <a:p>
            <a:r>
              <a:rPr lang="es-PE" sz="1100" dirty="0" err="1"/>
              <a:t>import</a:t>
            </a:r>
            <a:r>
              <a:rPr lang="es-PE" sz="1100" dirty="0"/>
              <a:t> </a:t>
            </a:r>
            <a:r>
              <a:rPr lang="es-PE" sz="1100" dirty="0" err="1"/>
              <a:t>numpy</a:t>
            </a:r>
            <a:r>
              <a:rPr lang="es-PE" sz="1100" dirty="0"/>
              <a:t> as </a:t>
            </a:r>
            <a:r>
              <a:rPr lang="es-PE" sz="1100" dirty="0" err="1"/>
              <a:t>np</a:t>
            </a:r>
            <a:endParaRPr lang="es-PE" sz="1100" dirty="0"/>
          </a:p>
          <a:p>
            <a:r>
              <a:rPr lang="es-PE" sz="1100" dirty="0" err="1"/>
              <a:t>from</a:t>
            </a:r>
            <a:r>
              <a:rPr lang="es-PE" sz="1100" dirty="0"/>
              <a:t> </a:t>
            </a:r>
            <a:r>
              <a:rPr lang="es-PE" sz="1100" dirty="0" err="1"/>
              <a:t>matplotlib</a:t>
            </a:r>
            <a:r>
              <a:rPr lang="es-PE" sz="1100" dirty="0"/>
              <a:t> </a:t>
            </a:r>
            <a:r>
              <a:rPr lang="es-PE" sz="1100" dirty="0" err="1"/>
              <a:t>import</a:t>
            </a:r>
            <a:r>
              <a:rPr lang="es-PE" sz="1100" dirty="0"/>
              <a:t> </a:t>
            </a:r>
            <a:r>
              <a:rPr lang="es-PE" sz="1100" dirty="0" err="1"/>
              <a:t>pyplot</a:t>
            </a:r>
            <a:r>
              <a:rPr lang="es-PE" sz="1100" dirty="0"/>
              <a:t> as </a:t>
            </a:r>
            <a:r>
              <a:rPr lang="es-PE" sz="1100" dirty="0" err="1"/>
              <a:t>plt</a:t>
            </a:r>
            <a:endParaRPr lang="es-PE" sz="1100" dirty="0"/>
          </a:p>
          <a:p>
            <a:endParaRPr lang="es-PE" sz="1100" dirty="0"/>
          </a:p>
          <a:p>
            <a:r>
              <a:rPr lang="es-PE" sz="1100" dirty="0" err="1"/>
              <a:t>class</a:t>
            </a:r>
            <a:r>
              <a:rPr lang="es-PE" sz="1100" dirty="0"/>
              <a:t> SOM:</a:t>
            </a:r>
          </a:p>
          <a:p>
            <a:r>
              <a:rPr lang="es-PE" sz="1100" dirty="0"/>
              <a:t>    </a:t>
            </a:r>
            <a:r>
              <a:rPr lang="es-PE" sz="1100" dirty="0" err="1"/>
              <a:t>def</a:t>
            </a:r>
            <a:r>
              <a:rPr lang="es-PE" sz="1100" dirty="0"/>
              <a:t> __</a:t>
            </a:r>
            <a:r>
              <a:rPr lang="es-PE" sz="1100" dirty="0" err="1"/>
              <a:t>init</a:t>
            </a:r>
            <a:r>
              <a:rPr lang="es-PE" sz="1100" dirty="0"/>
              <a:t>__(</a:t>
            </a:r>
            <a:r>
              <a:rPr lang="es-PE" sz="1100" dirty="0" err="1"/>
              <a:t>self</a:t>
            </a:r>
            <a:r>
              <a:rPr lang="es-PE" sz="1100" dirty="0"/>
              <a:t>, </a:t>
            </a:r>
            <a:r>
              <a:rPr lang="es-PE" sz="1100" dirty="0" err="1"/>
              <a:t>input_shape</a:t>
            </a:r>
            <a:r>
              <a:rPr lang="es-PE" sz="1100" dirty="0"/>
              <a:t>, </a:t>
            </a:r>
            <a:r>
              <a:rPr lang="es-PE" sz="1100" dirty="0" err="1"/>
              <a:t>output_shape</a:t>
            </a:r>
            <a:r>
              <a:rPr lang="es-PE" sz="1100" dirty="0"/>
              <a:t>, </a:t>
            </a:r>
            <a:r>
              <a:rPr lang="es-PE" sz="1100" dirty="0" err="1"/>
              <a:t>learning_rate</a:t>
            </a:r>
            <a:r>
              <a:rPr lang="es-PE" sz="1100" dirty="0"/>
              <a:t>=0.1, sigma=1.0):</a:t>
            </a:r>
          </a:p>
          <a:p>
            <a:r>
              <a:rPr lang="es-PE" sz="1100" dirty="0"/>
              <a:t>        </a:t>
            </a:r>
            <a:r>
              <a:rPr lang="es-PE" sz="1100" dirty="0" err="1"/>
              <a:t>self.input_shape</a:t>
            </a:r>
            <a:r>
              <a:rPr lang="es-PE" sz="1100" dirty="0"/>
              <a:t> = </a:t>
            </a:r>
            <a:r>
              <a:rPr lang="es-PE" sz="1100" dirty="0" err="1"/>
              <a:t>input_shape</a:t>
            </a:r>
            <a:endParaRPr lang="es-PE" sz="1100" dirty="0"/>
          </a:p>
          <a:p>
            <a:r>
              <a:rPr lang="es-PE" sz="1100" dirty="0"/>
              <a:t>        </a:t>
            </a:r>
            <a:r>
              <a:rPr lang="es-PE" sz="1100" dirty="0" err="1"/>
              <a:t>self.output_shape</a:t>
            </a:r>
            <a:r>
              <a:rPr lang="es-PE" sz="1100" dirty="0"/>
              <a:t> = </a:t>
            </a:r>
            <a:r>
              <a:rPr lang="es-PE" sz="1100" dirty="0" err="1"/>
              <a:t>output_shape</a:t>
            </a:r>
            <a:endParaRPr lang="es-PE" sz="1100" dirty="0"/>
          </a:p>
          <a:p>
            <a:r>
              <a:rPr lang="es-PE" sz="1100" dirty="0"/>
              <a:t>        </a:t>
            </a:r>
            <a:r>
              <a:rPr lang="es-PE" sz="1100" dirty="0" err="1"/>
              <a:t>self.learning_rate</a:t>
            </a:r>
            <a:r>
              <a:rPr lang="es-PE" sz="1100" dirty="0"/>
              <a:t> = </a:t>
            </a:r>
            <a:r>
              <a:rPr lang="es-PE" sz="1100" dirty="0" err="1"/>
              <a:t>learning_rate</a:t>
            </a:r>
            <a:endParaRPr lang="es-PE" sz="1100" dirty="0"/>
          </a:p>
          <a:p>
            <a:r>
              <a:rPr lang="es-PE" sz="1100" dirty="0"/>
              <a:t>        </a:t>
            </a:r>
            <a:r>
              <a:rPr lang="es-PE" sz="1100" dirty="0" err="1"/>
              <a:t>self.sigma</a:t>
            </a:r>
            <a:r>
              <a:rPr lang="es-PE" sz="1100" dirty="0"/>
              <a:t> = sigma</a:t>
            </a:r>
          </a:p>
          <a:p>
            <a:r>
              <a:rPr lang="es-PE" sz="1100" dirty="0"/>
              <a:t>        </a:t>
            </a:r>
            <a:r>
              <a:rPr lang="es-PE" sz="1100" dirty="0" err="1"/>
              <a:t>self.grid</a:t>
            </a:r>
            <a:r>
              <a:rPr lang="es-PE" sz="1100" dirty="0"/>
              <a:t> = </a:t>
            </a:r>
            <a:r>
              <a:rPr lang="es-PE" sz="1100" dirty="0" err="1"/>
              <a:t>np.random.randn</a:t>
            </a:r>
            <a:r>
              <a:rPr lang="es-PE" sz="1100" dirty="0"/>
              <a:t>(*</a:t>
            </a:r>
            <a:r>
              <a:rPr lang="es-PE" sz="1100" dirty="0" err="1"/>
              <a:t>output_shape</a:t>
            </a:r>
            <a:r>
              <a:rPr lang="es-PE" sz="1100" dirty="0"/>
              <a:t>, </a:t>
            </a:r>
            <a:r>
              <a:rPr lang="es-PE" sz="1100" dirty="0" err="1"/>
              <a:t>input_shape</a:t>
            </a:r>
            <a:r>
              <a:rPr lang="es-PE" sz="1100" dirty="0"/>
              <a:t>)</a:t>
            </a:r>
          </a:p>
          <a:p>
            <a:endParaRPr lang="es-PE" sz="1100" dirty="0"/>
          </a:p>
          <a:p>
            <a:r>
              <a:rPr lang="es-PE" sz="1100" dirty="0"/>
              <a:t>    </a:t>
            </a:r>
            <a:r>
              <a:rPr lang="es-PE" sz="1100" dirty="0" err="1"/>
              <a:t>def</a:t>
            </a:r>
            <a:r>
              <a:rPr lang="es-PE" sz="1100" dirty="0"/>
              <a:t> </a:t>
            </a:r>
            <a:r>
              <a:rPr lang="es-PE" sz="1100" dirty="0" err="1"/>
              <a:t>train</a:t>
            </a:r>
            <a:r>
              <a:rPr lang="es-PE" sz="1100" dirty="0"/>
              <a:t>(</a:t>
            </a:r>
            <a:r>
              <a:rPr lang="es-PE" sz="1100" dirty="0" err="1"/>
              <a:t>self</a:t>
            </a:r>
            <a:r>
              <a:rPr lang="es-PE" sz="1100" dirty="0"/>
              <a:t>, data, </a:t>
            </a:r>
            <a:r>
              <a:rPr lang="es-PE" sz="1100" dirty="0" err="1"/>
              <a:t>num_epochs</a:t>
            </a:r>
            <a:r>
              <a:rPr lang="es-PE" sz="1100" dirty="0"/>
              <a:t>):</a:t>
            </a:r>
          </a:p>
          <a:p>
            <a:r>
              <a:rPr lang="es-PE" sz="1100" dirty="0"/>
              <a:t>        </a:t>
            </a:r>
            <a:r>
              <a:rPr lang="es-PE" sz="1100" dirty="0" err="1"/>
              <a:t>for</a:t>
            </a:r>
            <a:r>
              <a:rPr lang="es-PE" sz="1100" dirty="0"/>
              <a:t> </a:t>
            </a:r>
            <a:r>
              <a:rPr lang="es-PE" sz="1100" dirty="0" err="1"/>
              <a:t>epoch</a:t>
            </a:r>
            <a:r>
              <a:rPr lang="es-PE" sz="1100" dirty="0"/>
              <a:t> in </a:t>
            </a:r>
            <a:r>
              <a:rPr lang="es-PE" sz="1100" dirty="0" err="1"/>
              <a:t>range</a:t>
            </a:r>
            <a:r>
              <a:rPr lang="es-PE" sz="1100" dirty="0"/>
              <a:t>(</a:t>
            </a:r>
            <a:r>
              <a:rPr lang="es-PE" sz="1100" dirty="0" err="1"/>
              <a:t>num_epochs</a:t>
            </a:r>
            <a:r>
              <a:rPr lang="es-PE" sz="1100" dirty="0"/>
              <a:t>):</a:t>
            </a:r>
          </a:p>
          <a:p>
            <a:r>
              <a:rPr lang="es-PE" sz="1100" dirty="0"/>
              <a:t>            </a:t>
            </a:r>
            <a:r>
              <a:rPr lang="es-PE" sz="1100" dirty="0" err="1"/>
              <a:t>for</a:t>
            </a:r>
            <a:r>
              <a:rPr lang="es-PE" sz="1100" dirty="0"/>
              <a:t> x in data:</a:t>
            </a:r>
          </a:p>
          <a:p>
            <a:r>
              <a:rPr lang="es-PE" sz="1100" dirty="0"/>
              <a:t>                </a:t>
            </a:r>
            <a:r>
              <a:rPr lang="es-PE" sz="1100" dirty="0" err="1"/>
              <a:t>winner</a:t>
            </a:r>
            <a:r>
              <a:rPr lang="es-PE" sz="1100" dirty="0"/>
              <a:t> = </a:t>
            </a:r>
            <a:r>
              <a:rPr lang="es-PE" sz="1100" dirty="0" err="1"/>
              <a:t>self</a:t>
            </a:r>
            <a:r>
              <a:rPr lang="es-PE" sz="1100" dirty="0"/>
              <a:t>._</a:t>
            </a:r>
            <a:r>
              <a:rPr lang="es-PE" sz="1100" dirty="0" err="1"/>
              <a:t>find_winner</a:t>
            </a:r>
            <a:r>
              <a:rPr lang="es-PE" sz="1100" dirty="0"/>
              <a:t>(x)</a:t>
            </a:r>
          </a:p>
          <a:p>
            <a:r>
              <a:rPr lang="es-PE" sz="1100" dirty="0"/>
              <a:t>                </a:t>
            </a:r>
            <a:r>
              <a:rPr lang="es-PE" sz="1100" dirty="0" err="1"/>
              <a:t>self</a:t>
            </a:r>
            <a:r>
              <a:rPr lang="es-PE" sz="1100" dirty="0"/>
              <a:t>._</a:t>
            </a:r>
            <a:r>
              <a:rPr lang="es-PE" sz="1100" dirty="0" err="1"/>
              <a:t>update_weights</a:t>
            </a:r>
            <a:r>
              <a:rPr lang="es-PE" sz="1100" dirty="0"/>
              <a:t>(x, </a:t>
            </a:r>
            <a:r>
              <a:rPr lang="es-PE" sz="1100" dirty="0" err="1"/>
              <a:t>winner</a:t>
            </a:r>
            <a:r>
              <a:rPr lang="es-PE" sz="1100" dirty="0"/>
              <a:t>)</a:t>
            </a:r>
          </a:p>
          <a:p>
            <a:endParaRPr lang="es-PE" sz="1100" dirty="0"/>
          </a:p>
          <a:p>
            <a:r>
              <a:rPr lang="es-PE" sz="1100" dirty="0"/>
              <a:t>    </a:t>
            </a:r>
            <a:r>
              <a:rPr lang="es-PE" sz="1100" dirty="0" err="1"/>
              <a:t>def</a:t>
            </a:r>
            <a:r>
              <a:rPr lang="es-PE" sz="1100" dirty="0"/>
              <a:t> _</a:t>
            </a:r>
            <a:r>
              <a:rPr lang="es-PE" sz="1100" dirty="0" err="1"/>
              <a:t>find_winner</a:t>
            </a:r>
            <a:r>
              <a:rPr lang="es-PE" sz="1100" dirty="0"/>
              <a:t>(</a:t>
            </a:r>
            <a:r>
              <a:rPr lang="es-PE" sz="1100" dirty="0" err="1"/>
              <a:t>self</a:t>
            </a:r>
            <a:r>
              <a:rPr lang="es-PE" sz="1100" dirty="0"/>
              <a:t>, x):</a:t>
            </a:r>
          </a:p>
          <a:p>
            <a:r>
              <a:rPr lang="es-PE" sz="1100" dirty="0"/>
              <a:t>        x = </a:t>
            </a:r>
            <a:r>
              <a:rPr lang="es-PE" sz="1100" dirty="0" err="1"/>
              <a:t>np.expand_dims</a:t>
            </a:r>
            <a:r>
              <a:rPr lang="es-PE" sz="1100" dirty="0"/>
              <a:t>(x, axis=0)</a:t>
            </a:r>
          </a:p>
          <a:p>
            <a:r>
              <a:rPr lang="es-PE" sz="1100" dirty="0"/>
              <a:t>        </a:t>
            </a:r>
            <a:r>
              <a:rPr lang="es-PE" sz="1100" dirty="0" err="1"/>
              <a:t>distances</a:t>
            </a:r>
            <a:r>
              <a:rPr lang="es-PE" sz="1100" dirty="0"/>
              <a:t> = </a:t>
            </a:r>
            <a:r>
              <a:rPr lang="es-PE" sz="1100" dirty="0" err="1"/>
              <a:t>np.linalg.norm</a:t>
            </a:r>
            <a:r>
              <a:rPr lang="es-PE" sz="1100" dirty="0"/>
              <a:t>(</a:t>
            </a:r>
            <a:r>
              <a:rPr lang="es-PE" sz="1100" dirty="0" err="1"/>
              <a:t>self.grid</a:t>
            </a:r>
            <a:r>
              <a:rPr lang="es-PE" sz="1100" dirty="0"/>
              <a:t> – x, axis=-1)</a:t>
            </a:r>
          </a:p>
          <a:p>
            <a:r>
              <a:rPr lang="es-PE" sz="1100" dirty="0"/>
              <a:t>        </a:t>
            </a:r>
            <a:r>
              <a:rPr lang="es-PE" sz="1100" dirty="0" err="1"/>
              <a:t>return</a:t>
            </a:r>
            <a:r>
              <a:rPr lang="es-PE" sz="1100" dirty="0"/>
              <a:t> </a:t>
            </a:r>
            <a:r>
              <a:rPr lang="es-PE" sz="1100" dirty="0" err="1"/>
              <a:t>np.unravel_index</a:t>
            </a:r>
            <a:r>
              <a:rPr lang="es-PE" sz="1100" dirty="0"/>
              <a:t>(</a:t>
            </a:r>
            <a:r>
              <a:rPr lang="es-PE" sz="1100" dirty="0" err="1"/>
              <a:t>np.argmin</a:t>
            </a:r>
            <a:r>
              <a:rPr lang="es-PE" sz="1100" dirty="0"/>
              <a:t>(</a:t>
            </a:r>
            <a:r>
              <a:rPr lang="es-PE" sz="1100" dirty="0" err="1"/>
              <a:t>distances</a:t>
            </a:r>
            <a:r>
              <a:rPr lang="es-PE" sz="1100" dirty="0"/>
              <a:t>), </a:t>
            </a:r>
            <a:r>
              <a:rPr lang="es-PE" sz="1100" dirty="0" err="1"/>
              <a:t>self.output_shape</a:t>
            </a:r>
            <a:r>
              <a:rPr lang="es-PE" sz="1100" dirty="0"/>
              <a:t>)</a:t>
            </a:r>
          </a:p>
          <a:p>
            <a:endParaRPr lang="es-PE" sz="1100" dirty="0"/>
          </a:p>
          <a:p>
            <a:r>
              <a:rPr lang="es-PE" sz="1100" dirty="0"/>
              <a:t>    </a:t>
            </a:r>
            <a:r>
              <a:rPr lang="es-PE" sz="1100" dirty="0" err="1"/>
              <a:t>def</a:t>
            </a:r>
            <a:r>
              <a:rPr lang="es-PE" sz="1100" dirty="0"/>
              <a:t> _</a:t>
            </a:r>
            <a:r>
              <a:rPr lang="es-PE" sz="1100" dirty="0" err="1"/>
              <a:t>update_weights</a:t>
            </a:r>
            <a:r>
              <a:rPr lang="es-PE" sz="1100" dirty="0"/>
              <a:t>(</a:t>
            </a:r>
            <a:r>
              <a:rPr lang="es-PE" sz="1100" dirty="0" err="1"/>
              <a:t>self</a:t>
            </a:r>
            <a:r>
              <a:rPr lang="es-PE" sz="1100" dirty="0"/>
              <a:t>, x, </a:t>
            </a:r>
            <a:r>
              <a:rPr lang="es-PE" sz="1100" dirty="0" err="1"/>
              <a:t>winner</a:t>
            </a:r>
            <a:r>
              <a:rPr lang="es-PE" sz="1100" dirty="0"/>
              <a:t>):</a:t>
            </a:r>
          </a:p>
          <a:p>
            <a:r>
              <a:rPr lang="es-PE" sz="1100" dirty="0"/>
              <a:t>        </a:t>
            </a:r>
            <a:r>
              <a:rPr lang="es-PE" sz="1100" dirty="0" err="1"/>
              <a:t>winner_weight</a:t>
            </a:r>
            <a:r>
              <a:rPr lang="es-PE" sz="1100" dirty="0"/>
              <a:t> = </a:t>
            </a:r>
            <a:r>
              <a:rPr lang="es-PE" sz="1100" dirty="0" err="1"/>
              <a:t>self.grid</a:t>
            </a:r>
            <a:r>
              <a:rPr lang="es-PE" sz="1100" dirty="0"/>
              <a:t>[</a:t>
            </a:r>
            <a:r>
              <a:rPr lang="es-PE" sz="1100" dirty="0" err="1"/>
              <a:t>winner</a:t>
            </a:r>
            <a:r>
              <a:rPr lang="es-PE" sz="1100" dirty="0"/>
              <a:t>]</a:t>
            </a:r>
          </a:p>
          <a:p>
            <a:r>
              <a:rPr lang="es-PE" sz="1100" dirty="0"/>
              <a:t>        </a:t>
            </a:r>
            <a:r>
              <a:rPr lang="es-PE" sz="1100" dirty="0" err="1"/>
              <a:t>distances</a:t>
            </a:r>
            <a:r>
              <a:rPr lang="es-PE" sz="1100" dirty="0"/>
              <a:t> = </a:t>
            </a:r>
            <a:r>
              <a:rPr lang="es-PE" sz="1100" dirty="0" err="1"/>
              <a:t>np.linalg.norm</a:t>
            </a:r>
            <a:r>
              <a:rPr lang="es-PE" sz="1100" dirty="0"/>
              <a:t>(</a:t>
            </a:r>
            <a:r>
              <a:rPr lang="es-PE" sz="1100" dirty="0" err="1"/>
              <a:t>np.indices</a:t>
            </a:r>
            <a:r>
              <a:rPr lang="es-PE" sz="1100" dirty="0"/>
              <a:t>(</a:t>
            </a:r>
            <a:r>
              <a:rPr lang="es-PE" sz="1100" dirty="0" err="1"/>
              <a:t>self.output_shape</a:t>
            </a:r>
            <a:r>
              <a:rPr lang="es-PE" sz="1100" dirty="0"/>
              <a:t>) – </a:t>
            </a:r>
            <a:r>
              <a:rPr lang="es-PE" sz="1100" dirty="0" err="1"/>
              <a:t>np.array</a:t>
            </a:r>
            <a:r>
              <a:rPr lang="es-PE" sz="1100" dirty="0"/>
              <a:t>(</a:t>
            </a:r>
            <a:r>
              <a:rPr lang="es-PE" sz="1100" dirty="0" err="1"/>
              <a:t>winner</a:t>
            </a:r>
            <a:r>
              <a:rPr lang="es-PE" sz="1100" dirty="0"/>
              <a:t>)[:, </a:t>
            </a:r>
            <a:r>
              <a:rPr lang="es-PE" sz="1100" dirty="0" err="1"/>
              <a:t>np.newaxis</a:t>
            </a:r>
            <a:r>
              <a:rPr lang="es-PE" sz="1100" dirty="0"/>
              <a:t>, </a:t>
            </a:r>
            <a:r>
              <a:rPr lang="es-PE" sz="1100" dirty="0" err="1"/>
              <a:t>np.newaxis</a:t>
            </a:r>
            <a:r>
              <a:rPr lang="es-PE" sz="1100" dirty="0"/>
              <a:t>], axis=0)</a:t>
            </a:r>
          </a:p>
          <a:p>
            <a:r>
              <a:rPr lang="es-PE" sz="1100" dirty="0"/>
              <a:t>        </a:t>
            </a:r>
            <a:r>
              <a:rPr lang="es-PE" sz="1100" dirty="0" err="1"/>
              <a:t>influence</a:t>
            </a:r>
            <a:r>
              <a:rPr lang="es-PE" sz="1100" dirty="0"/>
              <a:t> = </a:t>
            </a:r>
            <a:r>
              <a:rPr lang="es-PE" sz="1100" dirty="0" err="1"/>
              <a:t>np.exp</a:t>
            </a:r>
            <a:r>
              <a:rPr lang="es-PE" sz="1100" dirty="0"/>
              <a:t>(-</a:t>
            </a:r>
            <a:r>
              <a:rPr lang="es-PE" sz="1100" dirty="0" err="1"/>
              <a:t>distances</a:t>
            </a:r>
            <a:r>
              <a:rPr lang="es-PE" sz="1100" dirty="0"/>
              <a:t> ** 2 / (2 * </a:t>
            </a:r>
            <a:r>
              <a:rPr lang="es-PE" sz="1100" dirty="0" err="1"/>
              <a:t>self.sigma</a:t>
            </a:r>
            <a:r>
              <a:rPr lang="es-PE" sz="1100" dirty="0"/>
              <a:t> ** 2))</a:t>
            </a:r>
          </a:p>
          <a:p>
            <a:r>
              <a:rPr lang="es-PE" sz="1100" dirty="0"/>
              <a:t>        </a:t>
            </a:r>
            <a:r>
              <a:rPr lang="es-PE" sz="1100" dirty="0" err="1"/>
              <a:t>self.grid</a:t>
            </a:r>
            <a:r>
              <a:rPr lang="es-PE" sz="1100" dirty="0"/>
              <a:t> += </a:t>
            </a:r>
            <a:r>
              <a:rPr lang="es-PE" sz="1100" dirty="0" err="1"/>
              <a:t>self.learning_rate</a:t>
            </a:r>
            <a:r>
              <a:rPr lang="es-PE" sz="1100" dirty="0"/>
              <a:t> * </a:t>
            </a:r>
            <a:r>
              <a:rPr lang="es-PE" sz="1100" dirty="0" err="1"/>
              <a:t>influence</a:t>
            </a:r>
            <a:r>
              <a:rPr lang="es-PE" sz="1100" dirty="0"/>
              <a:t>[…, </a:t>
            </a:r>
            <a:r>
              <a:rPr lang="es-PE" sz="1100" dirty="0" err="1"/>
              <a:t>np.newaxis</a:t>
            </a:r>
            <a:r>
              <a:rPr lang="es-PE" sz="1100" dirty="0"/>
              <a:t>] * (x – </a:t>
            </a:r>
            <a:r>
              <a:rPr lang="es-PE" sz="1100" dirty="0" err="1"/>
              <a:t>winner_weight</a:t>
            </a:r>
            <a:r>
              <a:rPr lang="es-PE" sz="1100" dirty="0"/>
              <a:t>)</a:t>
            </a:r>
          </a:p>
          <a:p>
            <a:endParaRPr lang="es-PE" sz="1100" dirty="0"/>
          </a:p>
          <a:p>
            <a:r>
              <a:rPr lang="es-PE" sz="1100" dirty="0"/>
              <a:t>    </a:t>
            </a:r>
            <a:r>
              <a:rPr lang="es-PE" sz="1100" dirty="0" err="1"/>
              <a:t>def</a:t>
            </a:r>
            <a:r>
              <a:rPr lang="es-PE" sz="1100" dirty="0"/>
              <a:t> </a:t>
            </a:r>
            <a:r>
              <a:rPr lang="es-PE" sz="1100" dirty="0" err="1"/>
              <a:t>get_map</a:t>
            </a:r>
            <a:r>
              <a:rPr lang="es-PE" sz="1100" dirty="0"/>
              <a:t>(</a:t>
            </a:r>
            <a:r>
              <a:rPr lang="es-PE" sz="1100" dirty="0" err="1"/>
              <a:t>self</a:t>
            </a:r>
            <a:r>
              <a:rPr lang="es-PE" sz="1100" dirty="0"/>
              <a:t>):</a:t>
            </a:r>
          </a:p>
          <a:p>
            <a:r>
              <a:rPr lang="es-PE" sz="1100" dirty="0"/>
              <a:t>        </a:t>
            </a:r>
            <a:r>
              <a:rPr lang="es-PE" sz="1100" dirty="0" err="1"/>
              <a:t>return</a:t>
            </a:r>
            <a:r>
              <a:rPr lang="es-PE" sz="1100" dirty="0"/>
              <a:t> </a:t>
            </a:r>
            <a:r>
              <a:rPr lang="es-PE" sz="1100" dirty="0" err="1"/>
              <a:t>self.grid.reshape</a:t>
            </a:r>
            <a:r>
              <a:rPr lang="es-PE" sz="1100" dirty="0"/>
              <a:t>(-1, </a:t>
            </a:r>
            <a:r>
              <a:rPr lang="es-PE" sz="1100" dirty="0" err="1"/>
              <a:t>self.input_shape</a:t>
            </a:r>
            <a:r>
              <a:rPr lang="es-PE" sz="1100" dirty="0"/>
              <a:t>)</a:t>
            </a:r>
          </a:p>
        </p:txBody>
      </p:sp>
    </p:spTree>
    <p:extLst>
      <p:ext uri="{BB962C8B-B14F-4D97-AF65-F5344CB8AC3E}">
        <p14:creationId xmlns:p14="http://schemas.microsoft.com/office/powerpoint/2010/main" val="1551309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292BA-6C3E-5F93-46CD-FBC8291977F2}"/>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7C4052F-CD3D-3C7A-5308-4728BCE2CE8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69" y="0"/>
            <a:ext cx="12189461" cy="6858000"/>
          </a:xfrm>
          <a:prstGeom prst="rect">
            <a:avLst/>
          </a:prstGeom>
        </p:spPr>
      </p:pic>
      <p:sp>
        <p:nvSpPr>
          <p:cNvPr id="2" name="Título 7">
            <a:extLst>
              <a:ext uri="{FF2B5EF4-FFF2-40B4-BE49-F238E27FC236}">
                <a16:creationId xmlns:a16="http://schemas.microsoft.com/office/drawing/2014/main" id="{F91A03A7-0C46-A9DF-4C01-3C269A2CADD7}"/>
              </a:ext>
            </a:extLst>
          </p:cNvPr>
          <p:cNvSpPr>
            <a:spLocks noGrp="1"/>
          </p:cNvSpPr>
          <p:nvPr>
            <p:ph type="title"/>
          </p:nvPr>
        </p:nvSpPr>
        <p:spPr>
          <a:xfrm>
            <a:off x="838200" y="365125"/>
            <a:ext cx="10515600" cy="1325563"/>
          </a:xfrm>
        </p:spPr>
        <p:txBody>
          <a:bodyPr/>
          <a:lstStyle/>
          <a:p>
            <a:r>
              <a:rPr lang="es-PE" dirty="0"/>
              <a:t>Ejemplo de SOM</a:t>
            </a:r>
          </a:p>
        </p:txBody>
      </p:sp>
      <p:sp>
        <p:nvSpPr>
          <p:cNvPr id="5" name="CuadroTexto 4">
            <a:extLst>
              <a:ext uri="{FF2B5EF4-FFF2-40B4-BE49-F238E27FC236}">
                <a16:creationId xmlns:a16="http://schemas.microsoft.com/office/drawing/2014/main" id="{C72D82DB-F2DA-4742-64C7-ED8AFE807031}"/>
              </a:ext>
            </a:extLst>
          </p:cNvPr>
          <p:cNvSpPr txBox="1"/>
          <p:nvPr/>
        </p:nvSpPr>
        <p:spPr>
          <a:xfrm>
            <a:off x="838200" y="1690688"/>
            <a:ext cx="6096000" cy="4524315"/>
          </a:xfrm>
          <a:prstGeom prst="rect">
            <a:avLst/>
          </a:prstGeom>
          <a:noFill/>
        </p:spPr>
        <p:txBody>
          <a:bodyPr wrap="square">
            <a:spAutoFit/>
          </a:bodyPr>
          <a:lstStyle/>
          <a:p>
            <a:r>
              <a:rPr lang="es-PE" dirty="0"/>
              <a:t># </a:t>
            </a:r>
            <a:r>
              <a:rPr lang="es-PE" dirty="0" err="1"/>
              <a:t>Generate</a:t>
            </a:r>
            <a:r>
              <a:rPr lang="es-PE" dirty="0"/>
              <a:t> </a:t>
            </a:r>
            <a:r>
              <a:rPr lang="es-PE" dirty="0" err="1"/>
              <a:t>some</a:t>
            </a:r>
            <a:r>
              <a:rPr lang="es-PE" dirty="0"/>
              <a:t> </a:t>
            </a:r>
            <a:r>
              <a:rPr lang="es-PE" dirty="0" err="1"/>
              <a:t>sample</a:t>
            </a:r>
            <a:r>
              <a:rPr lang="es-PE" dirty="0"/>
              <a:t> data</a:t>
            </a:r>
          </a:p>
          <a:p>
            <a:r>
              <a:rPr lang="es-PE" dirty="0"/>
              <a:t>data = </a:t>
            </a:r>
            <a:r>
              <a:rPr lang="es-PE" dirty="0" err="1"/>
              <a:t>np.random.randn</a:t>
            </a:r>
            <a:r>
              <a:rPr lang="es-PE" dirty="0"/>
              <a:t>(100, 2)</a:t>
            </a:r>
          </a:p>
          <a:p>
            <a:endParaRPr lang="es-PE" dirty="0"/>
          </a:p>
          <a:p>
            <a:r>
              <a:rPr lang="es-PE" dirty="0"/>
              <a:t># </a:t>
            </a:r>
            <a:r>
              <a:rPr lang="es-PE" dirty="0" err="1"/>
              <a:t>Create</a:t>
            </a:r>
            <a:r>
              <a:rPr lang="es-PE" dirty="0"/>
              <a:t> a SOM </a:t>
            </a:r>
            <a:r>
              <a:rPr lang="es-PE" dirty="0" err="1"/>
              <a:t>with</a:t>
            </a:r>
            <a:r>
              <a:rPr lang="es-PE" dirty="0"/>
              <a:t> a 10×10 </a:t>
            </a:r>
            <a:r>
              <a:rPr lang="es-PE" dirty="0" err="1"/>
              <a:t>grid</a:t>
            </a:r>
            <a:endParaRPr lang="es-PE" dirty="0"/>
          </a:p>
          <a:p>
            <a:r>
              <a:rPr lang="es-PE" dirty="0" err="1"/>
              <a:t>som</a:t>
            </a:r>
            <a:r>
              <a:rPr lang="es-PE" dirty="0"/>
              <a:t> = SOM(</a:t>
            </a:r>
            <a:r>
              <a:rPr lang="es-PE" dirty="0" err="1"/>
              <a:t>input_shape</a:t>
            </a:r>
            <a:r>
              <a:rPr lang="es-PE" dirty="0"/>
              <a:t>=2, </a:t>
            </a:r>
            <a:r>
              <a:rPr lang="es-PE" dirty="0" err="1"/>
              <a:t>output_shape</a:t>
            </a:r>
            <a:r>
              <a:rPr lang="es-PE" dirty="0"/>
              <a:t>=(10, 10))</a:t>
            </a:r>
          </a:p>
          <a:p>
            <a:endParaRPr lang="es-PE" dirty="0"/>
          </a:p>
          <a:p>
            <a:r>
              <a:rPr lang="es-PE" dirty="0"/>
              <a:t># Train </a:t>
            </a:r>
            <a:r>
              <a:rPr lang="es-PE" dirty="0" err="1"/>
              <a:t>the</a:t>
            </a:r>
            <a:r>
              <a:rPr lang="es-PE" dirty="0"/>
              <a:t> SOM </a:t>
            </a:r>
            <a:r>
              <a:rPr lang="es-PE" dirty="0" err="1"/>
              <a:t>for</a:t>
            </a:r>
            <a:r>
              <a:rPr lang="es-PE" dirty="0"/>
              <a:t> 100 </a:t>
            </a:r>
            <a:r>
              <a:rPr lang="es-PE" dirty="0" err="1"/>
              <a:t>epochs</a:t>
            </a:r>
            <a:endParaRPr lang="es-PE" dirty="0"/>
          </a:p>
          <a:p>
            <a:r>
              <a:rPr lang="es-PE" dirty="0" err="1"/>
              <a:t>som.train</a:t>
            </a:r>
            <a:r>
              <a:rPr lang="es-PE" dirty="0"/>
              <a:t>(data, </a:t>
            </a:r>
            <a:r>
              <a:rPr lang="es-PE" dirty="0" err="1"/>
              <a:t>num_epochs</a:t>
            </a:r>
            <a:r>
              <a:rPr lang="es-PE" dirty="0"/>
              <a:t>=100)</a:t>
            </a:r>
          </a:p>
          <a:p>
            <a:endParaRPr lang="es-PE" dirty="0"/>
          </a:p>
          <a:p>
            <a:r>
              <a:rPr lang="es-PE" dirty="0"/>
              <a:t># </a:t>
            </a:r>
            <a:r>
              <a:rPr lang="es-PE" dirty="0" err="1"/>
              <a:t>Get</a:t>
            </a:r>
            <a:r>
              <a:rPr lang="es-PE" dirty="0"/>
              <a:t> </a:t>
            </a:r>
            <a:r>
              <a:rPr lang="es-PE" dirty="0" err="1"/>
              <a:t>the</a:t>
            </a:r>
            <a:r>
              <a:rPr lang="es-PE" dirty="0"/>
              <a:t> </a:t>
            </a:r>
            <a:r>
              <a:rPr lang="es-PE" dirty="0" err="1"/>
              <a:t>map</a:t>
            </a:r>
            <a:r>
              <a:rPr lang="es-PE" dirty="0"/>
              <a:t> </a:t>
            </a:r>
            <a:r>
              <a:rPr lang="es-PE" dirty="0" err="1"/>
              <a:t>of</a:t>
            </a:r>
            <a:r>
              <a:rPr lang="es-PE" dirty="0"/>
              <a:t> </a:t>
            </a:r>
            <a:r>
              <a:rPr lang="es-PE" dirty="0" err="1"/>
              <a:t>the</a:t>
            </a:r>
            <a:r>
              <a:rPr lang="es-PE" dirty="0"/>
              <a:t> SOM</a:t>
            </a:r>
          </a:p>
          <a:p>
            <a:r>
              <a:rPr lang="es-PE" dirty="0" err="1"/>
              <a:t>map</a:t>
            </a:r>
            <a:r>
              <a:rPr lang="es-PE" dirty="0"/>
              <a:t> = </a:t>
            </a:r>
            <a:r>
              <a:rPr lang="es-PE" dirty="0" err="1"/>
              <a:t>som.get_map</a:t>
            </a:r>
            <a:r>
              <a:rPr lang="es-PE" dirty="0"/>
              <a:t>()</a:t>
            </a:r>
          </a:p>
          <a:p>
            <a:endParaRPr lang="es-PE" dirty="0"/>
          </a:p>
          <a:p>
            <a:r>
              <a:rPr lang="es-PE" dirty="0"/>
              <a:t># </a:t>
            </a:r>
            <a:r>
              <a:rPr lang="es-PE" dirty="0" err="1"/>
              <a:t>Plot</a:t>
            </a:r>
            <a:r>
              <a:rPr lang="es-PE" dirty="0"/>
              <a:t> </a:t>
            </a:r>
            <a:r>
              <a:rPr lang="es-PE" dirty="0" err="1"/>
              <a:t>the</a:t>
            </a:r>
            <a:r>
              <a:rPr lang="es-PE" dirty="0"/>
              <a:t> data and </a:t>
            </a:r>
            <a:r>
              <a:rPr lang="es-PE" dirty="0" err="1"/>
              <a:t>the</a:t>
            </a:r>
            <a:r>
              <a:rPr lang="es-PE" dirty="0"/>
              <a:t> SOM</a:t>
            </a:r>
          </a:p>
          <a:p>
            <a:r>
              <a:rPr lang="es-PE" dirty="0" err="1"/>
              <a:t>plt.scatter</a:t>
            </a:r>
            <a:r>
              <a:rPr lang="es-PE" dirty="0"/>
              <a:t>(data[:, 0], data[:, 1], color=’blue’)</a:t>
            </a:r>
          </a:p>
          <a:p>
            <a:r>
              <a:rPr lang="es-PE" dirty="0" err="1"/>
              <a:t>plt.scatter</a:t>
            </a:r>
            <a:r>
              <a:rPr lang="es-PE" dirty="0"/>
              <a:t>(</a:t>
            </a:r>
            <a:r>
              <a:rPr lang="es-PE" dirty="0" err="1"/>
              <a:t>map</a:t>
            </a:r>
            <a:r>
              <a:rPr lang="es-PE" dirty="0"/>
              <a:t>[:, 0], </a:t>
            </a:r>
            <a:r>
              <a:rPr lang="es-PE" dirty="0" err="1"/>
              <a:t>map</a:t>
            </a:r>
            <a:r>
              <a:rPr lang="es-PE" dirty="0"/>
              <a:t>[:, 1], color=’red’)</a:t>
            </a:r>
          </a:p>
          <a:p>
            <a:r>
              <a:rPr lang="es-PE" dirty="0" err="1"/>
              <a:t>plt.show</a:t>
            </a:r>
            <a:r>
              <a:rPr lang="es-PE" dirty="0"/>
              <a:t>()</a:t>
            </a:r>
          </a:p>
        </p:txBody>
      </p:sp>
      <p:sp>
        <p:nvSpPr>
          <p:cNvPr id="6" name="CuadroTexto 5">
            <a:extLst>
              <a:ext uri="{FF2B5EF4-FFF2-40B4-BE49-F238E27FC236}">
                <a16:creationId xmlns:a16="http://schemas.microsoft.com/office/drawing/2014/main" id="{046C8210-8EC9-4DA7-EFA6-D591B0152004}"/>
              </a:ext>
            </a:extLst>
          </p:cNvPr>
          <p:cNvSpPr txBox="1"/>
          <p:nvPr/>
        </p:nvSpPr>
        <p:spPr>
          <a:xfrm>
            <a:off x="5354320" y="6351835"/>
            <a:ext cx="6837680" cy="369332"/>
          </a:xfrm>
          <a:prstGeom prst="rect">
            <a:avLst/>
          </a:prstGeom>
          <a:noFill/>
        </p:spPr>
        <p:txBody>
          <a:bodyPr wrap="square">
            <a:spAutoFit/>
          </a:bodyPr>
          <a:lstStyle/>
          <a:p>
            <a:r>
              <a:rPr lang="es-PE" dirty="0"/>
              <a:t>https://so-development.org/how-to-use-yolo11-for-pose-estimation/</a:t>
            </a:r>
          </a:p>
        </p:txBody>
      </p:sp>
    </p:spTree>
    <p:extLst>
      <p:ext uri="{BB962C8B-B14F-4D97-AF65-F5344CB8AC3E}">
        <p14:creationId xmlns:p14="http://schemas.microsoft.com/office/powerpoint/2010/main" val="3103365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A2C5"/>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F766B10-B78E-71CE-13E4-410FD260DCF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67535" y="2445037"/>
            <a:ext cx="4519873" cy="1544922"/>
          </a:xfrm>
          <a:prstGeom prst="rect">
            <a:avLst/>
          </a:prstGeom>
        </p:spPr>
      </p:pic>
    </p:spTree>
    <p:extLst>
      <p:ext uri="{BB962C8B-B14F-4D97-AF65-F5344CB8AC3E}">
        <p14:creationId xmlns:p14="http://schemas.microsoft.com/office/powerpoint/2010/main" val="50485181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19877</TotalTime>
  <Words>2934</Words>
  <Application>Microsoft Office PowerPoint</Application>
  <PresentationFormat>Panorámica</PresentationFormat>
  <Paragraphs>195</Paragraphs>
  <Slides>22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22</vt:i4>
      </vt:variant>
    </vt:vector>
  </HeadingPairs>
  <TitlesOfParts>
    <vt:vector size="29" baseType="lpstr">
      <vt:lpstr>Arial</vt:lpstr>
      <vt:lpstr>Calibri</vt:lpstr>
      <vt:lpstr>Calibri Light</vt:lpstr>
      <vt:lpstr>Cambria Math</vt:lpstr>
      <vt:lpstr>Consolas</vt:lpstr>
      <vt:lpstr>Nunito</vt:lpstr>
      <vt:lpstr>Tema de Office</vt:lpstr>
      <vt:lpstr>Presentación de PowerPoint</vt:lpstr>
      <vt:lpstr>¿Qué es un mapa autoorganizado?</vt:lpstr>
      <vt:lpstr>¿Qué es un mapa autoorganizado?</vt:lpstr>
      <vt:lpstr>Usos de los mapas autoorganizados</vt:lpstr>
      <vt:lpstr>Arquitectura y funcionalidad de los mapas autoorganizados</vt:lpstr>
      <vt:lpstr>Arquitectura y funcionalidad de los mapas autoorganizados</vt:lpstr>
      <vt:lpstr>Arquitectura y funcionalidad de los mapas autoorganizados</vt:lpstr>
      <vt:lpstr>Arquitectura y funcionalidad de los mapas autoorganizados</vt:lpstr>
      <vt:lpstr>Arquitectura y funcionalidad de los mapas autoorganizados</vt:lpstr>
      <vt:lpstr>Arquitectura y funcionalidad de los mapas autoorganizados</vt:lpstr>
      <vt:lpstr>Mapas autoorganizados - Mapas Kohonen</vt:lpstr>
      <vt:lpstr>Funcionamiento de los mapas autoorganizados (SOM)</vt:lpstr>
      <vt:lpstr>Funcionamiento de los mapas autoorganizados (SOM)</vt:lpstr>
      <vt:lpstr>Implementación de SOM en Python</vt:lpstr>
      <vt:lpstr>Implementación de SOM en Python</vt:lpstr>
      <vt:lpstr>Implementación de SOM en Python</vt:lpstr>
      <vt:lpstr>Implementación de SOM en Python</vt:lpstr>
      <vt:lpstr>Implementación de SOM en Python</vt:lpstr>
      <vt:lpstr>Implementación de SOM en Python</vt:lpstr>
      <vt:lpstr>Ejemplo de SOM</vt:lpstr>
      <vt:lpstr>Ejemplo de SOM</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dc:creator>
  <cp:lastModifiedBy>Juancarlos Santana Huamán</cp:lastModifiedBy>
  <cp:revision>41</cp:revision>
  <dcterms:created xsi:type="dcterms:W3CDTF">2025-01-24T21:00:07Z</dcterms:created>
  <dcterms:modified xsi:type="dcterms:W3CDTF">2025-10-28T15:12:36Z</dcterms:modified>
</cp:coreProperties>
</file>